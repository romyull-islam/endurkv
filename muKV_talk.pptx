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78" r:id="rId30"/>
    <p:sldId id="279" r:id="rId31"/>
    <p:sldId id="265" r:id="rId17"/>
    <p:sldId id="266" r:id="rId18"/>
    <p:sldId id="267" r:id="rId19"/>
    <p:sldId id="268" r:id="rId20"/>
    <p:sldId id="273" r:id="rId25"/>
    <p:sldId id="274" r:id="rId26"/>
    <p:sldId id="275" r:id="rId27"/>
    <p:sldId id="276" r:id="rId28"/>
    <p:sldId id="277" r:id="rId29"/>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10.xml"/><Relationship Id="rId31"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RETENTION IS MEASURED, NOT INFERRED. Each policy's live-cell count comes from the run metadata; retention is that count divided by the 9741-cell prompt. SnapKV 8893/9741 = 91.3%, Ada-KV 3489/9741 = 35.8%, TOVA 4093/9741 = 42.0%, muKV 721/9741 = 7.4%.</a:t>
            </a:r>
          </a:p>
          <a:p/>
          <a:p>
            <a:r>
              <a:t>SCOPE. The failure is the per-head class, not eviction in general. KeyDiff asks 2048 and keeps 2049, so its budget is real too. Do not overstate this as nobody-s-budget-is-real.</a:t>
            </a:r>
          </a:p>
          <a:p/>
          <a:p>
            <a:r>
              <a:t>IF ASKED WHY IT WORSENS WITH WIDTH: a cell frees only when every head drops it, so the chance of unanimity falls as heads multiply. Llama-1B has 8 KV heads and the class spreads 36-91%; Phi-3 has 32 and the class collapses into 85-100%.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ARMS ARE VANILLA llama.cpp, FA off, same 9737-token prompt, n_gpu_layers=99. No eviction is involved, so this is not a muKV artifact.</a:t>
            </a:r>
          </a:p>
          <a:p/>
          <a:p>
            <a:r>
              <a:t>WHAT IS PROVEN: corruption appears when a callback is installed, and it appears even when the callback never reads the tensor (68/679). So the trigger is the request, not the read.</a:t>
            </a:r>
          </a:p>
          <a:p/>
          <a:p>
            <a:r>
              <a:t>MECHANISM, from ggml_backend_sched_compute_splits: with no callback the whole backend split is computed in one call; with a callback it is chopped into ggml_graph_view fragments, each computed and synchronised separately. The chunk boundary is set when the callback is ASKED whether it needs a node, which is before any read.</a:t>
            </a:r>
          </a:p>
          <a:p/>
          <a:p>
            <a:r>
              <a:t>DO NOT SAY the graph-split COUNT changes. llama.cpp reports graph splits = 2 in both the clean and the corrupt run. What changes is execution granularity, not partitioning.</a:t>
            </a:r>
          </a:p>
          <a:p/>
          <a:p>
            <a:r>
              <a:t>SCOPE: the same path is correct on the CPU backend (0.3% degenerate across 271 cells vs 13.9% across 607 on Adreno). We did not run a desktop-Vulkan control, so we do not claim whether the fault is llama.cpp's Vulkan code or the Qualcomm driver.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1.40x COMES FROM. Per decoded token the device reads the model weights W plus the live cache KV. Eviction can shrink KV but never W, so speedup(r) = (W+KV)/(W+KV/r), and the limit as the cache goes to zero is 1 + KV/W.</a:t>
            </a:r>
          </a:p>
          <a:p/>
          <a:p>
            <a:r>
              <a:t>PROVENANCE OF THE TWO INPUTS.</a:t>
            </a:r>
          </a:p>
          <a:p>
            <a:r>
              <a:t>  W = 770 MB, the Llama-3.2-1B Q4_K_M gguf on disk. A dense model reads essentially all of it per token.</a:t>
            </a:r>
          </a:p>
          <a:p>
            <a:r>
              <a:t>  KV = 304 MB, from the model geometry the run itself reports: 16 layers x 8 KV heads x 64 dim x 2 bytes x 2 (K and V) = 32 KiB per cell, times 9737 prompt cells. That per-cell figure is checked against the engine's own accounting: 13,832 peak cells x 32 KiB = 432.2 MB, exactly the peak_kv_mb the run reports.</a:t>
            </a:r>
          </a:p>
          <a:p>
            <a:r>
              <a:t>  1 + 304/770 = 1.40x.</a:t>
            </a:r>
          </a:p>
          <a:p/>
          <a:p>
            <a:r>
              <a:t>WHY THE CONSERVATIVE CHOICE. Using the cache at end-of-prompt (304 MB) rather than at peak (432 MB) gives the SMALLER ceiling, 1.40x instead of 1.56x. A lower ceiling is a harder bar for us to be measured against.</a:t>
            </a:r>
          </a:p>
          <a:p/>
          <a:p>
            <a:r>
              <a:t>WHAT THE BOUND ASSUMES: decode is bandwidth-bound; all of W and all of the live cache are read every token; the policy adds no per-token overhead.</a:t>
            </a:r>
          </a:p>
          <a:p/>
          <a:p>
            <a:r>
              <a:t>IF ASKED WHETHER IT IS REALLY THE LIMIT: it is an upper bound and nothing exceeded it, but it is NOT what binds here. muKV keeps 7.4% and StreamingLLM keeps 20.6%, a 2.8x difference, and both land at 1.20x. The roofline predicts 1.36x and 1.29x. Observed speedup is flat in retention, so something saturates first, most likely fixed per-token dispatch overhead. That makes the deployment message blunter, not weaker: on this GPU, freeing 2.8x more cache buys nothing.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15.png"/><Relationship Id="rId11" Type="http://schemas.openxmlformats.org/officeDocument/2006/relationships/image" Target="../media/image17.png"/><Relationship Id="rId12"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a:t>
            </a:r>
          </a:p>
        </p:txBody>
      </p:sp>
      <p:sp>
        <p:nvSpPr>
          <p:cNvPr id="4" name="Rectangle 3"/>
          <p:cNvSpPr/>
          <p:nvPr/>
        </p:nvSpPr>
        <p:spPr>
          <a:xfrm>
            <a:off x="0" y="6473952"/>
            <a:ext cx="12191695" cy="384048"/>
          </a:xfrm>
          <a:prstGeom prst="rect">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9144000" cy="365760"/>
          </a:xfrm>
          <a:prstGeom prst="rect">
            <a:avLst/>
          </a:prstGeom>
          <a:noFill/>
        </p:spPr>
        <p:txBody>
          <a:bodyPr wrap="square" lIns="0" rIns="0" tIns="0" bIns="0" anchor="t">
            <a:spAutoFit/>
          </a:bodyPr>
          <a:lstStyle/>
          <a:p>
            <a:pPr algn="l"/>
            <a:r>
              <a:rPr sz="1100" b="1" i="0" spc="120">
                <a:solidFill>
                  <a:srgbClr val="C4581A"/>
                </a:solidFill>
                <a:latin typeface="Consolas"/>
              </a:rPr>
              <a:t>HOTMOBILE 2027  ·  SUBMISSION DRAFT</a:t>
            </a:r>
          </a:p>
        </p:txBody>
      </p:sp>
      <p:sp>
        <p:nvSpPr>
          <p:cNvPr id="6" name="TextBox 5"/>
          <p:cNvSpPr txBox="1"/>
          <p:nvPr/>
        </p:nvSpPr>
        <p:spPr>
          <a:xfrm>
            <a:off x="822960" y="1234440"/>
            <a:ext cx="10424160" cy="1371600"/>
          </a:xfrm>
          <a:prstGeom prst="rect">
            <a:avLst/>
          </a:prstGeom>
          <a:noFill/>
        </p:spPr>
        <p:txBody>
          <a:bodyPr wrap="square" lIns="0" rIns="0" tIns="0" bIns="0" anchor="t">
            <a:spAutoFit/>
          </a:bodyPr>
          <a:lstStyle/>
          <a:p>
            <a:pPr algn="l">
              <a:lnSpc>
                <a:spcPct val="104000"/>
              </a:lnSpc>
            </a:pPr>
            <a:r>
              <a:rPr sz="3800" b="1" i="0">
                <a:solidFill>
                  <a:srgbClr val="0C1116"/>
                </a:solidFill>
                <a:latin typeface="Arial"/>
              </a:rPr>
              <a:t>μKV: Energy- and Thermal-Aware KV-Cache Eviction for LLM Inference on a Phone</a:t>
            </a:r>
          </a:p>
        </p:txBody>
      </p:sp>
      <p:sp>
        <p:nvSpPr>
          <p:cNvPr id="7" name="TextBox 6"/>
          <p:cNvSpPr txBox="1"/>
          <p:nvPr/>
        </p:nvSpPr>
        <p:spPr>
          <a:xfrm>
            <a:off x="822960" y="2697480"/>
            <a:ext cx="10607040" cy="1234440"/>
          </a:xfrm>
          <a:prstGeom prst="rect">
            <a:avLst/>
          </a:prstGeom>
          <a:noFill/>
        </p:spPr>
        <p:txBody>
          <a:bodyPr wrap="square" lIns="0" rIns="0" tIns="0" bIns="0" anchor="t">
            <a:spAutoFit/>
          </a:bodyPr>
          <a:lstStyle/>
          <a:p>
            <a:pPr algn="l">
              <a:lnSpc>
                <a:spcPct val="130000"/>
              </a:lnSpc>
            </a:pPr>
            <a:r>
              <a:rPr sz="1600" b="0" i="0">
                <a:solidFill>
                  <a:srgbClr val="0C1116"/>
                </a:solidFill>
                <a:latin typeface="Arial"/>
              </a:rPr>
              <a:t>An LLM keeps the whole conversation in a cache a phone cannot afford, so eviction throws parts of it away. We ran nine published methods on a real phone and measured speed, energy and heat. One method ran 3.3x faster on the phone's CPU and 3.7x slower on its GPU. The hardware, not the method, decides whether eviction is worth doing.</a:t>
            </a:r>
          </a:p>
        </p:txBody>
      </p:sp>
      <p:sp>
        <p:nvSpPr>
          <p:cNvPr id="8" name="Rounded Rectangle 7"/>
          <p:cNvSpPr/>
          <p:nvPr/>
        </p:nvSpPr>
        <p:spPr>
          <a:xfrm>
            <a:off x="822960" y="4041648"/>
            <a:ext cx="10561320" cy="914400"/>
          </a:xfrm>
          <a:prstGeom prst="roundRect">
            <a:avLst>
              <a:gd name="adj" fmla="val 4000"/>
            </a:avLst>
          </a:prstGeom>
          <a:solidFill>
            <a:srgbClr val="FDF0E6"/>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4096511"/>
            <a:ext cx="41148" cy="80467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169663"/>
            <a:ext cx="3017520" cy="256032"/>
          </a:xfrm>
          <a:prstGeom prst="rect">
            <a:avLst/>
          </a:prstGeom>
          <a:noFill/>
        </p:spPr>
        <p:txBody>
          <a:bodyPr wrap="square" lIns="0" rIns="0" tIns="0" bIns="0" anchor="t">
            <a:spAutoFit/>
          </a:bodyPr>
          <a:lstStyle/>
          <a:p>
            <a:pPr algn="l"/>
            <a:r>
              <a:rPr sz="950" b="1" i="0" spc="120">
                <a:solidFill>
                  <a:srgbClr val="C4581A"/>
                </a:solidFill>
                <a:latin typeface="Consolas"/>
              </a:rPr>
              <a:t>WHAT WE CONTRIBUTE</a:t>
            </a:r>
          </a:p>
        </p:txBody>
      </p:sp>
      <p:sp>
        <p:nvSpPr>
          <p:cNvPr id="11" name="TextBox 10"/>
          <p:cNvSpPr txBox="1"/>
          <p:nvPr/>
        </p:nvSpPr>
        <p:spPr>
          <a:xfrm>
            <a:off x="1097280" y="4443984"/>
            <a:ext cx="10058400" cy="457200"/>
          </a:xfrm>
          <a:prstGeom prst="rect">
            <a:avLst/>
          </a:prstGeom>
          <a:noFill/>
        </p:spPr>
        <p:txBody>
          <a:bodyPr wrap="square" lIns="0" rIns="0" tIns="0" bIns="0" anchor="t">
            <a:spAutoFit/>
          </a:bodyPr>
          <a:lstStyle/>
          <a:p>
            <a:pPr algn="l">
              <a:lnSpc>
                <a:spcPct val="128000"/>
              </a:lnSpc>
            </a:pPr>
            <a:r>
              <a:rPr sz="1300" b="0" i="0">
                <a:solidFill>
                  <a:srgbClr val="0C1116"/>
                </a:solidFill>
                <a:latin typeface="Arial"/>
              </a:rPr>
              <a:t>The first end-to-end account of published eviction on a phone, measured on speed, energy, temperature and cache actually freed, plus the three device-level failures that decide whether it pays.</a:t>
            </a:r>
          </a:p>
        </p:txBody>
      </p:sp>
      <p:sp>
        <p:nvSpPr>
          <p:cNvPr id="12" name="Rectangle 11"/>
          <p:cNvSpPr/>
          <p:nvPr/>
        </p:nvSpPr>
        <p:spPr>
          <a:xfrm>
            <a:off x="822960" y="5138928"/>
            <a:ext cx="36576" cy="777240"/>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5120640"/>
            <a:ext cx="3291840" cy="411480"/>
          </a:xfrm>
          <a:prstGeom prst="rect">
            <a:avLst/>
          </a:prstGeom>
          <a:noFill/>
        </p:spPr>
        <p:txBody>
          <a:bodyPr wrap="square" lIns="0" rIns="0" tIns="0" bIns="0" anchor="t">
            <a:spAutoFit/>
          </a:bodyPr>
          <a:lstStyle/>
          <a:p>
            <a:pPr algn="l"/>
            <a:r>
              <a:rPr sz="2200" b="1" i="0">
                <a:solidFill>
                  <a:srgbClr val="0C1116"/>
                </a:solidFill>
                <a:latin typeface="Consolas"/>
              </a:rPr>
              <a:t>4.80x</a:t>
            </a:r>
          </a:p>
        </p:txBody>
      </p:sp>
      <p:sp>
        <p:nvSpPr>
          <p:cNvPr id="14" name="TextBox 13"/>
          <p:cNvSpPr txBox="1"/>
          <p:nvPr/>
        </p:nvSpPr>
        <p:spPr>
          <a:xfrm>
            <a:off x="969264" y="5559552"/>
            <a:ext cx="3291840" cy="36576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faster than the full cache, phone CPU</a:t>
            </a:r>
          </a:p>
        </p:txBody>
      </p:sp>
      <p:sp>
        <p:nvSpPr>
          <p:cNvPr id="15" name="Rectangle 14"/>
          <p:cNvSpPr/>
          <p:nvPr/>
        </p:nvSpPr>
        <p:spPr>
          <a:xfrm>
            <a:off x="4389120" y="5138928"/>
            <a:ext cx="36576" cy="777240"/>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291840" cy="411480"/>
          </a:xfrm>
          <a:prstGeom prst="rect">
            <a:avLst/>
          </a:prstGeom>
          <a:noFill/>
        </p:spPr>
        <p:txBody>
          <a:bodyPr wrap="square" lIns="0" rIns="0" tIns="0" bIns="0" anchor="t">
            <a:spAutoFit/>
          </a:bodyPr>
          <a:lstStyle/>
          <a:p>
            <a:pPr algn="l"/>
            <a:r>
              <a:rPr sz="2200" b="1" i="0">
                <a:solidFill>
                  <a:srgbClr val="0C1116"/>
                </a:solidFill>
                <a:latin typeface="Consolas"/>
              </a:rPr>
              <a:t>7.4%</a:t>
            </a:r>
          </a:p>
        </p:txBody>
      </p:sp>
      <p:sp>
        <p:nvSpPr>
          <p:cNvPr id="17" name="TextBox 16"/>
          <p:cNvSpPr txBox="1"/>
          <p:nvPr/>
        </p:nvSpPr>
        <p:spPr>
          <a:xfrm>
            <a:off x="4535424" y="5559552"/>
            <a:ext cx="3291840" cy="36576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of the cache still live, and really freed</a:t>
            </a:r>
          </a:p>
        </p:txBody>
      </p:sp>
      <p:sp>
        <p:nvSpPr>
          <p:cNvPr id="18" name="Rectangle 17"/>
          <p:cNvSpPr/>
          <p:nvPr/>
        </p:nvSpPr>
        <p:spPr>
          <a:xfrm>
            <a:off x="7955279" y="5138928"/>
            <a:ext cx="36576" cy="777240"/>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5120640"/>
            <a:ext cx="3291840" cy="411480"/>
          </a:xfrm>
          <a:prstGeom prst="rect">
            <a:avLst/>
          </a:prstGeom>
          <a:noFill/>
        </p:spPr>
        <p:txBody>
          <a:bodyPr wrap="square" lIns="0" rIns="0" tIns="0" bIns="0" anchor="t">
            <a:spAutoFit/>
          </a:bodyPr>
          <a:lstStyle/>
          <a:p>
            <a:pPr algn="l"/>
            <a:r>
              <a:rPr sz="2200" b="1" i="0">
                <a:solidFill>
                  <a:srgbClr val="0C1116"/>
                </a:solidFill>
                <a:latin typeface="Consolas"/>
              </a:rPr>
              <a:t>-58%</a:t>
            </a:r>
          </a:p>
        </p:txBody>
      </p:sp>
      <p:sp>
        <p:nvSpPr>
          <p:cNvPr id="20" name="TextBox 19"/>
          <p:cNvSpPr txBox="1"/>
          <p:nvPr/>
        </p:nvSpPr>
        <p:spPr>
          <a:xfrm>
            <a:off x="8101583" y="5559552"/>
            <a:ext cx="3291840" cy="36576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energy for the same 4096 tokens</a:t>
            </a:r>
          </a:p>
        </p:txBody>
      </p:sp>
      <p:sp>
        <p:nvSpPr>
          <p:cNvPr id="21" name="TextBox 20"/>
          <p:cNvSpPr txBox="1"/>
          <p:nvPr/>
        </p:nvSpPr>
        <p:spPr>
          <a:xfrm>
            <a:off x="822960" y="6144768"/>
            <a:ext cx="10058400" cy="320040"/>
          </a:xfrm>
          <a:prstGeom prst="rect">
            <a:avLst/>
          </a:prstGeom>
          <a:noFill/>
        </p:spPr>
        <p:txBody>
          <a:bodyPr wrap="square" lIns="0" rIns="0" tIns="0" bIns="0" anchor="t">
            <a:spAutoFit/>
          </a:bodyPr>
          <a:lstStyle/>
          <a:p>
            <a:pPr algn="l"/>
            <a:r>
              <a:rPr sz="1050" b="0" i="0">
                <a:solidFill>
                  <a:srgbClr val="6B7785"/>
                </a:solidFill>
                <a:latin typeface="Arial"/>
              </a:rPr>
              <a:t>Md Romyull Islam  ·  Kennesaw State University  ·  OnePlus 15, Snapdragon 8 Elite Gen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RESEARCH GAP</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2</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THE GAP</a:t>
            </a:r>
          </a:p>
        </p:txBody>
      </p:sp>
      <p:sp>
        <p:nvSpPr>
          <p:cNvPr id="6" name="TextBox 5"/>
          <p:cNvSpPr txBox="1"/>
          <p:nvPr/>
        </p:nvSpPr>
        <p:spPr>
          <a:xfrm>
            <a:off x="566928" y="914400"/>
            <a:ext cx="10515600" cy="731520"/>
          </a:xfrm>
          <a:prstGeom prst="rect">
            <a:avLst/>
          </a:prstGeom>
          <a:noFill/>
        </p:spPr>
        <p:txBody>
          <a:bodyPr wrap="square" lIns="0" rIns="0" tIns="0" bIns="0" anchor="t">
            <a:spAutoFit/>
          </a:bodyPr>
          <a:lstStyle/>
          <a:p>
            <a:pPr algn="l">
              <a:lnSpc>
                <a:spcPct val="108000"/>
              </a:lnSpc>
            </a:pPr>
            <a:r>
              <a:rPr sz="2700" b="1" i="0">
                <a:solidFill>
                  <a:srgbClr val="0C1116"/>
                </a:solidFill>
                <a:latin typeface="Arial"/>
              </a:rPr>
              <a:t>Eviction is designed on server GPUs and justified by one number</a:t>
            </a:r>
          </a:p>
        </p:txBody>
      </p:sp>
      <p:sp>
        <p:nvSpPr>
          <p:cNvPr id="7" name="Rounded Rectangle 6"/>
          <p:cNvSpPr/>
          <p:nvPr/>
        </p:nvSpPr>
        <p:spPr>
          <a:xfrm>
            <a:off x="566928" y="1874519"/>
            <a:ext cx="5212080" cy="265176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29384"/>
            <a:ext cx="41148" cy="2542032"/>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663440" cy="320040"/>
          </a:xfrm>
          <a:prstGeom prst="rect">
            <a:avLst/>
          </a:prstGeom>
          <a:noFill/>
        </p:spPr>
        <p:txBody>
          <a:bodyPr wrap="square" lIns="0" rIns="0" tIns="0" bIns="0" anchor="t">
            <a:spAutoFit/>
          </a:bodyPr>
          <a:lstStyle/>
          <a:p>
            <a:pPr algn="l"/>
            <a:r>
              <a:rPr sz="1350" b="1" i="0">
                <a:solidFill>
                  <a:srgbClr val="0C1116"/>
                </a:solidFill>
                <a:latin typeface="Arial"/>
              </a:rPr>
              <a:t>What the literature reports</a:t>
            </a:r>
          </a:p>
        </p:txBody>
      </p:sp>
      <p:sp>
        <p:nvSpPr>
          <p:cNvPr id="10" name="TextBox 9"/>
          <p:cNvSpPr txBox="1"/>
          <p:nvPr/>
        </p:nvSpPr>
        <p:spPr>
          <a:xfrm>
            <a:off x="868680" y="2450592"/>
            <a:ext cx="4617720" cy="1920240"/>
          </a:xfrm>
          <a:prstGeom prst="rect">
            <a:avLst/>
          </a:prstGeom>
          <a:noFill/>
        </p:spPr>
        <p:txBody>
          <a:bodyPr wrap="square" lIns="0" rIns="0" tIns="0" bIns="0">
            <a:spAutoFit/>
          </a:bodyPr>
          <a:lstStyle/>
          <a:p>
            <a:pPr>
              <a:lnSpc>
                <a:spcPct val="125000"/>
              </a:lnSpc>
              <a:spcAft>
                <a:spcPts val="700"/>
              </a:spcAft>
            </a:pPr>
            <a:r>
              <a:rPr sz="1200" b="1">
                <a:solidFill>
                  <a:srgbClr val="0C1116"/>
                </a:solidFill>
                <a:latin typeface="Arial"/>
              </a:rPr>
              <a:t>How much cache it drops</a:t>
            </a:r>
            <a:r>
              <a:rPr sz="1200" b="0">
                <a:solidFill>
                  <a:srgbClr val="38424E"/>
                </a:solidFill>
                <a:latin typeface="Arial"/>
              </a:rPr>
              <a:t>, a nominal budget K</a:t>
            </a:r>
          </a:p>
          <a:p>
            <a:pPr>
              <a:lnSpc>
                <a:spcPct val="125000"/>
              </a:lnSpc>
              <a:spcAft>
                <a:spcPts val="700"/>
              </a:spcAft>
            </a:pPr>
            <a:r>
              <a:rPr sz="1200" b="0">
                <a:solidFill>
                  <a:srgbClr val="38424E"/>
                </a:solidFill>
                <a:latin typeface="Arial"/>
              </a:rPr>
              <a:t>Quality on server GPUs (LongBench, NIAH)</a:t>
            </a:r>
          </a:p>
          <a:p>
            <a:pPr>
              <a:lnSpc>
                <a:spcPct val="125000"/>
              </a:lnSpc>
              <a:spcAft>
                <a:spcPts val="700"/>
              </a:spcAft>
            </a:pPr>
            <a:r>
              <a:rPr sz="1200" b="0">
                <a:solidFill>
                  <a:srgbClr val="38424E"/>
                </a:solidFill>
                <a:latin typeface="Arial"/>
              </a:rPr>
              <a:t>Per-head keep-sets, paged KV, unlimited power</a:t>
            </a:r>
          </a:p>
          <a:p>
            <a:pPr>
              <a:lnSpc>
                <a:spcPct val="125000"/>
              </a:lnSpc>
              <a:spcAft>
                <a:spcPts val="700"/>
              </a:spcAft>
            </a:pPr>
            <a:r>
              <a:rPr sz="1200" b="0">
                <a:solidFill>
                  <a:srgbClr val="38424E"/>
                </a:solidFill>
                <a:latin typeface="Arial"/>
              </a:rPr>
              <a:t>KeyDiff comes closest: scoring-kernel latency on a phone, not end-to-end</a:t>
            </a:r>
          </a:p>
        </p:txBody>
      </p:sp>
      <p:sp>
        <p:nvSpPr>
          <p:cNvPr id="11" name="Rounded Rectangle 10"/>
          <p:cNvSpPr/>
          <p:nvPr/>
        </p:nvSpPr>
        <p:spPr>
          <a:xfrm>
            <a:off x="6035040" y="1874519"/>
            <a:ext cx="5577840" cy="265176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0" y="1929384"/>
            <a:ext cx="41148" cy="254203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2057400"/>
            <a:ext cx="5029200" cy="320040"/>
          </a:xfrm>
          <a:prstGeom prst="rect">
            <a:avLst/>
          </a:prstGeom>
          <a:noFill/>
        </p:spPr>
        <p:txBody>
          <a:bodyPr wrap="square" lIns="0" rIns="0" tIns="0" bIns="0" anchor="t">
            <a:spAutoFit/>
          </a:bodyPr>
          <a:lstStyle/>
          <a:p>
            <a:pPr algn="l"/>
            <a:r>
              <a:rPr sz="1350" b="1" i="0">
                <a:solidFill>
                  <a:srgbClr val="0C1116"/>
                </a:solidFill>
                <a:latin typeface="Arial"/>
              </a:rPr>
              <a:t>What a phone deployment needs</a:t>
            </a:r>
          </a:p>
        </p:txBody>
      </p:sp>
      <p:sp>
        <p:nvSpPr>
          <p:cNvPr id="14" name="TextBox 13"/>
          <p:cNvSpPr txBox="1"/>
          <p:nvPr/>
        </p:nvSpPr>
        <p:spPr>
          <a:xfrm>
            <a:off x="6336792" y="2450592"/>
            <a:ext cx="4983480" cy="1920240"/>
          </a:xfrm>
          <a:prstGeom prst="rect">
            <a:avLst/>
          </a:prstGeom>
          <a:noFill/>
        </p:spPr>
        <p:txBody>
          <a:bodyPr wrap="square" lIns="0" rIns="0" tIns="0" bIns="0">
            <a:spAutoFit/>
          </a:bodyPr>
          <a:lstStyle/>
          <a:p>
            <a:pPr>
              <a:lnSpc>
                <a:spcPct val="125000"/>
              </a:lnSpc>
              <a:spcAft>
                <a:spcPts val="700"/>
              </a:spcAft>
            </a:pPr>
            <a:r>
              <a:rPr sz="1200" b="0">
                <a:solidFill>
                  <a:srgbClr val="38424E"/>
                </a:solidFill>
                <a:latin typeface="Arial"/>
              </a:rPr>
              <a:t>Cells </a:t>
            </a:r>
            <a:r>
              <a:rPr sz="1200" b="1">
                <a:solidFill>
                  <a:srgbClr val="0C1116"/>
                </a:solidFill>
                <a:latin typeface="Arial"/>
              </a:rPr>
              <a:t>actually freed</a:t>
            </a:r>
            <a:r>
              <a:rPr sz="1200" b="0">
                <a:solidFill>
                  <a:srgbClr val="38424E"/>
                </a:solidFill>
                <a:latin typeface="Arial"/>
              </a:rPr>
              <a:t>, not the budget requested</a:t>
            </a:r>
          </a:p>
          <a:p>
            <a:pPr>
              <a:lnSpc>
                <a:spcPct val="125000"/>
              </a:lnSpc>
              <a:spcAft>
                <a:spcPts val="700"/>
              </a:spcAft>
            </a:pPr>
            <a:r>
              <a:rPr sz="1200" b="0">
                <a:solidFill>
                  <a:srgbClr val="38424E"/>
                </a:solidFill>
                <a:latin typeface="Arial"/>
              </a:rPr>
              <a:t>Throughput </a:t>
            </a:r>
            <a:r>
              <a:rPr sz="1200" b="1">
                <a:solidFill>
                  <a:srgbClr val="0C1116"/>
                </a:solidFill>
                <a:latin typeface="Arial"/>
              </a:rPr>
              <a:t>by phase</a:t>
            </a:r>
            <a:r>
              <a:rPr sz="1200" b="0">
                <a:solidFill>
                  <a:srgbClr val="38424E"/>
                </a:solidFill>
                <a:latin typeface="Arial"/>
              </a:rPr>
              <a:t>, because prefill and decode differ</a:t>
            </a:r>
          </a:p>
          <a:p>
            <a:pPr>
              <a:lnSpc>
                <a:spcPct val="125000"/>
              </a:lnSpc>
              <a:spcAft>
                <a:spcPts val="700"/>
              </a:spcAft>
            </a:pPr>
            <a:r>
              <a:rPr sz="1200" b="1">
                <a:solidFill>
                  <a:srgbClr val="0C1116"/>
                </a:solidFill>
                <a:latin typeface="Arial"/>
              </a:rPr>
              <a:t>Energy</a:t>
            </a:r>
            <a:r>
              <a:rPr sz="1200" b="0">
                <a:solidFill>
                  <a:srgbClr val="38424E"/>
                </a:solidFill>
                <a:latin typeface="Arial"/>
              </a:rPr>
              <a:t> and </a:t>
            </a:r>
            <a:r>
              <a:rPr sz="1200" b="1">
                <a:solidFill>
                  <a:srgbClr val="0C1116"/>
                </a:solidFill>
                <a:latin typeface="Arial"/>
              </a:rPr>
              <a:t>temperature</a:t>
            </a:r>
            <a:r>
              <a:rPr sz="1200" b="0">
                <a:solidFill>
                  <a:srgbClr val="38424E"/>
                </a:solidFill>
                <a:latin typeface="Arial"/>
              </a:rPr>
              <a:t>: the device throttles</a:t>
            </a:r>
          </a:p>
          <a:p>
            <a:pPr>
              <a:lnSpc>
                <a:spcPct val="125000"/>
              </a:lnSpc>
              <a:spcAft>
                <a:spcPts val="700"/>
              </a:spcAft>
            </a:pPr>
            <a:r>
              <a:rPr sz="1200" b="0">
                <a:solidFill>
                  <a:srgbClr val="38424E"/>
                </a:solidFill>
                <a:latin typeface="Arial"/>
              </a:rPr>
              <a:t>Whether the engine can even </a:t>
            </a:r>
            <a:r>
              <a:rPr sz="1200" b="1">
                <a:solidFill>
                  <a:srgbClr val="0C1116"/>
                </a:solidFill>
                <a:latin typeface="Arial"/>
              </a:rPr>
              <a:t>execute</a:t>
            </a:r>
            <a:r>
              <a:rPr sz="1200" b="0">
                <a:solidFill>
                  <a:srgbClr val="38424E"/>
                </a:solidFill>
                <a:latin typeface="Arial"/>
              </a:rPr>
              <a:t> the policy</a:t>
            </a:r>
          </a:p>
        </p:txBody>
      </p:sp>
      <p:sp>
        <p:nvSpPr>
          <p:cNvPr id="15" name="Rounded Rectangle 14"/>
          <p:cNvSpPr/>
          <p:nvPr/>
        </p:nvSpPr>
        <p:spPr>
          <a:xfrm>
            <a:off x="566928" y="4709160"/>
            <a:ext cx="11064240" cy="1143000"/>
          </a:xfrm>
          <a:prstGeom prst="roundRect">
            <a:avLst>
              <a:gd name="adj" fmla="val 4000"/>
            </a:avLst>
          </a:prstGeom>
          <a:solidFill>
            <a:srgbClr val="FDF0E6"/>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764024"/>
            <a:ext cx="41148" cy="1033271"/>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19472"/>
            <a:ext cx="10515600" cy="731520"/>
          </a:xfrm>
          <a:prstGeom prst="rect">
            <a:avLst/>
          </a:prstGeom>
          <a:noFill/>
        </p:spPr>
        <p:txBody>
          <a:bodyPr wrap="square" lIns="0" rIns="0" tIns="0" bIns="0" anchor="t">
            <a:spAutoFit/>
          </a:bodyPr>
          <a:lstStyle/>
          <a:p>
            <a:pPr algn="l">
              <a:lnSpc>
                <a:spcPct val="135000"/>
              </a:lnSpc>
            </a:pPr>
            <a:r>
              <a:rPr sz="1500" b="0" i="0">
                <a:solidFill>
                  <a:srgbClr val="0C1116"/>
                </a:solidFill>
                <a:latin typeface="Arial"/>
              </a:rPr>
              <a:t>The systems that do run on phones (KVSwap, DynaKV, MobiLoRA) move bytes rather than discard them.  None evicts. None reads the battery.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BREAK 1</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3</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BREAK 1 OF 3 · BUDGETS DO NOT MATERIALIZE</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SnapKV asks for 1024 cells and keeps 8893.</a:t>
            </a:r>
          </a:p>
        </p:txBody>
      </p:sp>
      <p:sp>
        <p:nvSpPr>
          <p:cNvPr id="7" name="Rounded Rectangle 6"/>
          <p:cNvSpPr/>
          <p:nvPr/>
        </p:nvSpPr>
        <p:spPr>
          <a:xfrm>
            <a:off x="566928" y="1783080"/>
            <a:ext cx="7223760" cy="1170432"/>
          </a:xfrm>
          <a:prstGeom prst="roundRect">
            <a:avLst>
              <a:gd name="adj" fmla="val 4000"/>
            </a:avLst>
          </a:prstGeom>
          <a:solidFill>
            <a:srgbClr val="FDECEC"/>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37943"/>
            <a:ext cx="41148" cy="1060704"/>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11095"/>
            <a:ext cx="6675120" cy="274320"/>
          </a:xfrm>
          <a:prstGeom prst="rect">
            <a:avLst/>
          </a:prstGeom>
          <a:noFill/>
        </p:spPr>
        <p:txBody>
          <a:bodyPr wrap="square" lIns="0" rIns="0" tIns="0" bIns="0" anchor="t">
            <a:spAutoFit/>
          </a:bodyPr>
          <a:lstStyle/>
          <a:p>
            <a:pPr algn="l"/>
            <a:r>
              <a:rPr sz="950" b="1" i="0" spc="120">
                <a:solidFill>
                  <a:srgbClr val="A81F1F"/>
                </a:solidFill>
                <a:latin typeface="Consolas"/>
              </a:rPr>
              <a:t>THE PROBLEM</a:t>
            </a:r>
          </a:p>
        </p:txBody>
      </p:sp>
      <p:sp>
        <p:nvSpPr>
          <p:cNvPr id="10" name="TextBox 9"/>
          <p:cNvSpPr txBox="1"/>
          <p:nvPr/>
        </p:nvSpPr>
        <p:spPr>
          <a:xfrm>
            <a:off x="868680" y="2203704"/>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Every policy reports how much cache it drops. For the four policies that choose per head, that number is not what gets freed on this phone. For the two that choose at sequence level, it is.</a:t>
            </a:r>
          </a:p>
        </p:txBody>
      </p:sp>
      <p:sp>
        <p:nvSpPr>
          <p:cNvPr id="11" name="Rounded Rectangle 10"/>
          <p:cNvSpPr/>
          <p:nvPr/>
        </p:nvSpPr>
        <p:spPr>
          <a:xfrm>
            <a:off x="566928" y="3081528"/>
            <a:ext cx="7223760" cy="1170432"/>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136392"/>
            <a:ext cx="41148" cy="1060704"/>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09544"/>
            <a:ext cx="6675120" cy="274320"/>
          </a:xfrm>
          <a:prstGeom prst="rect">
            <a:avLst/>
          </a:prstGeom>
          <a:noFill/>
        </p:spPr>
        <p:txBody>
          <a:bodyPr wrap="square" lIns="0" rIns="0" tIns="0" bIns="0" anchor="t">
            <a:spAutoFit/>
          </a:bodyPr>
          <a:lstStyle/>
          <a:p>
            <a:pPr algn="l"/>
            <a:r>
              <a:rPr sz="950" b="1" i="0" spc="120">
                <a:solidFill>
                  <a:srgbClr val="2B6CA3"/>
                </a:solidFill>
                <a:latin typeface="Consolas"/>
              </a:rPr>
              <a:t>WHY IT HAPPENS</a:t>
            </a:r>
          </a:p>
        </p:txBody>
      </p:sp>
      <p:sp>
        <p:nvSpPr>
          <p:cNvPr id="14" name="TextBox 13"/>
          <p:cNvSpPr txBox="1"/>
          <p:nvPr/>
        </p:nvSpPr>
        <p:spPr>
          <a:xfrm>
            <a:off x="868680" y="3502152"/>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Phone engines store the KV cache in ONE array shared by all heads and layers. SnapKV, Ada-KV, H2O and TOVA each pick a different keep-set per head. The engine can only free a cell that EVERY head agreed to drop, so the keep-sets pile up and almost nothing is released.</a:t>
            </a:r>
          </a:p>
        </p:txBody>
      </p:sp>
      <p:sp>
        <p:nvSpPr>
          <p:cNvPr id="15" name="Rounded Rectangle 14"/>
          <p:cNvSpPr/>
          <p:nvPr/>
        </p:nvSpPr>
        <p:spPr>
          <a:xfrm>
            <a:off x="566928" y="4379976"/>
            <a:ext cx="7223760" cy="1170432"/>
          </a:xfrm>
          <a:prstGeom prst="roundRect">
            <a:avLst>
              <a:gd name="adj" fmla="val 4000"/>
            </a:avLst>
          </a:prstGeom>
          <a:solidFill>
            <a:srgbClr val="E7F4E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434840"/>
            <a:ext cx="41148" cy="1060704"/>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507992"/>
            <a:ext cx="6675120" cy="274320"/>
          </a:xfrm>
          <a:prstGeom prst="rect">
            <a:avLst/>
          </a:prstGeom>
          <a:noFill/>
        </p:spPr>
        <p:txBody>
          <a:bodyPr wrap="square" lIns="0" rIns="0" tIns="0" bIns="0" anchor="t">
            <a:spAutoFit/>
          </a:bodyPr>
          <a:lstStyle/>
          <a:p>
            <a:pPr algn="l"/>
            <a:r>
              <a:rPr sz="950" b="1" i="0" spc="120">
                <a:solidFill>
                  <a:srgbClr val="1A7A58"/>
                </a:solidFill>
                <a:latin typeface="Consolas"/>
              </a:rPr>
              <a:t>OUR SOLUTION</a:t>
            </a:r>
          </a:p>
        </p:txBody>
      </p:sp>
      <p:sp>
        <p:nvSpPr>
          <p:cNvPr id="18" name="TextBox 17"/>
          <p:cNvSpPr txBox="1"/>
          <p:nvPr/>
        </p:nvSpPr>
        <p:spPr>
          <a:xfrm>
            <a:off x="868680" y="4800600"/>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μKV picks ONE keep-set for all heads and layers. There is nothing to union, so every cell it drops is actually freed and the survivors can be packed together. KeyDiff is sequence-level too, so its budget is also real; we differ in what happens next, not here.</a:t>
            </a:r>
          </a:p>
        </p:txBody>
      </p:sp>
      <p:sp>
        <p:nvSpPr>
          <p:cNvPr id="19" name="Rounded Rectangle 18"/>
          <p:cNvSpPr/>
          <p:nvPr/>
        </p:nvSpPr>
        <p:spPr>
          <a:xfrm>
            <a:off x="8065008" y="1783080"/>
            <a:ext cx="3566160" cy="388620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1837943"/>
            <a:ext cx="41148" cy="377647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965960"/>
            <a:ext cx="3017520" cy="274320"/>
          </a:xfrm>
          <a:prstGeom prst="rect">
            <a:avLst/>
          </a:prstGeom>
          <a:noFill/>
        </p:spPr>
        <p:txBody>
          <a:bodyPr wrap="square" lIns="0" rIns="0" tIns="0" bIns="0" anchor="t">
            <a:spAutoFit/>
          </a:bodyPr>
          <a:lstStyle/>
          <a:p>
            <a:pPr algn="l"/>
            <a:r>
              <a:rPr sz="950" b="1" i="0" spc="120">
                <a:solidFill>
                  <a:srgbClr val="C4581A"/>
                </a:solidFill>
                <a:latin typeface="Consolas"/>
              </a:rPr>
              <a:t>THE EVIDENCE</a:t>
            </a:r>
          </a:p>
        </p:txBody>
      </p:sp>
      <p:sp>
        <p:nvSpPr>
          <p:cNvPr id="22" name="TextBox 21"/>
          <p:cNvSpPr txBox="1"/>
          <p:nvPr/>
        </p:nvSpPr>
        <p:spPr>
          <a:xfrm>
            <a:off x="8339327" y="2377440"/>
            <a:ext cx="3017520" cy="822960"/>
          </a:xfrm>
          <a:prstGeom prst="rect">
            <a:avLst/>
          </a:prstGeom>
          <a:noFill/>
        </p:spPr>
        <p:txBody>
          <a:bodyPr wrap="square" lIns="0" rIns="0" tIns="0" bIns="0" anchor="t">
            <a:spAutoFit/>
          </a:bodyPr>
          <a:lstStyle/>
          <a:p>
            <a:pPr algn="l">
              <a:lnSpc>
                <a:spcPct val="105000"/>
              </a:lnSpc>
            </a:pPr>
            <a:r>
              <a:rPr sz="3000" b="1" i="0">
                <a:solidFill>
                  <a:srgbClr val="C4581A"/>
                </a:solidFill>
                <a:latin typeface="Consolas"/>
              </a:rPr>
              <a:t>91.3%</a:t>
            </a:r>
          </a:p>
        </p:txBody>
      </p:sp>
      <p:sp>
        <p:nvSpPr>
          <p:cNvPr id="23" name="TextBox 22"/>
          <p:cNvSpPr txBox="1"/>
          <p:nvPr/>
        </p:nvSpPr>
        <p:spPr>
          <a:xfrm>
            <a:off x="8339327" y="3657600"/>
            <a:ext cx="3017520" cy="1828800"/>
          </a:xfrm>
          <a:prstGeom prst="rect">
            <a:avLst/>
          </a:prstGeom>
          <a:noFill/>
        </p:spPr>
        <p:txBody>
          <a:bodyPr wrap="square" lIns="0" rIns="0" tIns="0" bIns="0" anchor="t">
            <a:spAutoFit/>
          </a:bodyPr>
          <a:lstStyle/>
          <a:p>
            <a:pPr algn="l">
              <a:lnSpc>
                <a:spcPct val="135000"/>
              </a:lnSpc>
            </a:pPr>
            <a:r>
              <a:rPr sz="1100" b="0" i="0">
                <a:solidFill>
                  <a:srgbClr val="38424E"/>
                </a:solidFill>
                <a:latin typeface="Arial"/>
              </a:rPr>
              <a:t>SnapKV still holds 91.3% of the cache after asking to keep 1024 of 9741 cells. It pays the cost of eviction and collects none of the benefit.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BREAK 1 · DETAIL</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4</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WHO IS AFFECTED, AND WHO IS NOT</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The split is per-head vs sequence-level, not us vs everyone</a:t>
            </a:r>
          </a:p>
        </p:txBody>
      </p:sp>
      <p:sp>
        <p:nvSpPr>
          <p:cNvPr id="7" name="TextBox 6"/>
          <p:cNvSpPr txBox="1"/>
          <p:nvPr/>
        </p:nvSpPr>
        <p:spPr>
          <a:xfrm>
            <a:off x="566928" y="1572768"/>
            <a:ext cx="6949440" cy="256032"/>
          </a:xfrm>
          <a:prstGeom prst="rect">
            <a:avLst/>
          </a:prstGeom>
          <a:noFill/>
        </p:spPr>
        <p:txBody>
          <a:bodyPr wrap="square" lIns="0" rIns="0" tIns="0" bIns="0" anchor="t">
            <a:spAutoFit/>
          </a:bodyPr>
          <a:lstStyle/>
          <a:p>
            <a:pPr algn="l"/>
            <a:r>
              <a:rPr sz="1050" b="1" i="0">
                <a:solidFill>
                  <a:srgbClr val="2B6CA3"/>
                </a:solidFill>
                <a:latin typeface="Consolas"/>
              </a:rPr>
              <a:t>Llama-3.2-1B (8 KV heads), phone CPU, 9741-token prompt</a:t>
            </a:r>
          </a:p>
        </p:txBody>
      </p:sp>
      <p:graphicFrame>
        <p:nvGraphicFramePr>
          <p:cNvPr id="8" name="Table 7"/>
          <p:cNvGraphicFramePr>
            <a:graphicFrameLocks noGrp="1"/>
          </p:cNvGraphicFramePr>
          <p:nvPr/>
        </p:nvGraphicFramePr>
        <p:xfrm>
          <a:off x="566928" y="1847088"/>
          <a:ext cx="6949438" cy="2048256"/>
        </p:xfrm>
        <a:graphic>
          <a:graphicData uri="http://schemas.openxmlformats.org/drawingml/2006/table">
            <a:tbl>
              <a:tblPr firstRow="1" bandRow="1">
                <a:tableStyleId>{5C22544A-7EE6-4342-B048-85BDC9FD1C3A}</a:tableStyleId>
              </a:tblPr>
              <a:tblGrid>
                <a:gridCol w="2084832"/>
                <a:gridCol w="1588443"/>
                <a:gridCol w="992777"/>
                <a:gridCol w="1092054"/>
                <a:gridCol w="1191332"/>
              </a:tblGrid>
              <a:tr h="292608">
                <a:tc>
                  <a:txBody>
                    <a:bodyPr/>
                    <a:lstStyle/>
                    <a:p>
                      <a:pPr algn="l"/>
                      <a:r>
                        <a:rPr sz="950" b="1">
                          <a:solidFill>
                            <a:srgbClr val="6B7785"/>
                          </a:solidFill>
                          <a:latin typeface="Consolas"/>
                        </a:rPr>
                        <a:t>Policy</a:t>
                      </a:r>
                    </a:p>
                  </a:txBody>
                  <a:tcPr marL="45720" marR="45720" marT="0" marB="0">
                    <a:solidFill>
                      <a:srgbClr val="FFFFFF"/>
                    </a:solidFill>
                  </a:tcPr>
                </a:tc>
                <a:tc>
                  <a:txBody>
                    <a:bodyPr/>
                    <a:lstStyle/>
                    <a:p>
                      <a:pPr algn="r"/>
                      <a:r>
                        <a:rPr sz="950" b="1">
                          <a:solidFill>
                            <a:srgbClr val="6B7785"/>
                          </a:solidFill>
                          <a:latin typeface="Consolas"/>
                        </a:rPr>
                        <a:t>selects</a:t>
                      </a:r>
                    </a:p>
                  </a:txBody>
                  <a:tcPr marL="45720" marR="45720" marT="0" marB="0">
                    <a:solidFill>
                      <a:srgbClr val="FFFFFF"/>
                    </a:solidFill>
                  </a:tcPr>
                </a:tc>
                <a:tc>
                  <a:txBody>
                    <a:bodyPr/>
                    <a:lstStyle/>
                    <a:p>
                      <a:pPr algn="r"/>
                      <a:r>
                        <a:rPr sz="950" b="1">
                          <a:solidFill>
                            <a:srgbClr val="6B7785"/>
                          </a:solidFill>
                          <a:latin typeface="Consolas"/>
                        </a:rPr>
                        <a:t>asked</a:t>
                      </a:r>
                    </a:p>
                  </a:txBody>
                  <a:tcPr marL="45720" marR="45720" marT="0" marB="0">
                    <a:solidFill>
                      <a:srgbClr val="FFFFFF"/>
                    </a:solidFill>
                  </a:tcPr>
                </a:tc>
                <a:tc>
                  <a:txBody>
                    <a:bodyPr/>
                    <a:lstStyle/>
                    <a:p>
                      <a:pPr algn="r"/>
                      <a:r>
                        <a:rPr sz="950" b="1">
                          <a:solidFill>
                            <a:srgbClr val="6B7785"/>
                          </a:solidFill>
                          <a:latin typeface="Consolas"/>
                        </a:rPr>
                        <a:t>live cells</a:t>
                      </a:r>
                    </a:p>
                  </a:txBody>
                  <a:tcPr marL="45720" marR="45720" marT="0" marB="0">
                    <a:solidFill>
                      <a:srgbClr val="FFFFFF"/>
                    </a:solidFill>
                  </a:tcPr>
                </a:tc>
                <a:tc>
                  <a:txBody>
                    <a:bodyPr/>
                    <a:lstStyle/>
                    <a:p>
                      <a:pPr algn="r"/>
                      <a:r>
                        <a:rPr sz="950" b="1">
                          <a:solidFill>
                            <a:srgbClr val="6B7785"/>
                          </a:solidFill>
                          <a:latin typeface="Consolas"/>
                        </a:rPr>
                        <a:t>retained</a:t>
                      </a:r>
                    </a:p>
                  </a:txBody>
                  <a:tcPr marL="45720" marR="45720" marT="0" marB="0">
                    <a:solidFill>
                      <a:srgbClr val="FFFFFF"/>
                    </a:solidFill>
                  </a:tcPr>
                </a:tc>
              </a:tr>
              <a:tr h="292608">
                <a:tc>
                  <a:txBody>
                    <a:bodyPr/>
                    <a:lstStyle/>
                    <a:p>
                      <a:pPr algn="l"/>
                      <a:r>
                        <a:rPr sz="1150" b="0">
                          <a:solidFill>
                            <a:srgbClr val="0C1116"/>
                          </a:solidFill>
                          <a:latin typeface="Arial"/>
                        </a:rPr>
                        <a:t>SnapKV</a:t>
                      </a:r>
                    </a:p>
                  </a:txBody>
                  <a:tcPr marL="45720" marR="45720" marT="18000" marB="18000">
                    <a:solidFill>
                      <a:srgbClr val="FFFFFF"/>
                    </a:solidFill>
                  </a:tcPr>
                </a:tc>
                <a:tc>
                  <a:txBody>
                    <a:bodyPr/>
                    <a:lstStyle/>
                    <a:p>
                      <a:pPr algn="r"/>
                      <a:r>
                        <a:rPr sz="1150" b="0">
                          <a:solidFill>
                            <a:srgbClr val="0C1116"/>
                          </a:solidFill>
                          <a:latin typeface="Consolas"/>
                        </a:rPr>
                        <a:t>per head</a:t>
                      </a:r>
                    </a:p>
                  </a:txBody>
                  <a:tcPr marL="45720" marR="45720" marT="18000" marB="18000">
                    <a:solidFill>
                      <a:srgbClr val="FFFFFF"/>
                    </a:solidFill>
                  </a:tcPr>
                </a:tc>
                <a:tc>
                  <a:txBody>
                    <a:bodyPr/>
                    <a:lstStyle/>
                    <a:p>
                      <a:pPr algn="r"/>
                      <a:r>
                        <a:rPr sz="1150" b="0">
                          <a:solidFill>
                            <a:srgbClr val="0C1116"/>
                          </a:solidFill>
                          <a:latin typeface="Consolas"/>
                        </a:rPr>
                        <a:t>1024</a:t>
                      </a:r>
                    </a:p>
                  </a:txBody>
                  <a:tcPr marL="45720" marR="45720" marT="18000" marB="18000">
                    <a:solidFill>
                      <a:srgbClr val="FFFFFF"/>
                    </a:solidFill>
                  </a:tcPr>
                </a:tc>
                <a:tc>
                  <a:txBody>
                    <a:bodyPr/>
                    <a:lstStyle/>
                    <a:p>
                      <a:pPr algn="r"/>
                      <a:r>
                        <a:rPr sz="1150" b="0">
                          <a:solidFill>
                            <a:srgbClr val="0C1116"/>
                          </a:solidFill>
                          <a:latin typeface="Consolas"/>
                        </a:rPr>
                        <a:t>8893</a:t>
                      </a:r>
                    </a:p>
                  </a:txBody>
                  <a:tcPr marL="45720" marR="45720" marT="18000" marB="18000">
                    <a:solidFill>
                      <a:srgbClr val="FFFFFF"/>
                    </a:solidFill>
                  </a:tcPr>
                </a:tc>
                <a:tc>
                  <a:txBody>
                    <a:bodyPr/>
                    <a:lstStyle/>
                    <a:p>
                      <a:pPr algn="r"/>
                      <a:r>
                        <a:rPr sz="1150" b="0">
                          <a:solidFill>
                            <a:srgbClr val="0C1116"/>
                          </a:solidFill>
                          <a:latin typeface="Consolas"/>
                        </a:rPr>
                        <a:t>91.3%</a:t>
                      </a:r>
                    </a:p>
                  </a:txBody>
                  <a:tcPr marL="45720" marR="45720" marT="18000" marB="18000">
                    <a:solidFill>
                      <a:srgbClr val="FFFFFF"/>
                    </a:solidFill>
                  </a:tcPr>
                </a:tc>
              </a:tr>
              <a:tr h="292608">
                <a:tc>
                  <a:txBody>
                    <a:bodyPr/>
                    <a:lstStyle/>
                    <a:p>
                      <a:pPr algn="l"/>
                      <a:r>
                        <a:rPr sz="1150" b="0">
                          <a:solidFill>
                            <a:srgbClr val="0C1116"/>
                          </a:solidFill>
                          <a:latin typeface="Arial"/>
                        </a:rPr>
                        <a:t>H2O</a:t>
                      </a:r>
                    </a:p>
                  </a:txBody>
                  <a:tcPr marL="45720" marR="45720" marT="18000" marB="18000">
                    <a:solidFill>
                      <a:srgbClr val="FFFFFF"/>
                    </a:solidFill>
                  </a:tcPr>
                </a:tc>
                <a:tc>
                  <a:txBody>
                    <a:bodyPr/>
                    <a:lstStyle/>
                    <a:p>
                      <a:pPr algn="r"/>
                      <a:r>
                        <a:rPr sz="1150" b="0">
                          <a:solidFill>
                            <a:srgbClr val="0C1116"/>
                          </a:solidFill>
                          <a:latin typeface="Consolas"/>
                        </a:rPr>
                        <a:t>per head</a:t>
                      </a:r>
                    </a:p>
                  </a:txBody>
                  <a:tcPr marL="45720" marR="45720" marT="18000" marB="18000">
                    <a:solidFill>
                      <a:srgbClr val="FFFFFF"/>
                    </a:solidFill>
                  </a:tcPr>
                </a:tc>
                <a:tc>
                  <a:txBody>
                    <a:bodyPr/>
                    <a:lstStyle/>
                    <a:p>
                      <a:pPr algn="r"/>
                      <a:r>
                        <a:rPr sz="1150" b="0">
                          <a:solidFill>
                            <a:srgbClr val="0C1116"/>
                          </a:solidFill>
                          <a:latin typeface="Consolas"/>
                        </a:rPr>
                        <a:t>20% of N</a:t>
                      </a:r>
                    </a:p>
                  </a:txBody>
                  <a:tcPr marL="45720" marR="45720" marT="18000" marB="18000">
                    <a:solidFill>
                      <a:srgbClr val="FFFFFF"/>
                    </a:solidFill>
                  </a:tcPr>
                </a:tc>
                <a:tc>
                  <a:txBody>
                    <a:bodyPr/>
                    <a:lstStyle/>
                    <a:p>
                      <a:pPr algn="r"/>
                      <a:r>
                        <a:rPr sz="1150" b="0">
                          <a:solidFill>
                            <a:srgbClr val="0C1116"/>
                          </a:solidFill>
                          <a:latin typeface="Consolas"/>
                        </a:rPr>
                        <a:t>9151</a:t>
                      </a:r>
                    </a:p>
                  </a:txBody>
                  <a:tcPr marL="45720" marR="45720" marT="18000" marB="18000">
                    <a:solidFill>
                      <a:srgbClr val="FFFFFF"/>
                    </a:solidFill>
                  </a:tcPr>
                </a:tc>
                <a:tc>
                  <a:txBody>
                    <a:bodyPr/>
                    <a:lstStyle/>
                    <a:p>
                      <a:pPr algn="r"/>
                      <a:r>
                        <a:rPr sz="1150" b="0">
                          <a:solidFill>
                            <a:srgbClr val="0C1116"/>
                          </a:solidFill>
                          <a:latin typeface="Consolas"/>
                        </a:rPr>
                        <a:t>94%</a:t>
                      </a:r>
                    </a:p>
                  </a:txBody>
                  <a:tcPr marL="45720" marR="45720" marT="18000" marB="18000">
                    <a:solidFill>
                      <a:srgbClr val="FFFFFF"/>
                    </a:solidFill>
                  </a:tcPr>
                </a:tc>
              </a:tr>
              <a:tr h="292608">
                <a:tc>
                  <a:txBody>
                    <a:bodyPr/>
                    <a:lstStyle/>
                    <a:p>
                      <a:pPr algn="l"/>
                      <a:r>
                        <a:rPr sz="1150" b="0">
                          <a:solidFill>
                            <a:srgbClr val="0C1116"/>
                          </a:solidFill>
                          <a:latin typeface="Arial"/>
                        </a:rPr>
                        <a:t>TOVA</a:t>
                      </a:r>
                    </a:p>
                  </a:txBody>
                  <a:tcPr marL="45720" marR="45720" marT="18000" marB="18000">
                    <a:solidFill>
                      <a:srgbClr val="FFFFFF"/>
                    </a:solidFill>
                  </a:tcPr>
                </a:tc>
                <a:tc>
                  <a:txBody>
                    <a:bodyPr/>
                    <a:lstStyle/>
                    <a:p>
                      <a:pPr algn="r"/>
                      <a:r>
                        <a:rPr sz="1150" b="0">
                          <a:solidFill>
                            <a:srgbClr val="0C1116"/>
                          </a:solidFill>
                          <a:latin typeface="Consolas"/>
                        </a:rPr>
                        <a:t>per head</a:t>
                      </a:r>
                    </a:p>
                  </a:txBody>
                  <a:tcPr marL="45720" marR="45720" marT="18000" marB="18000">
                    <a:solidFill>
                      <a:srgbClr val="FFFFFF"/>
                    </a:solidFill>
                  </a:tcPr>
                </a:tc>
                <a:tc>
                  <a:txBody>
                    <a:bodyPr/>
                    <a:lstStyle/>
                    <a:p>
                      <a:pPr algn="r"/>
                      <a:r>
                        <a:rPr sz="1150" b="0">
                          <a:solidFill>
                            <a:srgbClr val="0C1116"/>
                          </a:solidFill>
                          <a:latin typeface="Consolas"/>
                        </a:rPr>
                        <a:t>2048</a:t>
                      </a:r>
                    </a:p>
                  </a:txBody>
                  <a:tcPr marL="45720" marR="45720" marT="18000" marB="18000">
                    <a:solidFill>
                      <a:srgbClr val="FFFFFF"/>
                    </a:solidFill>
                  </a:tcPr>
                </a:tc>
                <a:tc>
                  <a:txBody>
                    <a:bodyPr/>
                    <a:lstStyle/>
                    <a:p>
                      <a:pPr algn="r"/>
                      <a:r>
                        <a:rPr sz="1150" b="0">
                          <a:solidFill>
                            <a:srgbClr val="0C1116"/>
                          </a:solidFill>
                          <a:latin typeface="Consolas"/>
                        </a:rPr>
                        <a:t>4093</a:t>
                      </a:r>
                    </a:p>
                  </a:txBody>
                  <a:tcPr marL="45720" marR="45720" marT="18000" marB="18000">
                    <a:solidFill>
                      <a:srgbClr val="FFFFFF"/>
                    </a:solidFill>
                  </a:tcPr>
                </a:tc>
                <a:tc>
                  <a:txBody>
                    <a:bodyPr/>
                    <a:lstStyle/>
                    <a:p>
                      <a:pPr algn="r"/>
                      <a:r>
                        <a:rPr sz="1150" b="0">
                          <a:solidFill>
                            <a:srgbClr val="0C1116"/>
                          </a:solidFill>
                          <a:latin typeface="Consolas"/>
                        </a:rPr>
                        <a:t>42.0%</a:t>
                      </a:r>
                    </a:p>
                  </a:txBody>
                  <a:tcPr marL="45720" marR="45720" marT="18000" marB="18000">
                    <a:solidFill>
                      <a:srgbClr val="FFFFFF"/>
                    </a:solidFill>
                  </a:tcPr>
                </a:tc>
              </a:tr>
              <a:tr h="292608">
                <a:tc>
                  <a:txBody>
                    <a:bodyPr/>
                    <a:lstStyle/>
                    <a:p>
                      <a:pPr algn="l"/>
                      <a:r>
                        <a:rPr sz="1150" b="0">
                          <a:solidFill>
                            <a:srgbClr val="0C1116"/>
                          </a:solidFill>
                          <a:latin typeface="Arial"/>
                        </a:rPr>
                        <a:t>Ada-KV</a:t>
                      </a:r>
                    </a:p>
                  </a:txBody>
                  <a:tcPr marL="45720" marR="45720" marT="18000" marB="18000">
                    <a:solidFill>
                      <a:srgbClr val="FFFFFF"/>
                    </a:solidFill>
                  </a:tcPr>
                </a:tc>
                <a:tc>
                  <a:txBody>
                    <a:bodyPr/>
                    <a:lstStyle/>
                    <a:p>
                      <a:pPr algn="r"/>
                      <a:r>
                        <a:rPr sz="1150" b="0">
                          <a:solidFill>
                            <a:srgbClr val="0C1116"/>
                          </a:solidFill>
                          <a:latin typeface="Consolas"/>
                        </a:rPr>
                        <a:t>per head</a:t>
                      </a:r>
                    </a:p>
                  </a:txBody>
                  <a:tcPr marL="45720" marR="45720" marT="18000" marB="18000">
                    <a:solidFill>
                      <a:srgbClr val="FFFFFF"/>
                    </a:solidFill>
                  </a:tcPr>
                </a:tc>
                <a:tc>
                  <a:txBody>
                    <a:bodyPr/>
                    <a:lstStyle/>
                    <a:p>
                      <a:pPr algn="r"/>
                      <a:r>
                        <a:rPr sz="1150" b="0">
                          <a:solidFill>
                            <a:srgbClr val="0C1116"/>
                          </a:solidFill>
                          <a:latin typeface="Consolas"/>
                        </a:rPr>
                        <a:t>2048</a:t>
                      </a:r>
                    </a:p>
                  </a:txBody>
                  <a:tcPr marL="45720" marR="45720" marT="18000" marB="18000">
                    <a:solidFill>
                      <a:srgbClr val="FFFFFF"/>
                    </a:solidFill>
                  </a:tcPr>
                </a:tc>
                <a:tc>
                  <a:txBody>
                    <a:bodyPr/>
                    <a:lstStyle/>
                    <a:p>
                      <a:pPr algn="r"/>
                      <a:r>
                        <a:rPr sz="1150" b="0">
                          <a:solidFill>
                            <a:srgbClr val="0C1116"/>
                          </a:solidFill>
                          <a:latin typeface="Consolas"/>
                        </a:rPr>
                        <a:t>3489</a:t>
                      </a:r>
                    </a:p>
                  </a:txBody>
                  <a:tcPr marL="45720" marR="45720" marT="18000" marB="18000">
                    <a:solidFill>
                      <a:srgbClr val="FFFFFF"/>
                    </a:solidFill>
                  </a:tcPr>
                </a:tc>
                <a:tc>
                  <a:txBody>
                    <a:bodyPr/>
                    <a:lstStyle/>
                    <a:p>
                      <a:pPr algn="r"/>
                      <a:r>
                        <a:rPr sz="1150" b="0">
                          <a:solidFill>
                            <a:srgbClr val="0C1116"/>
                          </a:solidFill>
                          <a:latin typeface="Consolas"/>
                        </a:rPr>
                        <a:t>35.8%</a:t>
                      </a:r>
                    </a:p>
                  </a:txBody>
                  <a:tcPr marL="45720" marR="45720" marT="18000" marB="18000">
                    <a:solidFill>
                      <a:srgbClr val="FFFFFF"/>
                    </a:solidFill>
                  </a:tcPr>
                </a:tc>
              </a:tr>
              <a:tr h="292608">
                <a:tc>
                  <a:txBody>
                    <a:bodyPr/>
                    <a:lstStyle/>
                    <a:p>
                      <a:pPr algn="l"/>
                      <a:r>
                        <a:rPr sz="1150" b="0">
                          <a:solidFill>
                            <a:srgbClr val="0C1116"/>
                          </a:solidFill>
                          <a:latin typeface="Arial"/>
                        </a:rPr>
                        <a:t>KeyDiff</a:t>
                      </a:r>
                    </a:p>
                  </a:txBody>
                  <a:tcPr marL="45720" marR="45720" marT="18000" marB="18000">
                    <a:solidFill>
                      <a:srgbClr val="FFFFFF"/>
                    </a:solidFill>
                  </a:tcPr>
                </a:tc>
                <a:tc>
                  <a:txBody>
                    <a:bodyPr/>
                    <a:lstStyle/>
                    <a:p>
                      <a:pPr algn="r"/>
                      <a:r>
                        <a:rPr sz="1150" b="0">
                          <a:solidFill>
                            <a:srgbClr val="0C1116"/>
                          </a:solidFill>
                          <a:latin typeface="Consolas"/>
                        </a:rPr>
                        <a:t>sequence</a:t>
                      </a:r>
                    </a:p>
                  </a:txBody>
                  <a:tcPr marL="45720" marR="45720" marT="18000" marB="18000">
                    <a:solidFill>
                      <a:srgbClr val="FFFFFF"/>
                    </a:solidFill>
                  </a:tcPr>
                </a:tc>
                <a:tc>
                  <a:txBody>
                    <a:bodyPr/>
                    <a:lstStyle/>
                    <a:p>
                      <a:pPr algn="r"/>
                      <a:r>
                        <a:rPr sz="1150" b="0">
                          <a:solidFill>
                            <a:srgbClr val="0C1116"/>
                          </a:solidFill>
                          <a:latin typeface="Consolas"/>
                        </a:rPr>
                        <a:t>2048</a:t>
                      </a:r>
                    </a:p>
                  </a:txBody>
                  <a:tcPr marL="45720" marR="45720" marT="18000" marB="18000">
                    <a:solidFill>
                      <a:srgbClr val="FFFFFF"/>
                    </a:solidFill>
                  </a:tcPr>
                </a:tc>
                <a:tc>
                  <a:txBody>
                    <a:bodyPr/>
                    <a:lstStyle/>
                    <a:p>
                      <a:pPr algn="r"/>
                      <a:r>
                        <a:rPr sz="1150" b="0">
                          <a:solidFill>
                            <a:srgbClr val="0C1116"/>
                          </a:solidFill>
                          <a:latin typeface="Consolas"/>
                        </a:rPr>
                        <a:t>2049</a:t>
                      </a:r>
                    </a:p>
                  </a:txBody>
                  <a:tcPr marL="45720" marR="45720" marT="18000" marB="18000">
                    <a:solidFill>
                      <a:srgbClr val="FFFFFF"/>
                    </a:solidFill>
                  </a:tcPr>
                </a:tc>
                <a:tc>
                  <a:txBody>
                    <a:bodyPr/>
                    <a:lstStyle/>
                    <a:p>
                      <a:pPr algn="r"/>
                      <a:r>
                        <a:rPr sz="1150" b="0">
                          <a:solidFill>
                            <a:srgbClr val="0C1116"/>
                          </a:solidFill>
                          <a:latin typeface="Consolas"/>
                        </a:rPr>
                        <a:t>21.0%</a:t>
                      </a:r>
                    </a:p>
                  </a:txBody>
                  <a:tcPr marL="45720" marR="45720" marT="18000" marB="18000">
                    <a:solidFill>
                      <a:srgbClr val="FFFFFF"/>
                    </a:solidFill>
                  </a:tcPr>
                </a:tc>
              </a:tr>
              <a:tr h="292608">
                <a:tc>
                  <a:txBody>
                    <a:bodyPr/>
                    <a:lstStyle/>
                    <a:p>
                      <a:pPr algn="l"/>
                      <a:r>
                        <a:rPr sz="1150" b="1">
                          <a:solidFill>
                            <a:srgbClr val="C4581A"/>
                          </a:solidFill>
                          <a:latin typeface="Arial"/>
                        </a:rPr>
                        <a:t>μKV</a:t>
                      </a:r>
                    </a:p>
                  </a:txBody>
                  <a:tcPr marL="45720" marR="45720" marT="18000" marB="18000">
                    <a:solidFill>
                      <a:srgbClr val="FDF0E6"/>
                    </a:solidFill>
                  </a:tcPr>
                </a:tc>
                <a:tc>
                  <a:txBody>
                    <a:bodyPr/>
                    <a:lstStyle/>
                    <a:p>
                      <a:pPr algn="r"/>
                      <a:r>
                        <a:rPr sz="1150" b="1">
                          <a:solidFill>
                            <a:srgbClr val="C4581A"/>
                          </a:solidFill>
                          <a:latin typeface="Consolas"/>
                        </a:rPr>
                        <a:t>sequence</a:t>
                      </a:r>
                    </a:p>
                  </a:txBody>
                  <a:tcPr marL="45720" marR="45720" marT="18000" marB="18000">
                    <a:solidFill>
                      <a:srgbClr val="FDF0E6"/>
                    </a:solidFill>
                  </a:tcPr>
                </a:tc>
                <a:tc>
                  <a:txBody>
                    <a:bodyPr/>
                    <a:lstStyle/>
                    <a:p>
                      <a:pPr algn="r"/>
                      <a:r>
                        <a:rPr sz="1150" b="1">
                          <a:solidFill>
                            <a:srgbClr val="C4581A"/>
                          </a:solidFill>
                          <a:latin typeface="Consolas"/>
                        </a:rPr>
                        <a:t>1024</a:t>
                      </a:r>
                    </a:p>
                  </a:txBody>
                  <a:tcPr marL="45720" marR="45720" marT="18000" marB="18000">
                    <a:solidFill>
                      <a:srgbClr val="FDF0E6"/>
                    </a:solidFill>
                  </a:tcPr>
                </a:tc>
                <a:tc>
                  <a:txBody>
                    <a:bodyPr/>
                    <a:lstStyle/>
                    <a:p>
                      <a:pPr algn="r"/>
                      <a:r>
                        <a:rPr sz="1150" b="1">
                          <a:solidFill>
                            <a:srgbClr val="C4581A"/>
                          </a:solidFill>
                          <a:latin typeface="Consolas"/>
                        </a:rPr>
                        <a:t>721</a:t>
                      </a:r>
                    </a:p>
                  </a:txBody>
                  <a:tcPr marL="45720" marR="45720" marT="18000" marB="18000">
                    <a:solidFill>
                      <a:srgbClr val="FDF0E6"/>
                    </a:solidFill>
                  </a:tcPr>
                </a:tc>
                <a:tc>
                  <a:txBody>
                    <a:bodyPr/>
                    <a:lstStyle/>
                    <a:p>
                      <a:pPr algn="r"/>
                      <a:r>
                        <a:rPr sz="1150" b="1">
                          <a:solidFill>
                            <a:srgbClr val="C4581A"/>
                          </a:solidFill>
                          <a:latin typeface="Consolas"/>
                        </a:rPr>
                        <a:t>7.4%</a:t>
                      </a:r>
                    </a:p>
                  </a:txBody>
                  <a:tcPr marL="45720" marR="45720" marT="18000" marB="18000">
                    <a:solidFill>
                      <a:srgbClr val="FDF0E6"/>
                    </a:solidFill>
                  </a:tcPr>
                </a:tc>
              </a:tr>
            </a:tbl>
          </a:graphicData>
        </a:graphic>
      </p:graphicFrame>
      <p:sp>
        <p:nvSpPr>
          <p:cNvPr id="9" name="TextBox 8"/>
          <p:cNvSpPr txBox="1"/>
          <p:nvPr/>
        </p:nvSpPr>
        <p:spPr>
          <a:xfrm>
            <a:off x="566928" y="4041648"/>
            <a:ext cx="6949440" cy="914400"/>
          </a:xfrm>
          <a:prstGeom prst="rect">
            <a:avLst/>
          </a:prstGeom>
          <a:noFill/>
        </p:spPr>
        <p:txBody>
          <a:bodyPr wrap="square" lIns="0" rIns="0" tIns="0" bIns="0" anchor="t">
            <a:spAutoFit/>
          </a:bodyPr>
          <a:lstStyle/>
          <a:p>
            <a:pPr algn="l">
              <a:lnSpc>
                <a:spcPct val="135000"/>
              </a:lnSpc>
            </a:pPr>
            <a:r>
              <a:rPr sz="1200" b="0" i="0">
                <a:solidFill>
                  <a:srgbClr val="38424E"/>
                </a:solidFill>
                <a:latin typeface="Arial"/>
              </a:rPr>
              <a:t>Read the two right-hand columns together. The four per-head policies get back far more cache than they asked for. The two sequence-level policies get almost exactly what they asked for.</a:t>
            </a:r>
          </a:p>
        </p:txBody>
      </p:sp>
      <p:sp>
        <p:nvSpPr>
          <p:cNvPr id="10" name="Rounded Rectangle 9"/>
          <p:cNvSpPr/>
          <p:nvPr/>
        </p:nvSpPr>
        <p:spPr>
          <a:xfrm>
            <a:off x="566928" y="5029200"/>
            <a:ext cx="6949440" cy="868680"/>
          </a:xfrm>
          <a:prstGeom prst="roundRect">
            <a:avLst>
              <a:gd name="adj" fmla="val 4000"/>
            </a:avLst>
          </a:prstGeom>
          <a:solidFill>
            <a:srgbClr val="E7F4E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5084064"/>
            <a:ext cx="41148" cy="758952"/>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230368"/>
            <a:ext cx="6400800" cy="457200"/>
          </a:xfrm>
          <a:prstGeom prst="rect">
            <a:avLst/>
          </a:prstGeom>
          <a:noFill/>
        </p:spPr>
        <p:txBody>
          <a:bodyPr wrap="square" lIns="0" rIns="0" tIns="0" bIns="0" anchor="t">
            <a:spAutoFit/>
          </a:bodyPr>
          <a:lstStyle/>
          <a:p>
            <a:pPr algn="l"/>
            <a:r>
              <a:rPr sz="1150" b="0" i="0">
                <a:solidFill>
                  <a:srgbClr val="0C1116"/>
                </a:solidFill>
                <a:latin typeface="Arial"/>
              </a:rPr>
              <a:t>KeyDiff asked for 2048 and kept 2049. Its budget is real, so it is NOT a victim of this problem. That is why it is absent from the failure list.</a:t>
            </a:r>
          </a:p>
        </p:txBody>
      </p:sp>
      <p:sp>
        <p:nvSpPr>
          <p:cNvPr id="13" name="Rounded Rectangle 12"/>
          <p:cNvSpPr/>
          <p:nvPr/>
        </p:nvSpPr>
        <p:spPr>
          <a:xfrm>
            <a:off x="7772400" y="1783080"/>
            <a:ext cx="3858768" cy="411480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0" y="1837943"/>
            <a:ext cx="41148" cy="4005072"/>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965960"/>
            <a:ext cx="3291840" cy="274320"/>
          </a:xfrm>
          <a:prstGeom prst="rect">
            <a:avLst/>
          </a:prstGeom>
          <a:noFill/>
        </p:spPr>
        <p:txBody>
          <a:bodyPr wrap="square" lIns="0" rIns="0" tIns="0" bIns="0" anchor="t">
            <a:spAutoFit/>
          </a:bodyPr>
          <a:lstStyle/>
          <a:p>
            <a:pPr algn="l"/>
            <a:r>
              <a:rPr sz="950" b="1" i="0" spc="120">
                <a:solidFill>
                  <a:srgbClr val="A81F1F"/>
                </a:solidFill>
                <a:latin typeface="Consolas"/>
              </a:rPr>
              <a:t>AND IT GETS WORSE WITH SIZE</a:t>
            </a:r>
          </a:p>
        </p:txBody>
      </p:sp>
      <p:sp>
        <p:nvSpPr>
          <p:cNvPr id="16" name="TextBox 15"/>
          <p:cNvSpPr txBox="1"/>
          <p:nvPr/>
        </p:nvSpPr>
        <p:spPr>
          <a:xfrm>
            <a:off x="8046720" y="2395728"/>
            <a:ext cx="3291840" cy="1463040"/>
          </a:xfrm>
          <a:prstGeom prst="rect">
            <a:avLst/>
          </a:prstGeom>
          <a:noFill/>
        </p:spPr>
        <p:txBody>
          <a:bodyPr wrap="square" lIns="0" rIns="0" tIns="0" bIns="0" anchor="t">
            <a:spAutoFit/>
          </a:bodyPr>
          <a:lstStyle/>
          <a:p>
            <a:pPr algn="l">
              <a:lnSpc>
                <a:spcPct val="135000"/>
              </a:lnSpc>
            </a:pPr>
            <a:r>
              <a:rPr sz="1150" b="0" i="0">
                <a:solidFill>
                  <a:srgbClr val="38424E"/>
                </a:solidFill>
                <a:latin typeface="Arial"/>
              </a:rPr>
              <a:t>Llama-1B has 8 KV heads. Phi-3 has 32. With four times as many heads, unanimity gets rarer, and the whole per-head class collapses into one band:</a:t>
            </a:r>
          </a:p>
        </p:txBody>
      </p:sp>
      <p:sp>
        <p:nvSpPr>
          <p:cNvPr id="17" name="TextBox 16"/>
          <p:cNvSpPr txBox="1"/>
          <p:nvPr/>
        </p:nvSpPr>
        <p:spPr>
          <a:xfrm>
            <a:off x="8046720" y="3931920"/>
            <a:ext cx="3291840" cy="548640"/>
          </a:xfrm>
          <a:prstGeom prst="rect">
            <a:avLst/>
          </a:prstGeom>
          <a:noFill/>
        </p:spPr>
        <p:txBody>
          <a:bodyPr wrap="square" lIns="0" rIns="0" tIns="0" bIns="0" anchor="t">
            <a:spAutoFit/>
          </a:bodyPr>
          <a:lstStyle/>
          <a:p>
            <a:pPr algn="l"/>
            <a:r>
              <a:rPr sz="2600" b="1" i="0">
                <a:solidFill>
                  <a:srgbClr val="A81F1F"/>
                </a:solidFill>
                <a:latin typeface="Consolas"/>
              </a:rPr>
              <a:t>85 to 100%</a:t>
            </a:r>
          </a:p>
        </p:txBody>
      </p:sp>
      <p:sp>
        <p:nvSpPr>
          <p:cNvPr id="18" name="TextBox 17"/>
          <p:cNvSpPr txBox="1"/>
          <p:nvPr/>
        </p:nvSpPr>
        <p:spPr>
          <a:xfrm>
            <a:off x="8046720" y="4526280"/>
            <a:ext cx="3291840" cy="1280160"/>
          </a:xfrm>
          <a:prstGeom prst="rect">
            <a:avLst/>
          </a:prstGeom>
          <a:noFill/>
        </p:spPr>
        <p:txBody>
          <a:bodyPr wrap="square" lIns="0" rIns="0" tIns="0" bIns="0" anchor="t">
            <a:spAutoFit/>
          </a:bodyPr>
          <a:lstStyle/>
          <a:p>
            <a:pPr algn="l">
              <a:lnSpc>
                <a:spcPct val="135000"/>
              </a:lnSpc>
            </a:pPr>
            <a:r>
              <a:rPr sz="1100" b="0" i="0">
                <a:solidFill>
                  <a:srgbClr val="38424E"/>
                </a:solidFill>
                <a:latin typeface="Arial"/>
              </a:rPr>
              <a:t>retained on Phi-3. H2O logs 20.4 million eviction attempts that free zero cells. As models get wider, per-head eviction becomes a no-op that still costs energy.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BREAK 2</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5</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BREAK 2 OF 3 · THE STANDARD ROUTE CORRUPTS</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Reading attention scores breaks the GPU output</a:t>
            </a:r>
          </a:p>
        </p:txBody>
      </p:sp>
      <p:sp>
        <p:nvSpPr>
          <p:cNvPr id="7" name="Rounded Rectangle 6"/>
          <p:cNvSpPr/>
          <p:nvPr/>
        </p:nvSpPr>
        <p:spPr>
          <a:xfrm>
            <a:off x="566928" y="1783080"/>
            <a:ext cx="7223760" cy="1170432"/>
          </a:xfrm>
          <a:prstGeom prst="roundRect">
            <a:avLst>
              <a:gd name="adj" fmla="val 4000"/>
            </a:avLst>
          </a:prstGeom>
          <a:solidFill>
            <a:srgbClr val="FDECEC"/>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37943"/>
            <a:ext cx="41148" cy="1060704"/>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11095"/>
            <a:ext cx="6675120" cy="274320"/>
          </a:xfrm>
          <a:prstGeom prst="rect">
            <a:avLst/>
          </a:prstGeom>
          <a:noFill/>
        </p:spPr>
        <p:txBody>
          <a:bodyPr wrap="square" lIns="0" rIns="0" tIns="0" bIns="0" anchor="t">
            <a:spAutoFit/>
          </a:bodyPr>
          <a:lstStyle/>
          <a:p>
            <a:pPr algn="l"/>
            <a:r>
              <a:rPr sz="950" b="1" i="0" spc="120">
                <a:solidFill>
                  <a:srgbClr val="A81F1F"/>
                </a:solidFill>
                <a:latin typeface="Consolas"/>
              </a:rPr>
              <a:t>THE PROBLEM</a:t>
            </a:r>
          </a:p>
        </p:txBody>
      </p:sp>
      <p:sp>
        <p:nvSpPr>
          <p:cNvPr id="10" name="TextBox 9"/>
          <p:cNvSpPr txBox="1"/>
          <p:nvPr/>
        </p:nvSpPr>
        <p:spPr>
          <a:xfrm>
            <a:off x="868680" y="2203704"/>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To score which cells matter, a policy must read the attention weights. The normal way is an eval-callback on the softmax node. On the Adreno GPU, doing this makes the model emit garbage tokens.</a:t>
            </a:r>
          </a:p>
        </p:txBody>
      </p:sp>
      <p:sp>
        <p:nvSpPr>
          <p:cNvPr id="11" name="Rounded Rectangle 10"/>
          <p:cNvSpPr/>
          <p:nvPr/>
        </p:nvSpPr>
        <p:spPr>
          <a:xfrm>
            <a:off x="566928" y="3081528"/>
            <a:ext cx="7223760" cy="1170432"/>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136392"/>
            <a:ext cx="41148" cy="1060704"/>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09544"/>
            <a:ext cx="6675120" cy="274320"/>
          </a:xfrm>
          <a:prstGeom prst="rect">
            <a:avLst/>
          </a:prstGeom>
          <a:noFill/>
        </p:spPr>
        <p:txBody>
          <a:bodyPr wrap="square" lIns="0" rIns="0" tIns="0" bIns="0" anchor="t">
            <a:spAutoFit/>
          </a:bodyPr>
          <a:lstStyle/>
          <a:p>
            <a:pPr algn="l"/>
            <a:r>
              <a:rPr sz="950" b="1" i="0" spc="120">
                <a:solidFill>
                  <a:srgbClr val="2B6CA3"/>
                </a:solidFill>
                <a:latin typeface="Consolas"/>
              </a:rPr>
              <a:t>WHY IT HAPPENS</a:t>
            </a:r>
          </a:p>
        </p:txBody>
      </p:sp>
      <p:sp>
        <p:nvSpPr>
          <p:cNvPr id="14" name="TextBox 13"/>
          <p:cNvSpPr txBox="1"/>
          <p:nvPr/>
        </p:nvSpPr>
        <p:spPr>
          <a:xfrm>
            <a:off x="868680" y="3502152"/>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A callback changes how the graph is EXECUTED, not how it is split across backends: llama.cpp runs the work as fragments with a sync after each. The CPU backend handles that correctly. On this phone GPU it does not.</a:t>
            </a:r>
          </a:p>
        </p:txBody>
      </p:sp>
      <p:sp>
        <p:nvSpPr>
          <p:cNvPr id="15" name="Rounded Rectangle 14"/>
          <p:cNvSpPr/>
          <p:nvPr/>
        </p:nvSpPr>
        <p:spPr>
          <a:xfrm>
            <a:off x="566928" y="4379976"/>
            <a:ext cx="7223760" cy="1170432"/>
          </a:xfrm>
          <a:prstGeom prst="roundRect">
            <a:avLst>
              <a:gd name="adj" fmla="val 4000"/>
            </a:avLst>
          </a:prstGeom>
          <a:solidFill>
            <a:srgbClr val="E7F4E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434840"/>
            <a:ext cx="41148" cy="1060704"/>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507992"/>
            <a:ext cx="6675120" cy="274320"/>
          </a:xfrm>
          <a:prstGeom prst="rect">
            <a:avLst/>
          </a:prstGeom>
          <a:noFill/>
        </p:spPr>
        <p:txBody>
          <a:bodyPr wrap="square" lIns="0" rIns="0" tIns="0" bIns="0" anchor="t">
            <a:spAutoFit/>
          </a:bodyPr>
          <a:lstStyle/>
          <a:p>
            <a:pPr algn="l"/>
            <a:r>
              <a:rPr sz="950" b="1" i="0" spc="120">
                <a:solidFill>
                  <a:srgbClr val="1A7A58"/>
                </a:solidFill>
                <a:latin typeface="Consolas"/>
              </a:rPr>
              <a:t>OUR SOLUTION</a:t>
            </a:r>
          </a:p>
        </p:txBody>
      </p:sp>
      <p:sp>
        <p:nvSpPr>
          <p:cNvPr id="18" name="TextBox 17"/>
          <p:cNvSpPr txBox="1"/>
          <p:nvPr/>
        </p:nvSpPr>
        <p:spPr>
          <a:xfrm>
            <a:off x="868680" y="4800600"/>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μKV never intercepts. It adds a small extra node (kq_evict) INSIDE the graph, so the scores are something the graph produces on its own. No callback, no corruption, and FlashAttention stays on the whole time.</a:t>
            </a:r>
          </a:p>
        </p:txBody>
      </p:sp>
      <p:sp>
        <p:nvSpPr>
          <p:cNvPr id="19" name="Rounded Rectangle 18"/>
          <p:cNvSpPr/>
          <p:nvPr/>
        </p:nvSpPr>
        <p:spPr>
          <a:xfrm>
            <a:off x="8065008" y="1783080"/>
            <a:ext cx="3566160" cy="388620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1837943"/>
            <a:ext cx="41148" cy="377647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965960"/>
            <a:ext cx="3017520" cy="274320"/>
          </a:xfrm>
          <a:prstGeom prst="rect">
            <a:avLst/>
          </a:prstGeom>
          <a:noFill/>
        </p:spPr>
        <p:txBody>
          <a:bodyPr wrap="square" lIns="0" rIns="0" tIns="0" bIns="0" anchor="t">
            <a:spAutoFit/>
          </a:bodyPr>
          <a:lstStyle/>
          <a:p>
            <a:pPr algn="l"/>
            <a:r>
              <a:rPr sz="950" b="1" i="0" spc="120">
                <a:solidFill>
                  <a:srgbClr val="C4581A"/>
                </a:solidFill>
                <a:latin typeface="Consolas"/>
              </a:rPr>
              <a:t>THE EVIDENCE</a:t>
            </a:r>
          </a:p>
        </p:txBody>
      </p:sp>
      <p:sp>
        <p:nvSpPr>
          <p:cNvPr id="22" name="TextBox 21"/>
          <p:cNvSpPr txBox="1"/>
          <p:nvPr/>
        </p:nvSpPr>
        <p:spPr>
          <a:xfrm>
            <a:off x="8339327" y="2377440"/>
            <a:ext cx="3017520" cy="822960"/>
          </a:xfrm>
          <a:prstGeom prst="rect">
            <a:avLst/>
          </a:prstGeom>
          <a:noFill/>
        </p:spPr>
        <p:txBody>
          <a:bodyPr wrap="square" lIns="0" rIns="0" tIns="0" bIns="0" anchor="t">
            <a:spAutoFit/>
          </a:bodyPr>
          <a:lstStyle/>
          <a:p>
            <a:pPr algn="l">
              <a:lnSpc>
                <a:spcPct val="105000"/>
              </a:lnSpc>
            </a:pPr>
            <a:r>
              <a:rPr sz="3000" b="1" i="0">
                <a:solidFill>
                  <a:srgbClr val="C4581A"/>
                </a:solidFill>
                <a:latin typeface="Consolas"/>
              </a:rPr>
              <a:t>76 / 609</a:t>
            </a:r>
          </a:p>
        </p:txBody>
      </p:sp>
      <p:sp>
        <p:nvSpPr>
          <p:cNvPr id="23" name="TextBox 22"/>
          <p:cNvSpPr txBox="1"/>
          <p:nvPr/>
        </p:nvSpPr>
        <p:spPr>
          <a:xfrm>
            <a:off x="8339327" y="3657600"/>
            <a:ext cx="3017520" cy="1828800"/>
          </a:xfrm>
          <a:prstGeom prst="rect">
            <a:avLst/>
          </a:prstGeom>
          <a:noFill/>
        </p:spPr>
        <p:txBody>
          <a:bodyPr wrap="square" lIns="0" rIns="0" tIns="0" bIns="0" anchor="t">
            <a:spAutoFit/>
          </a:bodyPr>
          <a:lstStyle/>
          <a:p>
            <a:pPr algn="l">
              <a:lnSpc>
                <a:spcPct val="135000"/>
              </a:lnSpc>
            </a:pPr>
            <a:r>
              <a:rPr sz="1100" b="0" i="0">
                <a:solidFill>
                  <a:srgbClr val="38424E"/>
                </a:solidFill>
                <a:latin typeface="Arial"/>
              </a:rPr>
              <a:t>degenerate tokens once a callback reads the tensor. With no callback the same run gives 0 of 978.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BREAK 2 · PROOF</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6</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HOW WE KNOW IT IS THE CALLBACK, NOT SOMETHING ELSE</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Two controls, each removing one suspect</a:t>
            </a:r>
          </a:p>
        </p:txBody>
      </p:sp>
      <p:sp>
        <p:nvSpPr>
          <p:cNvPr id="7" name="Rounded Rectangle 6"/>
          <p:cNvSpPr/>
          <p:nvPr/>
        </p:nvSpPr>
        <p:spPr>
          <a:xfrm>
            <a:off x="566928" y="1783080"/>
            <a:ext cx="5394960" cy="233172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37943"/>
            <a:ext cx="41148" cy="2221991"/>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65960"/>
            <a:ext cx="4846320" cy="320040"/>
          </a:xfrm>
          <a:prstGeom prst="rect">
            <a:avLst/>
          </a:prstGeom>
          <a:noFill/>
        </p:spPr>
        <p:txBody>
          <a:bodyPr wrap="square" lIns="0" rIns="0" tIns="0" bIns="0" anchor="t">
            <a:spAutoFit/>
          </a:bodyPr>
          <a:lstStyle/>
          <a:p>
            <a:pPr algn="l"/>
            <a:r>
              <a:rPr sz="1300" b="1" i="0">
                <a:solidFill>
                  <a:srgbClr val="0C1116"/>
                </a:solidFill>
                <a:latin typeface="Arial"/>
              </a:rPr>
              <a:t>Control 1: is turning FlashAttention off the cause?</a:t>
            </a:r>
          </a:p>
        </p:txBody>
      </p:sp>
      <p:graphicFrame>
        <p:nvGraphicFramePr>
          <p:cNvPr id="10" name="Table 9"/>
          <p:cNvGraphicFramePr>
            <a:graphicFrameLocks noGrp="1"/>
          </p:cNvGraphicFramePr>
          <p:nvPr/>
        </p:nvGraphicFramePr>
        <p:xfrm>
          <a:off x="868680" y="2395728"/>
          <a:ext cx="4800599" cy="1170432"/>
        </p:xfrm>
        <a:graphic>
          <a:graphicData uri="http://schemas.openxmlformats.org/drawingml/2006/table">
            <a:tbl>
              <a:tblPr firstRow="1" bandRow="1">
                <a:tableStyleId>{5C22544A-7EE6-4342-B048-85BDC9FD1C3A}</a:tableStyleId>
              </a:tblPr>
              <a:tblGrid>
                <a:gridCol w="3331028"/>
                <a:gridCol w="1469571"/>
              </a:tblGrid>
              <a:tr h="292608">
                <a:tc>
                  <a:txBody>
                    <a:bodyPr/>
                    <a:lstStyle/>
                    <a:p>
                      <a:pPr algn="l"/>
                      <a:r>
                        <a:rPr sz="950" b="1">
                          <a:solidFill>
                            <a:srgbClr val="6B7785"/>
                          </a:solidFill>
                          <a:latin typeface="Consolas"/>
                        </a:rPr>
                        <a:t>Same run, FA off</a:t>
                      </a:r>
                    </a:p>
                  </a:txBody>
                  <a:tcPr marL="45720" marR="45720" marT="0" marB="0">
                    <a:solidFill>
                      <a:srgbClr val="FFFFFF"/>
                    </a:solidFill>
                  </a:tcPr>
                </a:tc>
                <a:tc>
                  <a:txBody>
                    <a:bodyPr/>
                    <a:lstStyle/>
                    <a:p>
                      <a:pPr algn="r"/>
                      <a:r>
                        <a:rPr sz="950" b="1">
                          <a:solidFill>
                            <a:srgbClr val="6B7785"/>
                          </a:solidFill>
                          <a:latin typeface="Consolas"/>
                        </a:rPr>
                        <a:t>degenerate</a:t>
                      </a:r>
                    </a:p>
                  </a:txBody>
                  <a:tcPr marL="45720" marR="45720" marT="0" marB="0">
                    <a:solidFill>
                      <a:srgbClr val="FFFFFF"/>
                    </a:solidFill>
                  </a:tcPr>
                </a:tc>
              </a:tr>
              <a:tr h="292608">
                <a:tc>
                  <a:txBody>
                    <a:bodyPr/>
                    <a:lstStyle/>
                    <a:p>
                      <a:pPr algn="l"/>
                      <a:r>
                        <a:rPr sz="1100" b="0">
                          <a:solidFill>
                            <a:srgbClr val="0C1116"/>
                          </a:solidFill>
                          <a:latin typeface="Arial"/>
                        </a:rPr>
                        <a:t>vanilla, no callback</a:t>
                      </a:r>
                    </a:p>
                  </a:txBody>
                  <a:tcPr marL="45720" marR="45720" marT="18000" marB="18000">
                    <a:solidFill>
                      <a:srgbClr val="FFFFFF"/>
                    </a:solidFill>
                  </a:tcPr>
                </a:tc>
                <a:tc>
                  <a:txBody>
                    <a:bodyPr/>
                    <a:lstStyle/>
                    <a:p>
                      <a:pPr algn="r"/>
                      <a:r>
                        <a:rPr sz="1100" b="0">
                          <a:solidFill>
                            <a:srgbClr val="0C1116"/>
                          </a:solidFill>
                          <a:latin typeface="Consolas"/>
                        </a:rPr>
                        <a:t>0 / 978</a:t>
                      </a:r>
                    </a:p>
                  </a:txBody>
                  <a:tcPr marL="45720" marR="45720" marT="18000" marB="18000">
                    <a:solidFill>
                      <a:srgbClr val="FFFFFF"/>
                    </a:solidFill>
                  </a:tcPr>
                </a:tc>
              </a:tr>
              <a:tr h="292608">
                <a:tc>
                  <a:txBody>
                    <a:bodyPr/>
                    <a:lstStyle/>
                    <a:p>
                      <a:pPr algn="l"/>
                      <a:r>
                        <a:rPr sz="1100" b="0">
                          <a:solidFill>
                            <a:srgbClr val="0C1116"/>
                          </a:solidFill>
                          <a:latin typeface="Arial"/>
                        </a:rPr>
                        <a:t>policy, callback reads tensor</a:t>
                      </a:r>
                    </a:p>
                  </a:txBody>
                  <a:tcPr marL="45720" marR="45720" marT="18000" marB="18000">
                    <a:solidFill>
                      <a:srgbClr val="FFFFFF"/>
                    </a:solidFill>
                  </a:tcPr>
                </a:tc>
                <a:tc>
                  <a:txBody>
                    <a:bodyPr/>
                    <a:lstStyle/>
                    <a:p>
                      <a:pPr algn="r"/>
                      <a:r>
                        <a:rPr sz="1100" b="0">
                          <a:solidFill>
                            <a:srgbClr val="0C1116"/>
                          </a:solidFill>
                          <a:latin typeface="Consolas"/>
                        </a:rPr>
                        <a:t>76 / 609</a:t>
                      </a:r>
                    </a:p>
                  </a:txBody>
                  <a:tcPr marL="45720" marR="45720" marT="18000" marB="18000">
                    <a:solidFill>
                      <a:srgbClr val="FFFFFF"/>
                    </a:solidFill>
                  </a:tcPr>
                </a:tc>
              </a:tr>
              <a:tr h="292608">
                <a:tc>
                  <a:txBody>
                    <a:bodyPr/>
                    <a:lstStyle/>
                    <a:p>
                      <a:pPr algn="l"/>
                      <a:r>
                        <a:rPr sz="1100" b="0">
                          <a:solidFill>
                            <a:srgbClr val="0C1116"/>
                          </a:solidFill>
                          <a:latin typeface="Arial"/>
                        </a:rPr>
                        <a:t>policy, callback never reads</a:t>
                      </a:r>
                    </a:p>
                  </a:txBody>
                  <a:tcPr marL="45720" marR="45720" marT="18000" marB="18000">
                    <a:solidFill>
                      <a:srgbClr val="FFFFFF"/>
                    </a:solidFill>
                  </a:tcPr>
                </a:tc>
                <a:tc>
                  <a:txBody>
                    <a:bodyPr/>
                    <a:lstStyle/>
                    <a:p>
                      <a:pPr algn="r"/>
                      <a:r>
                        <a:rPr sz="1100" b="0">
                          <a:solidFill>
                            <a:srgbClr val="0C1116"/>
                          </a:solidFill>
                          <a:latin typeface="Consolas"/>
                        </a:rPr>
                        <a:t>68 / 679</a:t>
                      </a:r>
                    </a:p>
                  </a:txBody>
                  <a:tcPr marL="45720" marR="45720" marT="18000" marB="18000">
                    <a:solidFill>
                      <a:srgbClr val="FFFFFF"/>
                    </a:solidFill>
                  </a:tcPr>
                </a:tc>
              </a:tr>
            </a:tbl>
          </a:graphicData>
        </a:graphic>
      </p:graphicFrame>
      <p:sp>
        <p:nvSpPr>
          <p:cNvPr id="11" name="TextBox 10"/>
          <p:cNvSpPr txBox="1"/>
          <p:nvPr/>
        </p:nvSpPr>
        <p:spPr>
          <a:xfrm>
            <a:off x="868680" y="3675887"/>
            <a:ext cx="4800600" cy="457200"/>
          </a:xfrm>
          <a:prstGeom prst="rect">
            <a:avLst/>
          </a:prstGeom>
          <a:noFill/>
        </p:spPr>
        <p:txBody>
          <a:bodyPr wrap="square" lIns="0" rIns="0" tIns="0" bIns="0" anchor="t">
            <a:spAutoFit/>
          </a:bodyPr>
          <a:lstStyle/>
          <a:p>
            <a:pPr algn="l">
              <a:lnSpc>
                <a:spcPct val="125000"/>
              </a:lnSpc>
            </a:pPr>
            <a:r>
              <a:rPr sz="1150" b="1" i="0">
                <a:solidFill>
                  <a:srgbClr val="1A7A58"/>
                </a:solidFill>
                <a:latin typeface="Arial"/>
              </a:rPr>
              <a:t>No. All three runs are vanilla llama.cpp with FA off. Only the ones with a callback corrupt.</a:t>
            </a:r>
          </a:p>
        </p:txBody>
      </p:sp>
      <p:sp>
        <p:nvSpPr>
          <p:cNvPr id="12" name="Rounded Rectangle 11"/>
          <p:cNvSpPr/>
          <p:nvPr/>
        </p:nvSpPr>
        <p:spPr>
          <a:xfrm>
            <a:off x="6236208" y="1783080"/>
            <a:ext cx="5394960" cy="233172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837943"/>
            <a:ext cx="41148" cy="2221991"/>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965960"/>
            <a:ext cx="4846320" cy="320040"/>
          </a:xfrm>
          <a:prstGeom prst="rect">
            <a:avLst/>
          </a:prstGeom>
          <a:noFill/>
        </p:spPr>
        <p:txBody>
          <a:bodyPr wrap="square" lIns="0" rIns="0" tIns="0" bIns="0" anchor="t">
            <a:spAutoFit/>
          </a:bodyPr>
          <a:lstStyle/>
          <a:p>
            <a:pPr algn="l"/>
            <a:r>
              <a:rPr sz="1300" b="1" i="0">
                <a:solidFill>
                  <a:srgbClr val="0C1116"/>
                </a:solidFill>
                <a:latin typeface="Arial"/>
              </a:rPr>
              <a:t>Control 2: is it the phone, or the GPU specifically?</a:t>
            </a:r>
          </a:p>
        </p:txBody>
      </p:sp>
      <p:graphicFrame>
        <p:nvGraphicFramePr>
          <p:cNvPr id="15" name="Table 14"/>
          <p:cNvGraphicFramePr>
            <a:graphicFrameLocks noGrp="1"/>
          </p:cNvGraphicFramePr>
          <p:nvPr/>
        </p:nvGraphicFramePr>
        <p:xfrm>
          <a:off x="6537960" y="2395728"/>
          <a:ext cx="4800599" cy="1170432"/>
        </p:xfrm>
        <a:graphic>
          <a:graphicData uri="http://schemas.openxmlformats.org/drawingml/2006/table">
            <a:tbl>
              <a:tblPr firstRow="1" bandRow="1">
                <a:tableStyleId>{5C22544A-7EE6-4342-B048-85BDC9FD1C3A}</a:tableStyleId>
              </a:tblPr>
              <a:tblGrid>
                <a:gridCol w="2618509"/>
                <a:gridCol w="1091045"/>
                <a:gridCol w="1091045"/>
              </a:tblGrid>
              <a:tr h="292608">
                <a:tc>
                  <a:txBody>
                    <a:bodyPr/>
                    <a:lstStyle/>
                    <a:p>
                      <a:pPr algn="l"/>
                      <a:r>
                        <a:rPr sz="950" b="1">
                          <a:solidFill>
                            <a:srgbClr val="6B7785"/>
                          </a:solidFill>
                          <a:latin typeface="Consolas"/>
                        </a:rPr>
                        <a:t>Needle retrieval</a:t>
                      </a:r>
                    </a:p>
                  </a:txBody>
                  <a:tcPr marL="45720" marR="45720" marT="0" marB="0">
                    <a:solidFill>
                      <a:srgbClr val="FFFFFF"/>
                    </a:solidFill>
                  </a:tcPr>
                </a:tc>
                <a:tc>
                  <a:txBody>
                    <a:bodyPr/>
                    <a:lstStyle/>
                    <a:p>
                      <a:pPr algn="r"/>
                      <a:r>
                        <a:rPr sz="950" b="1">
                          <a:solidFill>
                            <a:srgbClr val="6B7785"/>
                          </a:solidFill>
                          <a:latin typeface="Consolas"/>
                        </a:rPr>
                        <a:t>CPU</a:t>
                      </a:r>
                    </a:p>
                  </a:txBody>
                  <a:tcPr marL="45720" marR="45720" marT="0" marB="0">
                    <a:solidFill>
                      <a:srgbClr val="FFFFFF"/>
                    </a:solidFill>
                  </a:tcPr>
                </a:tc>
                <a:tc>
                  <a:txBody>
                    <a:bodyPr/>
                    <a:lstStyle/>
                    <a:p>
                      <a:pPr algn="r"/>
                      <a:r>
                        <a:rPr sz="950" b="1">
                          <a:solidFill>
                            <a:srgbClr val="6B7785"/>
                          </a:solidFill>
                          <a:latin typeface="Consolas"/>
                        </a:rPr>
                        <a:t>Adreno</a:t>
                      </a:r>
                    </a:p>
                  </a:txBody>
                  <a:tcPr marL="45720" marR="45720" marT="0" marB="0">
                    <a:solidFill>
                      <a:srgbClr val="FFFFFF"/>
                    </a:solidFill>
                  </a:tcPr>
                </a:tc>
              </a:tr>
              <a:tr h="292608">
                <a:tc>
                  <a:txBody>
                    <a:bodyPr/>
                    <a:lstStyle/>
                    <a:p>
                      <a:pPr algn="l"/>
                      <a:r>
                        <a:rPr sz="1100" b="0">
                          <a:solidFill>
                            <a:srgbClr val="0C1116"/>
                          </a:solidFill>
                          <a:latin typeface="Arial"/>
                        </a:rPr>
                        <a:t>H2O (uses callback)</a:t>
                      </a:r>
                    </a:p>
                  </a:txBody>
                  <a:tcPr marL="45720" marR="45720" marT="18000" marB="18000">
                    <a:solidFill>
                      <a:srgbClr val="FFFFFF"/>
                    </a:solidFill>
                  </a:tcPr>
                </a:tc>
                <a:tc>
                  <a:txBody>
                    <a:bodyPr/>
                    <a:lstStyle/>
                    <a:p>
                      <a:pPr algn="r"/>
                      <a:r>
                        <a:rPr sz="1100" b="0">
                          <a:solidFill>
                            <a:srgbClr val="0C1116"/>
                          </a:solidFill>
                          <a:latin typeface="Consolas"/>
                        </a:rPr>
                        <a:t>8/14</a:t>
                      </a:r>
                    </a:p>
                  </a:txBody>
                  <a:tcPr marL="45720" marR="45720" marT="18000" marB="18000">
                    <a:solidFill>
                      <a:srgbClr val="FFFFFF"/>
                    </a:solidFill>
                  </a:tcPr>
                </a:tc>
                <a:tc>
                  <a:txBody>
                    <a:bodyPr/>
                    <a:lstStyle/>
                    <a:p>
                      <a:pPr algn="r"/>
                      <a:r>
                        <a:rPr sz="1100" b="0">
                          <a:solidFill>
                            <a:srgbClr val="0C1116"/>
                          </a:solidFill>
                          <a:latin typeface="Consolas"/>
                        </a:rPr>
                        <a:t>3/14</a:t>
                      </a:r>
                    </a:p>
                  </a:txBody>
                  <a:tcPr marL="45720" marR="45720" marT="18000" marB="18000">
                    <a:solidFill>
                      <a:srgbClr val="FFFFFF"/>
                    </a:solidFill>
                  </a:tcPr>
                </a:tc>
              </a:tr>
              <a:tr h="292608">
                <a:tc>
                  <a:txBody>
                    <a:bodyPr/>
                    <a:lstStyle/>
                    <a:p>
                      <a:pPr algn="l"/>
                      <a:r>
                        <a:rPr sz="1100" b="0">
                          <a:solidFill>
                            <a:srgbClr val="0C1116"/>
                          </a:solidFill>
                          <a:latin typeface="Arial"/>
                        </a:rPr>
                        <a:t>TOVA (uses callback)</a:t>
                      </a:r>
                    </a:p>
                  </a:txBody>
                  <a:tcPr marL="45720" marR="45720" marT="18000" marB="18000">
                    <a:solidFill>
                      <a:srgbClr val="FFFFFF"/>
                    </a:solidFill>
                  </a:tcPr>
                </a:tc>
                <a:tc>
                  <a:txBody>
                    <a:bodyPr/>
                    <a:lstStyle/>
                    <a:p>
                      <a:pPr algn="r"/>
                      <a:r>
                        <a:rPr sz="1100" b="0">
                          <a:solidFill>
                            <a:srgbClr val="0C1116"/>
                          </a:solidFill>
                          <a:latin typeface="Consolas"/>
                        </a:rPr>
                        <a:t>12/14</a:t>
                      </a:r>
                    </a:p>
                  </a:txBody>
                  <a:tcPr marL="45720" marR="45720" marT="18000" marB="18000">
                    <a:solidFill>
                      <a:srgbClr val="FFFFFF"/>
                    </a:solidFill>
                  </a:tcPr>
                </a:tc>
                <a:tc>
                  <a:txBody>
                    <a:bodyPr/>
                    <a:lstStyle/>
                    <a:p>
                      <a:pPr algn="r"/>
                      <a:r>
                        <a:rPr sz="1100" b="0">
                          <a:solidFill>
                            <a:srgbClr val="0C1116"/>
                          </a:solidFill>
                          <a:latin typeface="Consolas"/>
                        </a:rPr>
                        <a:t>2/14</a:t>
                      </a:r>
                    </a:p>
                  </a:txBody>
                  <a:tcPr marL="45720" marR="45720" marT="18000" marB="18000">
                    <a:solidFill>
                      <a:srgbClr val="FFFFFF"/>
                    </a:solidFill>
                  </a:tcPr>
                </a:tc>
              </a:tr>
              <a:tr h="292608">
                <a:tc>
                  <a:txBody>
                    <a:bodyPr/>
                    <a:lstStyle/>
                    <a:p>
                      <a:pPr algn="l"/>
                      <a:r>
                        <a:rPr sz="1100" b="1">
                          <a:solidFill>
                            <a:srgbClr val="C4581A"/>
                          </a:solidFill>
                          <a:latin typeface="Arial"/>
                        </a:rPr>
                        <a:t>μKV (no callback)</a:t>
                      </a:r>
                    </a:p>
                  </a:txBody>
                  <a:tcPr marL="45720" marR="45720" marT="18000" marB="18000">
                    <a:solidFill>
                      <a:srgbClr val="FDF0E6"/>
                    </a:solidFill>
                  </a:tcPr>
                </a:tc>
                <a:tc>
                  <a:txBody>
                    <a:bodyPr/>
                    <a:lstStyle/>
                    <a:p>
                      <a:pPr algn="r"/>
                      <a:r>
                        <a:rPr sz="1100" b="1">
                          <a:solidFill>
                            <a:srgbClr val="C4581A"/>
                          </a:solidFill>
                          <a:latin typeface="Consolas"/>
                        </a:rPr>
                        <a:t>13/14</a:t>
                      </a:r>
                    </a:p>
                  </a:txBody>
                  <a:tcPr marL="45720" marR="45720" marT="18000" marB="18000">
                    <a:solidFill>
                      <a:srgbClr val="FDF0E6"/>
                    </a:solidFill>
                  </a:tcPr>
                </a:tc>
                <a:tc>
                  <a:txBody>
                    <a:bodyPr/>
                    <a:lstStyle/>
                    <a:p>
                      <a:pPr algn="r"/>
                      <a:r>
                        <a:rPr sz="1100" b="1">
                          <a:solidFill>
                            <a:srgbClr val="C4581A"/>
                          </a:solidFill>
                          <a:latin typeface="Consolas"/>
                        </a:rPr>
                        <a:t>14/14</a:t>
                      </a:r>
                    </a:p>
                  </a:txBody>
                  <a:tcPr marL="45720" marR="45720" marT="18000" marB="18000">
                    <a:solidFill>
                      <a:srgbClr val="FDF0E6"/>
                    </a:solidFill>
                  </a:tcPr>
                </a:tc>
              </a:tr>
            </a:tbl>
          </a:graphicData>
        </a:graphic>
      </p:graphicFrame>
      <p:sp>
        <p:nvSpPr>
          <p:cNvPr id="16" name="TextBox 15"/>
          <p:cNvSpPr txBox="1"/>
          <p:nvPr/>
        </p:nvSpPr>
        <p:spPr>
          <a:xfrm>
            <a:off x="6537960" y="3657600"/>
            <a:ext cx="4800600" cy="457200"/>
          </a:xfrm>
          <a:prstGeom prst="rect">
            <a:avLst/>
          </a:prstGeom>
          <a:noFill/>
        </p:spPr>
        <p:txBody>
          <a:bodyPr wrap="square" lIns="0" rIns="0" tIns="0" bIns="0" anchor="t">
            <a:spAutoFit/>
          </a:bodyPr>
          <a:lstStyle/>
          <a:p>
            <a:pPr algn="l">
              <a:lnSpc>
                <a:spcPct val="125000"/>
              </a:lnSpc>
            </a:pPr>
            <a:r>
              <a:rPr sz="1150" b="1" i="0">
                <a:solidFill>
                  <a:srgbClr val="1A7A58"/>
                </a:solidFill>
                <a:latin typeface="Arial"/>
              </a:rPr>
              <a:t>The GPU. Across all callback cells: 0.3% corrupt tokens on CPU, 13.9% on Adreno.</a:t>
            </a:r>
          </a:p>
        </p:txBody>
      </p:sp>
      <p:sp>
        <p:nvSpPr>
          <p:cNvPr id="17" name="Rounded Rectangle 16"/>
          <p:cNvSpPr/>
          <p:nvPr/>
        </p:nvSpPr>
        <p:spPr>
          <a:xfrm>
            <a:off x="566928" y="4343400"/>
            <a:ext cx="11064240" cy="1463040"/>
          </a:xfrm>
          <a:prstGeom prst="roundRect">
            <a:avLst>
              <a:gd name="adj" fmla="val 4000"/>
            </a:avLst>
          </a:prstGeom>
          <a:solidFill>
            <a:srgbClr val="FDF0E6"/>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398264"/>
            <a:ext cx="41148" cy="135331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526280"/>
            <a:ext cx="10515600" cy="320040"/>
          </a:xfrm>
          <a:prstGeom prst="rect">
            <a:avLst/>
          </a:prstGeom>
          <a:noFill/>
        </p:spPr>
        <p:txBody>
          <a:bodyPr wrap="square" lIns="0" rIns="0" tIns="0" bIns="0" anchor="t">
            <a:spAutoFit/>
          </a:bodyPr>
          <a:lstStyle/>
          <a:p>
            <a:pPr algn="l"/>
            <a:r>
              <a:rPr sz="1250" b="1" i="0">
                <a:solidFill>
                  <a:srgbClr val="0C1116"/>
                </a:solidFill>
                <a:latin typeface="Arial"/>
              </a:rPr>
              <a:t>The mechanism, from the llama.cpp scheduler source</a:t>
            </a:r>
          </a:p>
        </p:txBody>
      </p:sp>
      <p:sp>
        <p:nvSpPr>
          <p:cNvPr id="20" name="TextBox 19"/>
          <p:cNvSpPr txBox="1"/>
          <p:nvPr/>
        </p:nvSpPr>
        <p:spPr>
          <a:xfrm>
            <a:off x="868680" y="4846320"/>
            <a:ext cx="10515600" cy="868680"/>
          </a:xfrm>
          <a:prstGeom prst="rect">
            <a:avLst/>
          </a:prstGeom>
          <a:noFill/>
        </p:spPr>
        <p:txBody>
          <a:bodyPr wrap="square" lIns="0" rIns="0" tIns="0" bIns="0" anchor="t">
            <a:spAutoFit/>
          </a:bodyPr>
          <a:lstStyle/>
          <a:p>
            <a:pPr algn="l">
              <a:lnSpc>
                <a:spcPct val="132000"/>
              </a:lnSpc>
            </a:pPr>
            <a:r>
              <a:rPr sz="1150" b="0" i="0">
                <a:solidFill>
                  <a:srgbClr val="38424E"/>
                </a:solidFill>
                <a:latin typeface="Arial"/>
              </a:rPr>
              <a:t>In ggml_backend_sched_compute_splits the no-callback path computes the whole split in one call; the callback path builds ggml_graph_view fragments and synchronizes after each. The chunking is decided when the callback is ASKED for a node, before any read, which is why requesting without reading corrupts the same. The same path is correct on the CPU backend. We did not test desktop Vulkan, so we do not separate llama.cpp's Vulkan code from the Adreno driver; we report only that this route is unsafe on this device.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BREAK 3</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7</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BREAK 3 OF 3 · THE CEILING IS SET BY HARDWARE</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The same policy is 4.80× on one processor and 1.20× on the other</a:t>
            </a:r>
          </a:p>
        </p:txBody>
      </p:sp>
      <p:sp>
        <p:nvSpPr>
          <p:cNvPr id="7" name="Rounded Rectangle 6"/>
          <p:cNvSpPr/>
          <p:nvPr/>
        </p:nvSpPr>
        <p:spPr>
          <a:xfrm>
            <a:off x="566928" y="1783080"/>
            <a:ext cx="7223760" cy="1170432"/>
          </a:xfrm>
          <a:prstGeom prst="roundRect">
            <a:avLst>
              <a:gd name="adj" fmla="val 4000"/>
            </a:avLst>
          </a:prstGeom>
          <a:solidFill>
            <a:srgbClr val="FDECEC"/>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37943"/>
            <a:ext cx="41148" cy="1060704"/>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11095"/>
            <a:ext cx="6675120" cy="274320"/>
          </a:xfrm>
          <a:prstGeom prst="rect">
            <a:avLst/>
          </a:prstGeom>
          <a:noFill/>
        </p:spPr>
        <p:txBody>
          <a:bodyPr wrap="square" lIns="0" rIns="0" tIns="0" bIns="0" anchor="t">
            <a:spAutoFit/>
          </a:bodyPr>
          <a:lstStyle/>
          <a:p>
            <a:pPr algn="l"/>
            <a:r>
              <a:rPr sz="950" b="1" i="0" spc="120">
                <a:solidFill>
                  <a:srgbClr val="A81F1F"/>
                </a:solidFill>
                <a:latin typeface="Consolas"/>
              </a:rPr>
              <a:t>THE PROBLEM</a:t>
            </a:r>
          </a:p>
        </p:txBody>
      </p:sp>
      <p:sp>
        <p:nvSpPr>
          <p:cNvPr id="10" name="TextBox 9"/>
          <p:cNvSpPr txBox="1"/>
          <p:nvPr/>
        </p:nvSpPr>
        <p:spPr>
          <a:xfrm>
            <a:off x="868680" y="2203704"/>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Papers report one speedup number per policy. On a phone that number is not a property of the policy at all. It changes by a factor of four depending on which processor runs it.</a:t>
            </a:r>
          </a:p>
        </p:txBody>
      </p:sp>
      <p:sp>
        <p:nvSpPr>
          <p:cNvPr id="11" name="Rounded Rectangle 10"/>
          <p:cNvSpPr/>
          <p:nvPr/>
        </p:nvSpPr>
        <p:spPr>
          <a:xfrm>
            <a:off x="566928" y="3081528"/>
            <a:ext cx="7223760" cy="1170432"/>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136392"/>
            <a:ext cx="41148" cy="1060704"/>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09544"/>
            <a:ext cx="6675120" cy="274320"/>
          </a:xfrm>
          <a:prstGeom prst="rect">
            <a:avLst/>
          </a:prstGeom>
          <a:noFill/>
        </p:spPr>
        <p:txBody>
          <a:bodyPr wrap="square" lIns="0" rIns="0" tIns="0" bIns="0" anchor="t">
            <a:spAutoFit/>
          </a:bodyPr>
          <a:lstStyle/>
          <a:p>
            <a:pPr algn="l"/>
            <a:r>
              <a:rPr sz="950" b="1" i="0" spc="120">
                <a:solidFill>
                  <a:srgbClr val="2B6CA3"/>
                </a:solidFill>
                <a:latin typeface="Consolas"/>
              </a:rPr>
              <a:t>WHY IT HAPPENS</a:t>
            </a:r>
          </a:p>
        </p:txBody>
      </p:sp>
      <p:sp>
        <p:nvSpPr>
          <p:cNvPr id="14" name="TextBox 13"/>
          <p:cNvSpPr txBox="1"/>
          <p:nvPr/>
        </p:nvSpPr>
        <p:spPr>
          <a:xfrm>
            <a:off x="868680" y="3502152"/>
            <a:ext cx="6675120" cy="685800"/>
          </a:xfrm>
          <a:prstGeom prst="rect">
            <a:avLst/>
          </a:prstGeom>
          <a:noFill/>
        </p:spPr>
        <p:txBody>
          <a:bodyPr wrap="square" lIns="0" rIns="0" tIns="0" bIns="0" anchor="t">
            <a:spAutoFit/>
          </a:bodyPr>
          <a:lstStyle/>
          <a:p>
            <a:pPr algn="l">
              <a:lnSpc>
                <a:spcPct val="132000"/>
              </a:lnSpc>
            </a:pPr>
            <a:r>
              <a:rPr sz="1150" b="0" i="0">
                <a:solidFill>
                  <a:srgbClr val="38424E"/>
                </a:solidFill>
                <a:latin typeface="Arial"/>
              </a:rPr>
              <a:t>Every decoded token reads the weights W plus the live cache KV, and eviction only shrinks KV. So even a zero-size cache cannot beat (W+KV)/W. On the phone GPU that ceiling is 1.40×: Llama-1B has 800 MB of weights against a 319 MB cache.</a:t>
            </a:r>
          </a:p>
        </p:txBody>
      </p:sp>
      <p:sp>
        <p:nvSpPr>
          <p:cNvPr id="15" name="Rounded Rectangle 14"/>
          <p:cNvSpPr/>
          <p:nvPr/>
        </p:nvSpPr>
        <p:spPr>
          <a:xfrm>
            <a:off x="566928" y="4379976"/>
            <a:ext cx="7223760" cy="1170432"/>
          </a:xfrm>
          <a:prstGeom prst="roundRect">
            <a:avLst>
              <a:gd name="adj" fmla="val 4000"/>
            </a:avLst>
          </a:prstGeom>
          <a:solidFill>
            <a:srgbClr val="E7F4E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434840"/>
            <a:ext cx="41148" cy="1060704"/>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507992"/>
            <a:ext cx="6675120" cy="274320"/>
          </a:xfrm>
          <a:prstGeom prst="rect">
            <a:avLst/>
          </a:prstGeom>
          <a:noFill/>
        </p:spPr>
        <p:txBody>
          <a:bodyPr wrap="square" lIns="0" rIns="0" tIns="0" bIns="0" anchor="t">
            <a:spAutoFit/>
          </a:bodyPr>
          <a:lstStyle/>
          <a:p>
            <a:pPr algn="l"/>
            <a:r>
              <a:rPr sz="950" b="1" i="0" spc="120">
                <a:solidFill>
                  <a:srgbClr val="1A7A58"/>
                </a:solidFill>
                <a:latin typeface="Consolas"/>
              </a:rPr>
              <a:t>OUR SOLUTION</a:t>
            </a:r>
          </a:p>
        </p:txBody>
      </p:sp>
      <p:sp>
        <p:nvSpPr>
          <p:cNvPr id="18" name="TextBox 17"/>
          <p:cNvSpPr txBox="1"/>
          <p:nvPr/>
        </p:nvSpPr>
        <p:spPr>
          <a:xfrm>
            <a:off x="868680" y="4800600"/>
            <a:ext cx="6675120" cy="685800"/>
          </a:xfrm>
          <a:prstGeom prst="rect">
            <a:avLst/>
          </a:prstGeom>
          <a:noFill/>
        </p:spPr>
        <p:txBody>
          <a:bodyPr wrap="square" lIns="0" rIns="0" tIns="0" bIns="0" anchor="t">
            <a:spAutoFit/>
          </a:bodyPr>
          <a:lstStyle/>
          <a:p>
            <a:pPr algn="l">
              <a:lnSpc>
                <a:spcPct val="132000"/>
              </a:lnSpc>
            </a:pPr>
            <a:r>
              <a:rPr sz="1250" b="0" i="0">
                <a:solidFill>
                  <a:srgbClr val="38424E"/>
                </a:solidFill>
                <a:latin typeface="Arial"/>
              </a:rPr>
              <a:t>We report the bound next to every speedup, on both processors, and we check whether it actually binds. On the CPU the bottleneck is attention compute over live cells, not weight bytes, so the roofline does not apply at all and the same μKV runs 4.80x.</a:t>
            </a:r>
          </a:p>
        </p:txBody>
      </p:sp>
      <p:sp>
        <p:nvSpPr>
          <p:cNvPr id="19" name="Rounded Rectangle 18"/>
          <p:cNvSpPr/>
          <p:nvPr/>
        </p:nvSpPr>
        <p:spPr>
          <a:xfrm>
            <a:off x="8065008" y="1783080"/>
            <a:ext cx="3566160" cy="388620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1837943"/>
            <a:ext cx="41148" cy="377647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965960"/>
            <a:ext cx="3017520" cy="274320"/>
          </a:xfrm>
          <a:prstGeom prst="rect">
            <a:avLst/>
          </a:prstGeom>
          <a:noFill/>
        </p:spPr>
        <p:txBody>
          <a:bodyPr wrap="square" lIns="0" rIns="0" tIns="0" bIns="0" anchor="t">
            <a:spAutoFit/>
          </a:bodyPr>
          <a:lstStyle/>
          <a:p>
            <a:pPr algn="l"/>
            <a:r>
              <a:rPr sz="950" b="1" i="0" spc="120">
                <a:solidFill>
                  <a:srgbClr val="C4581A"/>
                </a:solidFill>
                <a:latin typeface="Consolas"/>
              </a:rPr>
              <a:t>THE EVIDENCE</a:t>
            </a:r>
          </a:p>
        </p:txBody>
      </p:sp>
      <p:sp>
        <p:nvSpPr>
          <p:cNvPr id="22" name="TextBox 21"/>
          <p:cNvSpPr txBox="1"/>
          <p:nvPr/>
        </p:nvSpPr>
        <p:spPr>
          <a:xfrm>
            <a:off x="8339327" y="2377440"/>
            <a:ext cx="3017520" cy="822960"/>
          </a:xfrm>
          <a:prstGeom prst="rect">
            <a:avLst/>
          </a:prstGeom>
          <a:noFill/>
        </p:spPr>
        <p:txBody>
          <a:bodyPr wrap="square" lIns="0" rIns="0" tIns="0" bIns="0" anchor="t">
            <a:spAutoFit/>
          </a:bodyPr>
          <a:lstStyle/>
          <a:p>
            <a:pPr algn="l">
              <a:lnSpc>
                <a:spcPct val="105000"/>
              </a:lnSpc>
            </a:pPr>
            <a:r>
              <a:rPr sz="3000" b="1" i="0">
                <a:solidFill>
                  <a:srgbClr val="C4581A"/>
                </a:solidFill>
                <a:latin typeface="Consolas"/>
              </a:rPr>
              <a:t>1.40×</a:t>
            </a:r>
          </a:p>
        </p:txBody>
      </p:sp>
      <p:sp>
        <p:nvSpPr>
          <p:cNvPr id="23" name="TextBox 22"/>
          <p:cNvSpPr txBox="1"/>
          <p:nvPr/>
        </p:nvSpPr>
        <p:spPr>
          <a:xfrm>
            <a:off x="8339327" y="3657600"/>
            <a:ext cx="3017520" cy="1828800"/>
          </a:xfrm>
          <a:prstGeom prst="rect">
            <a:avLst/>
          </a:prstGeom>
          <a:noFill/>
        </p:spPr>
        <p:txBody>
          <a:bodyPr wrap="square" lIns="0" rIns="0" tIns="0" bIns="0" anchor="t">
            <a:spAutoFit/>
          </a:bodyPr>
          <a:lstStyle/>
          <a:p>
            <a:pPr algn="l">
              <a:lnSpc>
                <a:spcPct val="135000"/>
              </a:lnSpc>
            </a:pPr>
            <a:r>
              <a:rPr sz="1100" b="0" i="0">
                <a:solidFill>
                  <a:srgbClr val="38424E"/>
                </a:solidFill>
                <a:latin typeface="Arial"/>
              </a:rPr>
              <a:t>is the analytical upper bound for ANY evictor on Llama-1B / phone GPU, and none exceeded it. But μKV at 7.4% retention and StreamingLLM at 20.6% both land at 1.20x, so on this backend something saturates before the cache term does.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BREAK 3 · PROOF</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8</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THE SAME POLICY, TWO PROCESSORS</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Why we report the model and the processor, never a bare speedup</a:t>
            </a:r>
          </a:p>
        </p:txBody>
      </p:sp>
      <p:graphicFrame>
        <p:nvGraphicFramePr>
          <p:cNvPr id="7" name="Table 6"/>
          <p:cNvGraphicFramePr>
            <a:graphicFrameLocks noGrp="1"/>
          </p:cNvGraphicFramePr>
          <p:nvPr/>
        </p:nvGraphicFramePr>
        <p:xfrm>
          <a:off x="566928" y="1783080"/>
          <a:ext cx="6949440" cy="1170432"/>
        </p:xfrm>
        <a:graphic>
          <a:graphicData uri="http://schemas.openxmlformats.org/drawingml/2006/table">
            <a:tbl>
              <a:tblPr firstRow="1" bandRow="1">
                <a:tableStyleId>{5C22544A-7EE6-4342-B048-85BDC9FD1C3A}</a:tableStyleId>
              </a:tblPr>
              <a:tblGrid>
                <a:gridCol w="2194560"/>
                <a:gridCol w="1371600"/>
                <a:gridCol w="1097280"/>
                <a:gridCol w="1188720"/>
                <a:gridCol w="1097280"/>
              </a:tblGrid>
              <a:tr h="292608">
                <a:tc>
                  <a:txBody>
                    <a:bodyPr/>
                    <a:lstStyle/>
                    <a:p>
                      <a:pPr algn="l"/>
                      <a:r>
                        <a:rPr sz="950" b="1">
                          <a:solidFill>
                            <a:srgbClr val="6B7785"/>
                          </a:solidFill>
                          <a:latin typeface="Consolas"/>
                        </a:rPr>
                        <a:t>Model and processor</a:t>
                      </a:r>
                    </a:p>
                  </a:txBody>
                  <a:tcPr marL="45720" marR="45720" marT="0" marB="0">
                    <a:solidFill>
                      <a:srgbClr val="FFFFFF"/>
                    </a:solidFill>
                  </a:tcPr>
                </a:tc>
                <a:tc>
                  <a:txBody>
                    <a:bodyPr/>
                    <a:lstStyle/>
                    <a:p>
                      <a:pPr algn="r"/>
                      <a:r>
                        <a:rPr sz="950" b="1">
                          <a:solidFill>
                            <a:srgbClr val="6B7785"/>
                          </a:solidFill>
                          <a:latin typeface="Consolas"/>
                        </a:rPr>
                        <a:t>weights W</a:t>
                      </a:r>
                    </a:p>
                  </a:txBody>
                  <a:tcPr marL="45720" marR="45720" marT="0" marB="0">
                    <a:solidFill>
                      <a:srgbClr val="FFFFFF"/>
                    </a:solidFill>
                  </a:tcPr>
                </a:tc>
                <a:tc>
                  <a:txBody>
                    <a:bodyPr/>
                    <a:lstStyle/>
                    <a:p>
                      <a:pPr algn="r"/>
                      <a:r>
                        <a:rPr sz="950" b="1">
                          <a:solidFill>
                            <a:srgbClr val="6B7785"/>
                          </a:solidFill>
                          <a:latin typeface="Consolas"/>
                        </a:rPr>
                        <a:t>cache KV</a:t>
                      </a:r>
                    </a:p>
                  </a:txBody>
                  <a:tcPr marL="45720" marR="45720" marT="0" marB="0">
                    <a:solidFill>
                      <a:srgbClr val="FFFFFF"/>
                    </a:solidFill>
                  </a:tcPr>
                </a:tc>
                <a:tc>
                  <a:txBody>
                    <a:bodyPr/>
                    <a:lstStyle/>
                    <a:p>
                      <a:pPr algn="r"/>
                      <a:r>
                        <a:rPr sz="950" b="1">
                          <a:solidFill>
                            <a:srgbClr val="6B7785"/>
                          </a:solidFill>
                          <a:latin typeface="Consolas"/>
                        </a:rPr>
                        <a:t>ceiling</a:t>
                      </a:r>
                    </a:p>
                  </a:txBody>
                  <a:tcPr marL="45720" marR="45720" marT="0" marB="0">
                    <a:solidFill>
                      <a:srgbClr val="FFFFFF"/>
                    </a:solidFill>
                  </a:tcPr>
                </a:tc>
                <a:tc>
                  <a:txBody>
                    <a:bodyPr/>
                    <a:lstStyle/>
                    <a:p>
                      <a:pPr algn="r"/>
                      <a:r>
                        <a:rPr sz="950" b="1">
                          <a:solidFill>
                            <a:srgbClr val="6B7785"/>
                          </a:solidFill>
                          <a:latin typeface="Consolas"/>
                        </a:rPr>
                        <a:t>μKV got</a:t>
                      </a:r>
                    </a:p>
                  </a:txBody>
                  <a:tcPr marL="45720" marR="45720" marT="0" marB="0">
                    <a:solidFill>
                      <a:srgbClr val="FFFFFF"/>
                    </a:solidFill>
                  </a:tcPr>
                </a:tc>
              </a:tr>
              <a:tr h="292608">
                <a:tc>
                  <a:txBody>
                    <a:bodyPr/>
                    <a:lstStyle/>
                    <a:p>
                      <a:pPr algn="l"/>
                      <a:r>
                        <a:rPr sz="1150" b="0">
                          <a:solidFill>
                            <a:srgbClr val="0C1116"/>
                          </a:solidFill>
                          <a:latin typeface="Arial"/>
                        </a:rPr>
                        <a:t>Llama-1B · phone GPU</a:t>
                      </a:r>
                    </a:p>
                  </a:txBody>
                  <a:tcPr marL="45720" marR="45720" marT="18000" marB="18000">
                    <a:solidFill>
                      <a:srgbClr val="FFFFFF"/>
                    </a:solidFill>
                  </a:tcPr>
                </a:tc>
                <a:tc>
                  <a:txBody>
                    <a:bodyPr/>
                    <a:lstStyle/>
                    <a:p>
                      <a:pPr algn="r"/>
                      <a:r>
                        <a:rPr sz="1150" b="0">
                          <a:solidFill>
                            <a:srgbClr val="0C1116"/>
                          </a:solidFill>
                          <a:latin typeface="Consolas"/>
                        </a:rPr>
                        <a:t>800 MB</a:t>
                      </a:r>
                    </a:p>
                  </a:txBody>
                  <a:tcPr marL="45720" marR="45720" marT="18000" marB="18000">
                    <a:solidFill>
                      <a:srgbClr val="FFFFFF"/>
                    </a:solidFill>
                  </a:tcPr>
                </a:tc>
                <a:tc>
                  <a:txBody>
                    <a:bodyPr/>
                    <a:lstStyle/>
                    <a:p>
                      <a:pPr algn="r"/>
                      <a:r>
                        <a:rPr sz="1150" b="0">
                          <a:solidFill>
                            <a:srgbClr val="0C1116"/>
                          </a:solidFill>
                          <a:latin typeface="Consolas"/>
                        </a:rPr>
                        <a:t>319 MB</a:t>
                      </a:r>
                    </a:p>
                  </a:txBody>
                  <a:tcPr marL="45720" marR="45720" marT="18000" marB="18000">
                    <a:solidFill>
                      <a:srgbClr val="FFFFFF"/>
                    </a:solidFill>
                  </a:tcPr>
                </a:tc>
                <a:tc>
                  <a:txBody>
                    <a:bodyPr/>
                    <a:lstStyle/>
                    <a:p>
                      <a:pPr algn="r"/>
                      <a:r>
                        <a:rPr sz="1150" b="0">
                          <a:solidFill>
                            <a:srgbClr val="0C1116"/>
                          </a:solidFill>
                          <a:latin typeface="Consolas"/>
                        </a:rPr>
                        <a:t>1.40×</a:t>
                      </a:r>
                    </a:p>
                  </a:txBody>
                  <a:tcPr marL="45720" marR="45720" marT="18000" marB="18000">
                    <a:solidFill>
                      <a:srgbClr val="FFFFFF"/>
                    </a:solidFill>
                  </a:tcPr>
                </a:tc>
                <a:tc>
                  <a:txBody>
                    <a:bodyPr/>
                    <a:lstStyle/>
                    <a:p>
                      <a:pPr algn="r"/>
                      <a:r>
                        <a:rPr sz="1150" b="0">
                          <a:solidFill>
                            <a:srgbClr val="0C1116"/>
                          </a:solidFill>
                          <a:latin typeface="Consolas"/>
                        </a:rPr>
                        <a:t>1.20×</a:t>
                      </a:r>
                    </a:p>
                  </a:txBody>
                  <a:tcPr marL="45720" marR="45720" marT="18000" marB="18000">
                    <a:solidFill>
                      <a:srgbClr val="FFFFFF"/>
                    </a:solidFill>
                  </a:tcPr>
                </a:tc>
              </a:tr>
              <a:tr h="292608">
                <a:tc>
                  <a:txBody>
                    <a:bodyPr/>
                    <a:lstStyle/>
                    <a:p>
                      <a:pPr algn="l"/>
                      <a:r>
                        <a:rPr sz="1150" b="0">
                          <a:solidFill>
                            <a:srgbClr val="0C1116"/>
                          </a:solidFill>
                          <a:latin typeface="Arial"/>
                        </a:rPr>
                        <a:t>Phi-3 · phone GPU</a:t>
                      </a:r>
                    </a:p>
                  </a:txBody>
                  <a:tcPr marL="45720" marR="45720" marT="18000" marB="18000">
                    <a:solidFill>
                      <a:srgbClr val="FFFFFF"/>
                    </a:solidFill>
                  </a:tcPr>
                </a:tc>
                <a:tc>
                  <a:txBody>
                    <a:bodyPr/>
                    <a:lstStyle/>
                    <a:p>
                      <a:pPr algn="r"/>
                      <a:r>
                        <a:rPr sz="1150" b="0">
                          <a:solidFill>
                            <a:srgbClr val="0C1116"/>
                          </a:solidFill>
                          <a:latin typeface="Consolas"/>
                        </a:rPr>
                        <a:t>smaller</a:t>
                      </a:r>
                    </a:p>
                  </a:txBody>
                  <a:tcPr marL="45720" marR="45720" marT="18000" marB="18000">
                    <a:solidFill>
                      <a:srgbClr val="FFFFFF"/>
                    </a:solidFill>
                  </a:tcPr>
                </a:tc>
                <a:tc>
                  <a:txBody>
                    <a:bodyPr/>
                    <a:lstStyle/>
                    <a:p>
                      <a:pPr algn="r"/>
                      <a:r>
                        <a:rPr sz="1150" b="0">
                          <a:solidFill>
                            <a:srgbClr val="0C1116"/>
                          </a:solidFill>
                          <a:latin typeface="Consolas"/>
                        </a:rPr>
                        <a:t>bigger</a:t>
                      </a:r>
                    </a:p>
                  </a:txBody>
                  <a:tcPr marL="45720" marR="45720" marT="18000" marB="18000">
                    <a:solidFill>
                      <a:srgbClr val="FFFFFF"/>
                    </a:solidFill>
                  </a:tcPr>
                </a:tc>
                <a:tc>
                  <a:txBody>
                    <a:bodyPr/>
                    <a:lstStyle/>
                    <a:p>
                      <a:pPr algn="r"/>
                      <a:r>
                        <a:rPr sz="1150" b="0">
                          <a:solidFill>
                            <a:srgbClr val="0C1116"/>
                          </a:solidFill>
                          <a:latin typeface="Consolas"/>
                        </a:rPr>
                        <a:t>2.83×</a:t>
                      </a:r>
                    </a:p>
                  </a:txBody>
                  <a:tcPr marL="45720" marR="45720" marT="18000" marB="18000">
                    <a:solidFill>
                      <a:srgbClr val="FFFFFF"/>
                    </a:solidFill>
                  </a:tcPr>
                </a:tc>
                <a:tc>
                  <a:txBody>
                    <a:bodyPr/>
                    <a:lstStyle/>
                    <a:p>
                      <a:pPr algn="r"/>
                      <a:r>
                        <a:rPr sz="1150" b="0">
                          <a:solidFill>
                            <a:srgbClr val="0C1116"/>
                          </a:solidFill>
                          <a:latin typeface="Consolas"/>
                        </a:rPr>
                        <a:t>2.64×</a:t>
                      </a:r>
                    </a:p>
                  </a:txBody>
                  <a:tcPr marL="45720" marR="45720" marT="18000" marB="18000">
                    <a:solidFill>
                      <a:srgbClr val="FFFFFF"/>
                    </a:solidFill>
                  </a:tcPr>
                </a:tc>
              </a:tr>
              <a:tr h="292608">
                <a:tc>
                  <a:txBody>
                    <a:bodyPr/>
                    <a:lstStyle/>
                    <a:p>
                      <a:pPr algn="l"/>
                      <a:r>
                        <a:rPr sz="1150" b="1">
                          <a:solidFill>
                            <a:srgbClr val="C4581A"/>
                          </a:solidFill>
                          <a:latin typeface="Arial"/>
                        </a:rPr>
                        <a:t>Llama-1B · phone CPU</a:t>
                      </a:r>
                    </a:p>
                  </a:txBody>
                  <a:tcPr marL="45720" marR="45720" marT="18000" marB="18000">
                    <a:solidFill>
                      <a:srgbClr val="FDF0E6"/>
                    </a:solidFill>
                  </a:tcPr>
                </a:tc>
                <a:tc>
                  <a:txBody>
                    <a:bodyPr/>
                    <a:lstStyle/>
                    <a:p>
                      <a:pPr algn="r"/>
                      <a:r>
                        <a:rPr sz="1150" b="1">
                          <a:solidFill>
                            <a:srgbClr val="C4581A"/>
                          </a:solidFill>
                          <a:latin typeface="Consolas"/>
                        </a:rPr>
                        <a:t>not the limit</a:t>
                      </a:r>
                    </a:p>
                  </a:txBody>
                  <a:tcPr marL="45720" marR="45720" marT="18000" marB="18000">
                    <a:solidFill>
                      <a:srgbClr val="FDF0E6"/>
                    </a:solidFill>
                  </a:tcPr>
                </a:tc>
                <a:tc>
                  <a:txBody>
                    <a:bodyPr/>
                    <a:lstStyle/>
                    <a:p>
                      <a:pPr algn="r"/>
                      <a:r>
                        <a:rPr sz="1150" b="1">
                          <a:solidFill>
                            <a:srgbClr val="C4581A"/>
                          </a:solidFill>
                          <a:latin typeface="Consolas"/>
                        </a:rPr>
                        <a:t>not the limit</a:t>
                      </a:r>
                    </a:p>
                  </a:txBody>
                  <a:tcPr marL="45720" marR="45720" marT="18000" marB="18000">
                    <a:solidFill>
                      <a:srgbClr val="FDF0E6"/>
                    </a:solidFill>
                  </a:tcPr>
                </a:tc>
                <a:tc>
                  <a:txBody>
                    <a:bodyPr/>
                    <a:lstStyle/>
                    <a:p>
                      <a:pPr algn="r"/>
                      <a:r>
                        <a:rPr sz="1150" b="1">
                          <a:solidFill>
                            <a:srgbClr val="C4581A"/>
                          </a:solidFill>
                          <a:latin typeface="Consolas"/>
                        </a:rPr>
                        <a:t>no ceiling</a:t>
                      </a:r>
                    </a:p>
                  </a:txBody>
                  <a:tcPr marL="45720" marR="45720" marT="18000" marB="18000">
                    <a:solidFill>
                      <a:srgbClr val="FDF0E6"/>
                    </a:solidFill>
                  </a:tcPr>
                </a:tc>
                <a:tc>
                  <a:txBody>
                    <a:bodyPr/>
                    <a:lstStyle/>
                    <a:p>
                      <a:pPr algn="r"/>
                      <a:r>
                        <a:rPr sz="1150" b="1">
                          <a:solidFill>
                            <a:srgbClr val="C4581A"/>
                          </a:solidFill>
                          <a:latin typeface="Consolas"/>
                        </a:rPr>
                        <a:t>4.80×</a:t>
                      </a:r>
                    </a:p>
                  </a:txBody>
                  <a:tcPr marL="45720" marR="45720" marT="18000" marB="18000">
                    <a:solidFill>
                      <a:srgbClr val="FDF0E6"/>
                    </a:solidFill>
                  </a:tcPr>
                </a:tc>
              </a:tr>
            </a:tbl>
          </a:graphicData>
        </a:graphic>
      </p:graphicFrame>
      <p:sp>
        <p:nvSpPr>
          <p:cNvPr id="8" name="TextBox 7"/>
          <p:cNvSpPr txBox="1"/>
          <p:nvPr/>
        </p:nvSpPr>
        <p:spPr>
          <a:xfrm>
            <a:off x="566928" y="3108960"/>
            <a:ext cx="6949440" cy="1234440"/>
          </a:xfrm>
          <a:prstGeom prst="rect">
            <a:avLst/>
          </a:prstGeom>
          <a:noFill/>
        </p:spPr>
        <p:txBody>
          <a:bodyPr wrap="square" lIns="0" rIns="0" tIns="0" bIns="0" anchor="t">
            <a:spAutoFit/>
          </a:bodyPr>
          <a:lstStyle/>
          <a:p>
            <a:pPr algn="l">
              <a:lnSpc>
                <a:spcPct val="135000"/>
              </a:lnSpc>
            </a:pPr>
            <a:r>
              <a:rPr sz="1200" b="0" i="0">
                <a:solidFill>
                  <a:srgbClr val="38424E"/>
                </a:solidFill>
                <a:latin typeface="Arial"/>
              </a:rPr>
              <a:t>The third row is the one that answers 'why no number for Llama on CPU'. The ceiling formula assumes the device is waiting on weight bytes. On the CPU it is not: it is waiting on attention arithmetic over the cells that are still live. Shrink the cells and you shrink the work directly, so there is no roofline to hit and the same policy reaches 4.80×.</a:t>
            </a:r>
          </a:p>
        </p:txBody>
      </p:sp>
      <p:sp>
        <p:nvSpPr>
          <p:cNvPr id="9" name="Rounded Rectangle 8"/>
          <p:cNvSpPr/>
          <p:nvPr/>
        </p:nvSpPr>
        <p:spPr>
          <a:xfrm>
            <a:off x="7772400" y="1783080"/>
            <a:ext cx="3858768" cy="411480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0" y="1837943"/>
            <a:ext cx="41148" cy="4005072"/>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965960"/>
            <a:ext cx="3291840" cy="320040"/>
          </a:xfrm>
          <a:prstGeom prst="rect">
            <a:avLst/>
          </a:prstGeom>
          <a:noFill/>
        </p:spPr>
        <p:txBody>
          <a:bodyPr wrap="square" lIns="0" rIns="0" tIns="0" bIns="0" anchor="t">
            <a:spAutoFit/>
          </a:bodyPr>
          <a:lstStyle/>
          <a:p>
            <a:pPr algn="l"/>
            <a:r>
              <a:rPr sz="1250" b="1" i="0">
                <a:solidFill>
                  <a:srgbClr val="0C1116"/>
                </a:solidFill>
                <a:latin typeface="Arial"/>
              </a:rPr>
              <a:t>Best proof is a rival, not us</a:t>
            </a:r>
          </a:p>
        </p:txBody>
      </p:sp>
      <p:sp>
        <p:nvSpPr>
          <p:cNvPr id="12" name="TextBox 11"/>
          <p:cNvSpPr txBox="1"/>
          <p:nvPr/>
        </p:nvSpPr>
        <p:spPr>
          <a:xfrm>
            <a:off x="8046720" y="2395728"/>
            <a:ext cx="3291840" cy="731520"/>
          </a:xfrm>
          <a:prstGeom prst="rect">
            <a:avLst/>
          </a:prstGeom>
          <a:noFill/>
        </p:spPr>
        <p:txBody>
          <a:bodyPr wrap="square" lIns="0" rIns="0" tIns="0" bIns="0" anchor="t">
            <a:spAutoFit/>
          </a:bodyPr>
          <a:lstStyle/>
          <a:p>
            <a:pPr algn="l">
              <a:lnSpc>
                <a:spcPct val="130000"/>
              </a:lnSpc>
            </a:pPr>
            <a:r>
              <a:rPr sz="1150" b="0" i="0">
                <a:solidFill>
                  <a:srgbClr val="38424E"/>
                </a:solidFill>
                <a:latin typeface="Arial"/>
              </a:rPr>
              <a:t>KeyDiff, same model (Llama-3.2-1B), same budget, same prompt:</a:t>
            </a:r>
          </a:p>
        </p:txBody>
      </p:sp>
      <p:sp>
        <p:nvSpPr>
          <p:cNvPr id="13" name="TextBox 12"/>
          <p:cNvSpPr txBox="1"/>
          <p:nvPr/>
        </p:nvSpPr>
        <p:spPr>
          <a:xfrm>
            <a:off x="8092440" y="3154680"/>
            <a:ext cx="1645920" cy="457200"/>
          </a:xfrm>
          <a:prstGeom prst="rect">
            <a:avLst/>
          </a:prstGeom>
          <a:noFill/>
        </p:spPr>
        <p:txBody>
          <a:bodyPr wrap="square" lIns="0" rIns="0" tIns="0" bIns="0" anchor="t">
            <a:spAutoFit/>
          </a:bodyPr>
          <a:lstStyle/>
          <a:p>
            <a:pPr algn="l"/>
            <a:r>
              <a:rPr sz="2500" b="1" i="0">
                <a:solidFill>
                  <a:srgbClr val="1A7A58"/>
                </a:solidFill>
                <a:latin typeface="Consolas"/>
              </a:rPr>
              <a:t>3.29×</a:t>
            </a:r>
          </a:p>
        </p:txBody>
      </p:sp>
      <p:sp>
        <p:nvSpPr>
          <p:cNvPr id="14" name="TextBox 13"/>
          <p:cNvSpPr txBox="1"/>
          <p:nvPr/>
        </p:nvSpPr>
        <p:spPr>
          <a:xfrm>
            <a:off x="8092440" y="3639312"/>
            <a:ext cx="1645920" cy="274320"/>
          </a:xfrm>
          <a:prstGeom prst="rect">
            <a:avLst/>
          </a:prstGeom>
          <a:noFill/>
        </p:spPr>
        <p:txBody>
          <a:bodyPr wrap="square" lIns="0" rIns="0" tIns="0" bIns="0" anchor="t">
            <a:spAutoFit/>
          </a:bodyPr>
          <a:lstStyle/>
          <a:p>
            <a:pPr algn="l"/>
            <a:r>
              <a:rPr sz="1050" b="0" i="0">
                <a:solidFill>
                  <a:srgbClr val="6B7785"/>
                </a:solidFill>
                <a:latin typeface="Arial"/>
              </a:rPr>
              <a:t>phone CPU</a:t>
            </a:r>
          </a:p>
        </p:txBody>
      </p:sp>
      <p:sp>
        <p:nvSpPr>
          <p:cNvPr id="15" name="TextBox 14"/>
          <p:cNvSpPr txBox="1"/>
          <p:nvPr/>
        </p:nvSpPr>
        <p:spPr>
          <a:xfrm>
            <a:off x="9966960" y="3154680"/>
            <a:ext cx="1645920" cy="457200"/>
          </a:xfrm>
          <a:prstGeom prst="rect">
            <a:avLst/>
          </a:prstGeom>
          <a:noFill/>
        </p:spPr>
        <p:txBody>
          <a:bodyPr wrap="square" lIns="0" rIns="0" tIns="0" bIns="0" anchor="t">
            <a:spAutoFit/>
          </a:bodyPr>
          <a:lstStyle/>
          <a:p>
            <a:pPr algn="l"/>
            <a:r>
              <a:rPr sz="2500" b="1" i="0">
                <a:solidFill>
                  <a:srgbClr val="A81F1F"/>
                </a:solidFill>
                <a:latin typeface="Consolas"/>
              </a:rPr>
              <a:t>~0.06×</a:t>
            </a:r>
          </a:p>
        </p:txBody>
      </p:sp>
      <p:sp>
        <p:nvSpPr>
          <p:cNvPr id="16" name="TextBox 15"/>
          <p:cNvSpPr txBox="1"/>
          <p:nvPr/>
        </p:nvSpPr>
        <p:spPr>
          <a:xfrm>
            <a:off x="9966960" y="3639312"/>
            <a:ext cx="1645920" cy="274320"/>
          </a:xfrm>
          <a:prstGeom prst="rect">
            <a:avLst/>
          </a:prstGeom>
          <a:noFill/>
        </p:spPr>
        <p:txBody>
          <a:bodyPr wrap="square" lIns="0" rIns="0" tIns="0" bIns="0" anchor="t">
            <a:spAutoFit/>
          </a:bodyPr>
          <a:lstStyle/>
          <a:p>
            <a:pPr algn="l"/>
            <a:r>
              <a:rPr sz="1050" b="0" i="0">
                <a:solidFill>
                  <a:srgbClr val="6B7785"/>
                </a:solidFill>
                <a:latin typeface="Arial"/>
              </a:rPr>
              <a:t>phone GPU</a:t>
            </a:r>
          </a:p>
        </p:txBody>
      </p:sp>
      <p:sp>
        <p:nvSpPr>
          <p:cNvPr id="17" name="TextBox 16"/>
          <p:cNvSpPr txBox="1"/>
          <p:nvPr/>
        </p:nvSpPr>
        <p:spPr>
          <a:xfrm>
            <a:off x="8046720" y="4114800"/>
            <a:ext cx="3291840" cy="1645920"/>
          </a:xfrm>
          <a:prstGeom prst="rect">
            <a:avLst/>
          </a:prstGeom>
          <a:noFill/>
        </p:spPr>
        <p:txBody>
          <a:bodyPr wrap="square" lIns="0" rIns="0" tIns="0" bIns="0" anchor="t">
            <a:spAutoFit/>
          </a:bodyPr>
          <a:lstStyle/>
          <a:p>
            <a:pPr algn="l">
              <a:lnSpc>
                <a:spcPct val="135000"/>
              </a:lnSpc>
            </a:pPr>
            <a:r>
              <a:rPr sz="1100" b="0" i="0">
                <a:solidFill>
                  <a:srgbClr val="38424E"/>
                </a:solidFill>
                <a:latin typeface="Arial"/>
              </a:rPr>
              <a:t>On the GPU it is about sixteen times SLOWER than keeping the whole cache. Nothing about the policy changed. Only the processor. The GPU point is a single run; vanilla at that prompt spans 24.1-28.6 tok/s, so the ratio is 0.056 to 0.067.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ARCHITECTURE</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9</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THE DESIGN</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Each of the four decisions answers one of the three breaks</a:t>
            </a:r>
          </a:p>
        </p:txBody>
      </p:sp>
      <p:sp>
        <p:nvSpPr>
          <p:cNvPr id="7" name="Rounded Rectangle 6"/>
          <p:cNvSpPr/>
          <p:nvPr/>
        </p:nvSpPr>
        <p:spPr>
          <a:xfrm>
            <a:off x="566928" y="1737360"/>
            <a:ext cx="11064240" cy="1965960"/>
          </a:xfrm>
          <a:prstGeom prst="roundRect">
            <a:avLst/>
          </a:prstGeom>
          <a:no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486400" cy="274320"/>
          </a:xfrm>
          <a:prstGeom prst="rect">
            <a:avLst/>
          </a:prstGeom>
          <a:noFill/>
        </p:spPr>
        <p:txBody>
          <a:bodyPr wrap="square" lIns="0" rIns="0" tIns="0" bIns="0" anchor="t">
            <a:spAutoFit/>
          </a:bodyPr>
          <a:lstStyle/>
          <a:p>
            <a:pPr algn="l"/>
            <a:r>
              <a:rPr sz="1000" b="0" i="0">
                <a:solidFill>
                  <a:srgbClr val="6B7785"/>
                </a:solidFill>
                <a:latin typeface="Consolas"/>
              </a:rPr>
              <a:t>llama.cpp on the phone  ·  CPU or Adreno GPU</a:t>
            </a:r>
          </a:p>
        </p:txBody>
      </p:sp>
      <p:sp>
        <p:nvSpPr>
          <p:cNvPr id="9" name="Rounded Rectangle 8"/>
          <p:cNvSpPr/>
          <p:nvPr/>
        </p:nvSpPr>
        <p:spPr>
          <a:xfrm>
            <a:off x="868680" y="2148840"/>
            <a:ext cx="1737360" cy="777240"/>
          </a:xfrm>
          <a:prstGeom prst="round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286000"/>
            <a:ext cx="1591056" cy="274320"/>
          </a:xfrm>
          <a:prstGeom prst="rect">
            <a:avLst/>
          </a:prstGeom>
          <a:noFill/>
        </p:spPr>
        <p:txBody>
          <a:bodyPr wrap="square" lIns="0" rIns="0" tIns="0" bIns="0" anchor="t">
            <a:spAutoFit/>
          </a:bodyPr>
          <a:lstStyle/>
          <a:p>
            <a:pPr algn="ctr"/>
            <a:r>
              <a:rPr sz="1200" b="1" i="0">
                <a:solidFill>
                  <a:srgbClr val="0C1116"/>
                </a:solidFill>
                <a:latin typeface="Arial"/>
              </a:rPr>
              <a:t>prefill</a:t>
            </a:r>
          </a:p>
        </p:txBody>
      </p:sp>
      <p:sp>
        <p:nvSpPr>
          <p:cNvPr id="11" name="TextBox 10"/>
          <p:cNvSpPr txBox="1"/>
          <p:nvPr/>
        </p:nvSpPr>
        <p:spPr>
          <a:xfrm>
            <a:off x="941832" y="2606040"/>
            <a:ext cx="1591056" cy="274320"/>
          </a:xfrm>
          <a:prstGeom prst="rect">
            <a:avLst/>
          </a:prstGeom>
          <a:noFill/>
        </p:spPr>
        <p:txBody>
          <a:bodyPr wrap="square" lIns="0" rIns="0" tIns="0" bIns="0" anchor="t">
            <a:spAutoFit/>
          </a:bodyPr>
          <a:lstStyle/>
          <a:p>
            <a:pPr algn="ctr"/>
            <a:r>
              <a:rPr sz="900" b="0" i="0">
                <a:solidFill>
                  <a:srgbClr val="0C1116"/>
                </a:solidFill>
                <a:latin typeface="Consolas"/>
              </a:rPr>
              <a:t>FlashAttention ON</a:t>
            </a:r>
          </a:p>
        </p:txBody>
      </p:sp>
      <p:sp>
        <p:nvSpPr>
          <p:cNvPr id="12" name="Right Arrow 11"/>
          <p:cNvSpPr/>
          <p:nvPr/>
        </p:nvSpPr>
        <p:spPr>
          <a:xfrm>
            <a:off x="2697480" y="2468880"/>
            <a:ext cx="457200" cy="118872"/>
          </a:xfrm>
          <a:prstGeom prst="rightArrow">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2176272"/>
            <a:ext cx="731520" cy="274320"/>
          </a:xfrm>
          <a:prstGeom prst="rect">
            <a:avLst/>
          </a:prstGeom>
          <a:noFill/>
        </p:spPr>
        <p:txBody>
          <a:bodyPr wrap="square" lIns="0" rIns="0" tIns="0" bIns="0" anchor="t">
            <a:spAutoFit/>
          </a:bodyPr>
          <a:lstStyle/>
          <a:p>
            <a:pPr algn="ctr"/>
            <a:r>
              <a:rPr sz="850" b="0" i="0">
                <a:solidFill>
                  <a:srgbClr val="C4581A"/>
                </a:solidFill>
                <a:latin typeface="Consolas"/>
              </a:rPr>
              <a:t>kq_evict node</a:t>
            </a:r>
          </a:p>
        </p:txBody>
      </p:sp>
      <p:sp>
        <p:nvSpPr>
          <p:cNvPr id="14" name="Rounded Rectangle 13"/>
          <p:cNvSpPr/>
          <p:nvPr/>
        </p:nvSpPr>
        <p:spPr>
          <a:xfrm>
            <a:off x="3246120" y="2148840"/>
            <a:ext cx="2103120" cy="777240"/>
          </a:xfrm>
          <a:prstGeom prst="roundRect">
            <a:avLst/>
          </a:prstGeom>
          <a:solidFill>
            <a:srgbClr val="FDF0E6"/>
          </a:solidFill>
          <a:ln w="12700">
            <a:solidFill>
              <a:srgbClr val="C45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2286000"/>
            <a:ext cx="1956815" cy="274320"/>
          </a:xfrm>
          <a:prstGeom prst="rect">
            <a:avLst/>
          </a:prstGeom>
          <a:noFill/>
        </p:spPr>
        <p:txBody>
          <a:bodyPr wrap="square" lIns="0" rIns="0" tIns="0" bIns="0" anchor="t">
            <a:spAutoFit/>
          </a:bodyPr>
          <a:lstStyle/>
          <a:p>
            <a:pPr algn="ctr"/>
            <a:r>
              <a:rPr sz="1200" b="1" i="0">
                <a:solidFill>
                  <a:srgbClr val="C4581A"/>
                </a:solidFill>
                <a:latin typeface="Arial"/>
              </a:rPr>
              <a:t>① score + select</a:t>
            </a:r>
          </a:p>
        </p:txBody>
      </p:sp>
      <p:sp>
        <p:nvSpPr>
          <p:cNvPr id="16" name="TextBox 15"/>
          <p:cNvSpPr txBox="1"/>
          <p:nvPr/>
        </p:nvSpPr>
        <p:spPr>
          <a:xfrm>
            <a:off x="3319272" y="2606040"/>
            <a:ext cx="1956815" cy="274320"/>
          </a:xfrm>
          <a:prstGeom prst="rect">
            <a:avLst/>
          </a:prstGeom>
          <a:noFill/>
        </p:spPr>
        <p:txBody>
          <a:bodyPr wrap="square" lIns="0" rIns="0" tIns="0" bIns="0" anchor="t">
            <a:spAutoFit/>
          </a:bodyPr>
          <a:lstStyle/>
          <a:p>
            <a:pPr algn="ctr"/>
            <a:r>
              <a:rPr sz="900" b="0" i="0">
                <a:solidFill>
                  <a:srgbClr val="C4581A"/>
                </a:solidFill>
                <a:latin typeface="Consolas"/>
              </a:rPr>
              <a:t>one keep-set</a:t>
            </a:r>
          </a:p>
        </p:txBody>
      </p:sp>
      <p:sp>
        <p:nvSpPr>
          <p:cNvPr id="17" name="Right Arrow 16"/>
          <p:cNvSpPr/>
          <p:nvPr/>
        </p:nvSpPr>
        <p:spPr>
          <a:xfrm>
            <a:off x="5440680" y="2468880"/>
            <a:ext cx="457200" cy="118872"/>
          </a:xfrm>
          <a:prstGeom prst="rightArrow">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89320" y="2148840"/>
            <a:ext cx="2103120" cy="777240"/>
          </a:xfrm>
          <a:prstGeom prst="roundRect">
            <a:avLst/>
          </a:prstGeom>
          <a:solidFill>
            <a:srgbClr val="FDF0E6"/>
          </a:solidFill>
          <a:ln w="12700">
            <a:solidFill>
              <a:srgbClr val="C458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62472" y="2286000"/>
            <a:ext cx="1956815" cy="274320"/>
          </a:xfrm>
          <a:prstGeom prst="rect">
            <a:avLst/>
          </a:prstGeom>
          <a:noFill/>
        </p:spPr>
        <p:txBody>
          <a:bodyPr wrap="square" lIns="0" rIns="0" tIns="0" bIns="0" anchor="t">
            <a:spAutoFit/>
          </a:bodyPr>
          <a:lstStyle/>
          <a:p>
            <a:pPr algn="ctr"/>
            <a:r>
              <a:rPr sz="1200" b="1" i="0">
                <a:solidFill>
                  <a:srgbClr val="C4581A"/>
                </a:solidFill>
                <a:latin typeface="Arial"/>
              </a:rPr>
              <a:t>② evict + compact</a:t>
            </a:r>
          </a:p>
        </p:txBody>
      </p:sp>
      <p:sp>
        <p:nvSpPr>
          <p:cNvPr id="20" name="TextBox 19"/>
          <p:cNvSpPr txBox="1"/>
          <p:nvPr/>
        </p:nvSpPr>
        <p:spPr>
          <a:xfrm>
            <a:off x="6062472" y="2606040"/>
            <a:ext cx="1956815" cy="274320"/>
          </a:xfrm>
          <a:prstGeom prst="rect">
            <a:avLst/>
          </a:prstGeom>
          <a:noFill/>
        </p:spPr>
        <p:txBody>
          <a:bodyPr wrap="square" lIns="0" rIns="0" tIns="0" bIns="0" anchor="t">
            <a:spAutoFit/>
          </a:bodyPr>
          <a:lstStyle/>
          <a:p>
            <a:pPr algn="ctr"/>
            <a:r>
              <a:rPr sz="900" b="0" i="0">
                <a:solidFill>
                  <a:srgbClr val="C4581A"/>
                </a:solidFill>
                <a:latin typeface="Consolas"/>
              </a:rPr>
              <a:t>slide survivors</a:t>
            </a:r>
          </a:p>
        </p:txBody>
      </p:sp>
      <p:sp>
        <p:nvSpPr>
          <p:cNvPr id="21" name="Right Arrow 20"/>
          <p:cNvSpPr/>
          <p:nvPr/>
        </p:nvSpPr>
        <p:spPr>
          <a:xfrm>
            <a:off x="8183879" y="2468880"/>
            <a:ext cx="457200" cy="118872"/>
          </a:xfrm>
          <a:prstGeom prst="rightArrow">
            <a:avLst/>
          </a:prstGeom>
          <a:solidFill>
            <a:srgbClr val="384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32520" y="2148840"/>
            <a:ext cx="2103120" cy="777240"/>
          </a:xfrm>
          <a:prstGeom prst="roundRect">
            <a:avLst/>
          </a:prstGeom>
          <a:solidFill>
            <a:srgbClr val="E7F4EF"/>
          </a:solidFill>
          <a:ln w="12700">
            <a:solidFill>
              <a:srgbClr val="1A7A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05672" y="2286000"/>
            <a:ext cx="1956815" cy="274320"/>
          </a:xfrm>
          <a:prstGeom prst="rect">
            <a:avLst/>
          </a:prstGeom>
          <a:noFill/>
        </p:spPr>
        <p:txBody>
          <a:bodyPr wrap="square" lIns="0" rIns="0" tIns="0" bIns="0" anchor="t">
            <a:spAutoFit/>
          </a:bodyPr>
          <a:lstStyle/>
          <a:p>
            <a:pPr algn="ctr"/>
            <a:r>
              <a:rPr sz="1200" b="1" i="0">
                <a:solidFill>
                  <a:srgbClr val="1A7A58"/>
                </a:solidFill>
                <a:latin typeface="Arial"/>
              </a:rPr>
              <a:t>③ decode</a:t>
            </a:r>
          </a:p>
        </p:txBody>
      </p:sp>
      <p:sp>
        <p:nvSpPr>
          <p:cNvPr id="24" name="TextBox 23"/>
          <p:cNvSpPr txBox="1"/>
          <p:nvPr/>
        </p:nvSpPr>
        <p:spPr>
          <a:xfrm>
            <a:off x="8805672" y="2606040"/>
            <a:ext cx="1956815" cy="274320"/>
          </a:xfrm>
          <a:prstGeom prst="rect">
            <a:avLst/>
          </a:prstGeom>
          <a:noFill/>
        </p:spPr>
        <p:txBody>
          <a:bodyPr wrap="square" lIns="0" rIns="0" tIns="0" bIns="0" anchor="t">
            <a:spAutoFit/>
          </a:bodyPr>
          <a:lstStyle/>
          <a:p>
            <a:pPr algn="ctr"/>
            <a:r>
              <a:rPr sz="900" b="0" i="0">
                <a:solidFill>
                  <a:srgbClr val="1A7A58"/>
                </a:solidFill>
                <a:latin typeface="Consolas"/>
              </a:rPr>
              <a:t>FlashAttention ON</a:t>
            </a:r>
          </a:p>
        </p:txBody>
      </p:sp>
      <p:sp>
        <p:nvSpPr>
          <p:cNvPr id="25" name="Rectangle 24"/>
          <p:cNvSpPr/>
          <p:nvPr/>
        </p:nvSpPr>
        <p:spPr>
          <a:xfrm>
            <a:off x="868680" y="3127248"/>
            <a:ext cx="4206240" cy="201168"/>
          </a:xfrm>
          <a:prstGeom prst="rect">
            <a:avLst/>
          </a:prstGeom>
          <a:noFill/>
          <a:ln w="762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364992"/>
            <a:ext cx="3108960" cy="274320"/>
          </a:xfrm>
          <a:prstGeom prst="rect">
            <a:avLst/>
          </a:prstGeom>
          <a:noFill/>
        </p:spPr>
        <p:txBody>
          <a:bodyPr wrap="square" lIns="0" rIns="0" tIns="0" bIns="0" anchor="t">
            <a:spAutoFit/>
          </a:bodyPr>
          <a:lstStyle/>
          <a:p>
            <a:pPr algn="l"/>
            <a:r>
              <a:rPr sz="900" b="0" i="0">
                <a:solidFill>
                  <a:srgbClr val="6B7785"/>
                </a:solidFill>
                <a:latin typeface="Consolas"/>
              </a:rPr>
              <a:t>whole cache, N cells</a:t>
            </a:r>
          </a:p>
        </p:txBody>
      </p:sp>
      <p:sp>
        <p:nvSpPr>
          <p:cNvPr id="27" name="Right Arrow 26"/>
          <p:cNvSpPr/>
          <p:nvPr/>
        </p:nvSpPr>
        <p:spPr>
          <a:xfrm>
            <a:off x="5212080" y="3182112"/>
            <a:ext cx="457200" cy="118872"/>
          </a:xfrm>
          <a:prstGeom prst="rightArrow">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2889504"/>
            <a:ext cx="731520" cy="274320"/>
          </a:xfrm>
          <a:prstGeom prst="rect">
            <a:avLst/>
          </a:prstGeom>
          <a:noFill/>
        </p:spPr>
        <p:txBody>
          <a:bodyPr wrap="square" lIns="0" rIns="0" tIns="0" bIns="0" anchor="t">
            <a:spAutoFit/>
          </a:bodyPr>
          <a:lstStyle/>
          <a:p>
            <a:pPr algn="ctr"/>
            <a:r>
              <a:rPr sz="850" b="0" i="0">
                <a:solidFill>
                  <a:srgbClr val="2B6CA3"/>
                </a:solidFill>
                <a:latin typeface="Consolas"/>
              </a:rPr>
              <a:t>N → K</a:t>
            </a:r>
          </a:p>
        </p:txBody>
      </p:sp>
      <p:sp>
        <p:nvSpPr>
          <p:cNvPr id="29" name="Rectangle 28"/>
          <p:cNvSpPr/>
          <p:nvPr/>
        </p:nvSpPr>
        <p:spPr>
          <a:xfrm>
            <a:off x="5806440" y="3127248"/>
            <a:ext cx="777240" cy="20116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3145536"/>
            <a:ext cx="4754880" cy="274320"/>
          </a:xfrm>
          <a:prstGeom prst="rect">
            <a:avLst/>
          </a:prstGeom>
          <a:noFill/>
        </p:spPr>
        <p:txBody>
          <a:bodyPr wrap="square" lIns="0" rIns="0" tIns="0" bIns="0" anchor="t">
            <a:spAutoFit/>
          </a:bodyPr>
          <a:lstStyle/>
          <a:p>
            <a:pPr algn="l"/>
            <a:r>
              <a:rPr sz="900" b="0" i="0">
                <a:solidFill>
                  <a:srgbClr val="6B7785"/>
                </a:solidFill>
                <a:latin typeface="Consolas"/>
              </a:rPr>
              <a:t>K cells, packed together, so the rest is never read again</a:t>
            </a:r>
          </a:p>
        </p:txBody>
      </p:sp>
      <p:sp>
        <p:nvSpPr>
          <p:cNvPr id="31" name="Rounded Rectangle 30"/>
          <p:cNvSpPr/>
          <p:nvPr/>
        </p:nvSpPr>
        <p:spPr>
          <a:xfrm>
            <a:off x="566928" y="3840480"/>
            <a:ext cx="11064240" cy="640080"/>
          </a:xfrm>
          <a:prstGeom prst="roundRect">
            <a:avLst/>
          </a:prstGeom>
          <a:noFill/>
          <a:ln w="12700">
            <a:solidFill>
              <a:srgbClr val="DFE3E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05072"/>
            <a:ext cx="7772400" cy="320040"/>
          </a:xfrm>
          <a:prstGeom prst="rect">
            <a:avLst/>
          </a:prstGeom>
          <a:noFill/>
        </p:spPr>
        <p:txBody>
          <a:bodyPr wrap="square" lIns="0" rIns="0" tIns="0" bIns="0" anchor="t">
            <a:spAutoFit/>
          </a:bodyPr>
          <a:lstStyle/>
          <a:p>
            <a:pPr algn="l"/>
            <a:r>
              <a:rPr sz="1200" b="1" i="0">
                <a:solidFill>
                  <a:srgbClr val="0C1116"/>
                </a:solidFill>
                <a:latin typeface="Arial"/>
              </a:rPr>
              <a:t>④ thermal watchdog reads the sensors and lowers the clock BEFORE the vendor cliff</a:t>
            </a:r>
          </a:p>
        </p:txBody>
      </p:sp>
      <p:sp>
        <p:nvSpPr>
          <p:cNvPr id="33" name="TextBox 32"/>
          <p:cNvSpPr txBox="1"/>
          <p:nvPr/>
        </p:nvSpPr>
        <p:spPr>
          <a:xfrm>
            <a:off x="8778240" y="4005072"/>
            <a:ext cx="2651760" cy="320040"/>
          </a:xfrm>
          <a:prstGeom prst="rect">
            <a:avLst/>
          </a:prstGeom>
          <a:noFill/>
        </p:spPr>
        <p:txBody>
          <a:bodyPr wrap="square" lIns="0" rIns="0" tIns="0" bIns="0" anchor="t">
            <a:spAutoFit/>
          </a:bodyPr>
          <a:lstStyle/>
          <a:p>
            <a:pPr algn="r"/>
            <a:r>
              <a:rPr sz="1050" b="0" i="0">
                <a:solidFill>
                  <a:srgbClr val="6B7785"/>
                </a:solidFill>
                <a:latin typeface="Arial"/>
              </a:rPr>
              <a:t>it never touches the keep-set</a:t>
            </a:r>
          </a:p>
        </p:txBody>
      </p:sp>
      <p:sp>
        <p:nvSpPr>
          <p:cNvPr id="34" name="TextBox 33"/>
          <p:cNvSpPr txBox="1"/>
          <p:nvPr/>
        </p:nvSpPr>
        <p:spPr>
          <a:xfrm>
            <a:off x="566928" y="4617720"/>
            <a:ext cx="2468880" cy="320040"/>
          </a:xfrm>
          <a:prstGeom prst="rect">
            <a:avLst/>
          </a:prstGeom>
          <a:noFill/>
        </p:spPr>
        <p:txBody>
          <a:bodyPr wrap="square" lIns="0" rIns="0" tIns="0" bIns="0" anchor="t">
            <a:spAutoFit/>
          </a:bodyPr>
          <a:lstStyle/>
          <a:p>
            <a:pPr algn="l"/>
            <a:r>
              <a:rPr sz="1150" b="1" i="0">
                <a:solidFill>
                  <a:srgbClr val="C4581A"/>
                </a:solidFill>
                <a:latin typeface="Arial"/>
              </a:rPr>
              <a:t>① score inside the graph</a:t>
            </a:r>
          </a:p>
        </p:txBody>
      </p:sp>
      <p:sp>
        <p:nvSpPr>
          <p:cNvPr id="35" name="TextBox 34"/>
          <p:cNvSpPr txBox="1"/>
          <p:nvPr/>
        </p:nvSpPr>
        <p:spPr>
          <a:xfrm>
            <a:off x="3108960" y="4617720"/>
            <a:ext cx="8503920" cy="320040"/>
          </a:xfrm>
          <a:prstGeom prst="rect">
            <a:avLst/>
          </a:prstGeom>
          <a:noFill/>
        </p:spPr>
        <p:txBody>
          <a:bodyPr wrap="square" lIns="0" rIns="0" tIns="0" bIns="0" anchor="t">
            <a:spAutoFit/>
          </a:bodyPr>
          <a:lstStyle/>
          <a:p>
            <a:pPr algn="l"/>
            <a:r>
              <a:rPr sz="1100" b="0" i="0">
                <a:solidFill>
                  <a:srgbClr val="38424E"/>
                </a:solidFill>
                <a:latin typeface="Arial"/>
              </a:rPr>
              <a:t>answers BREAK 2. The scores come from a node the graph produces, so no callback and no corruption.</a:t>
            </a:r>
          </a:p>
        </p:txBody>
      </p:sp>
      <p:sp>
        <p:nvSpPr>
          <p:cNvPr id="36" name="TextBox 35"/>
          <p:cNvSpPr txBox="1"/>
          <p:nvPr/>
        </p:nvSpPr>
        <p:spPr>
          <a:xfrm>
            <a:off x="566928" y="5020056"/>
            <a:ext cx="2468880" cy="320040"/>
          </a:xfrm>
          <a:prstGeom prst="rect">
            <a:avLst/>
          </a:prstGeom>
          <a:noFill/>
        </p:spPr>
        <p:txBody>
          <a:bodyPr wrap="square" lIns="0" rIns="0" tIns="0" bIns="0" anchor="t">
            <a:spAutoFit/>
          </a:bodyPr>
          <a:lstStyle/>
          <a:p>
            <a:pPr algn="l"/>
            <a:r>
              <a:rPr sz="1150" b="1" i="0">
                <a:solidFill>
                  <a:srgbClr val="C4581A"/>
                </a:solidFill>
                <a:latin typeface="Arial"/>
              </a:rPr>
              <a:t>② one keep-set, packed</a:t>
            </a:r>
          </a:p>
        </p:txBody>
      </p:sp>
      <p:sp>
        <p:nvSpPr>
          <p:cNvPr id="37" name="TextBox 36"/>
          <p:cNvSpPr txBox="1"/>
          <p:nvPr/>
        </p:nvSpPr>
        <p:spPr>
          <a:xfrm>
            <a:off x="3108960" y="5020056"/>
            <a:ext cx="8503920" cy="320040"/>
          </a:xfrm>
          <a:prstGeom prst="rect">
            <a:avLst/>
          </a:prstGeom>
          <a:noFill/>
        </p:spPr>
        <p:txBody>
          <a:bodyPr wrap="square" lIns="0" rIns="0" tIns="0" bIns="0" anchor="t">
            <a:spAutoFit/>
          </a:bodyPr>
          <a:lstStyle/>
          <a:p>
            <a:pPr algn="l"/>
            <a:r>
              <a:rPr sz="1100" b="0" i="0">
                <a:solidFill>
                  <a:srgbClr val="38424E"/>
                </a:solidFill>
                <a:latin typeface="Arial"/>
              </a:rPr>
              <a:t>answers BREAK 1. One set for all heads means every dropped cell is really dropped, and packing them makes the survivors contiguous.</a:t>
            </a:r>
          </a:p>
        </p:txBody>
      </p:sp>
      <p:sp>
        <p:nvSpPr>
          <p:cNvPr id="38" name="TextBox 37"/>
          <p:cNvSpPr txBox="1"/>
          <p:nvPr/>
        </p:nvSpPr>
        <p:spPr>
          <a:xfrm>
            <a:off x="566928" y="5422392"/>
            <a:ext cx="2468880" cy="320040"/>
          </a:xfrm>
          <a:prstGeom prst="rect">
            <a:avLst/>
          </a:prstGeom>
          <a:noFill/>
        </p:spPr>
        <p:txBody>
          <a:bodyPr wrap="square" lIns="0" rIns="0" tIns="0" bIns="0" anchor="t">
            <a:spAutoFit/>
          </a:bodyPr>
          <a:lstStyle/>
          <a:p>
            <a:pPr algn="l"/>
            <a:r>
              <a:rPr sz="1150" b="1" i="0">
                <a:solidFill>
                  <a:srgbClr val="C4581A"/>
                </a:solidFill>
                <a:latin typeface="Arial"/>
              </a:rPr>
              <a:t>③ freeze during decode</a:t>
            </a:r>
          </a:p>
        </p:txBody>
      </p:sp>
      <p:sp>
        <p:nvSpPr>
          <p:cNvPr id="39" name="TextBox 38"/>
          <p:cNvSpPr txBox="1"/>
          <p:nvPr/>
        </p:nvSpPr>
        <p:spPr>
          <a:xfrm>
            <a:off x="3108960" y="5422392"/>
            <a:ext cx="8503920" cy="320040"/>
          </a:xfrm>
          <a:prstGeom prst="rect">
            <a:avLst/>
          </a:prstGeom>
          <a:noFill/>
        </p:spPr>
        <p:txBody>
          <a:bodyPr wrap="square" lIns="0" rIns="0" tIns="0" bIns="0" anchor="t">
            <a:spAutoFit/>
          </a:bodyPr>
          <a:lstStyle/>
          <a:p>
            <a:pPr algn="l"/>
            <a:r>
              <a:rPr sz="1100" b="0" i="0">
                <a:solidFill>
                  <a:srgbClr val="38424E"/>
                </a:solidFill>
                <a:latin typeface="Arial"/>
              </a:rPr>
              <a:t>the keep-set is chosen once at the end of prefill and never changes. Only the recent window slides. So there is no per-token scoring cost.</a:t>
            </a:r>
          </a:p>
        </p:txBody>
      </p:sp>
      <p:sp>
        <p:nvSpPr>
          <p:cNvPr id="40" name="TextBox 39"/>
          <p:cNvSpPr txBox="1"/>
          <p:nvPr/>
        </p:nvSpPr>
        <p:spPr>
          <a:xfrm>
            <a:off x="566928" y="5824728"/>
            <a:ext cx="2468880" cy="320040"/>
          </a:xfrm>
          <a:prstGeom prst="rect">
            <a:avLst/>
          </a:prstGeom>
          <a:noFill/>
        </p:spPr>
        <p:txBody>
          <a:bodyPr wrap="square" lIns="0" rIns="0" tIns="0" bIns="0" anchor="t">
            <a:spAutoFit/>
          </a:bodyPr>
          <a:lstStyle/>
          <a:p>
            <a:pPr algn="l"/>
            <a:r>
              <a:rPr sz="1150" b="1" i="0">
                <a:solidFill>
                  <a:srgbClr val="C4581A"/>
                </a:solidFill>
                <a:latin typeface="Arial"/>
              </a:rPr>
              <a:t>④ compact in place</a:t>
            </a:r>
          </a:p>
        </p:txBody>
      </p:sp>
      <p:sp>
        <p:nvSpPr>
          <p:cNvPr id="41" name="TextBox 40"/>
          <p:cNvSpPr txBox="1"/>
          <p:nvPr/>
        </p:nvSpPr>
        <p:spPr>
          <a:xfrm>
            <a:off x="3108960" y="5824728"/>
            <a:ext cx="8503920" cy="320040"/>
          </a:xfrm>
          <a:prstGeom prst="rect">
            <a:avLst/>
          </a:prstGeom>
          <a:noFill/>
        </p:spPr>
        <p:txBody>
          <a:bodyPr wrap="square" lIns="0" rIns="0" tIns="0" bIns="0" anchor="t">
            <a:spAutoFit/>
          </a:bodyPr>
          <a:lstStyle/>
          <a:p>
            <a:pPr algn="l"/>
            <a:r>
              <a:rPr sz="1100" b="0" i="0">
                <a:solidFill>
                  <a:srgbClr val="38424E"/>
                </a:solidFill>
                <a:latin typeface="Arial"/>
              </a:rPr>
              <a:t>the survivors are slid down inside the tensors the engine already has. No second copy of the cache is ever allocated.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229600" cy="274320"/>
          </a:xfrm>
          <a:prstGeom prst="rect">
            <a:avLst/>
          </a:prstGeom>
          <a:noFill/>
        </p:spPr>
        <p:txBody>
          <a:bodyPr wrap="square">
            <a:spAutoFit/>
          </a:bodyPr>
          <a:lstStyle/>
          <a:p>
            <a:r>
              <a:rPr sz="900" b="0">
                <a:solidFill>
                  <a:srgbClr val="898781"/>
                </a:solidFill>
                <a:latin typeface="Arial"/>
              </a:rPr>
              <a:t>ARCHITECTURE · THE WHOLE MECHANISM WITH THE ENERGY-AWARE LAYER</a:t>
            </a:r>
          </a:p>
        </p:txBody>
      </p:sp>
      <p:sp>
        <p:nvSpPr>
          <p:cNvPr id="3" name="TextBox 2"/>
          <p:cNvSpPr txBox="1"/>
          <p:nvPr/>
        </p:nvSpPr>
        <p:spPr>
          <a:xfrm>
            <a:off x="365760" y="457200"/>
            <a:ext cx="8229600" cy="457200"/>
          </a:xfrm>
          <a:prstGeom prst="rect">
            <a:avLst/>
          </a:prstGeom>
          <a:noFill/>
        </p:spPr>
        <p:txBody>
          <a:bodyPr wrap="square">
            <a:spAutoFit/>
          </a:bodyPr>
          <a:lstStyle/>
          <a:p>
            <a:r>
              <a:rPr sz="2000" b="1">
                <a:solidFill>
                  <a:srgbClr val="0B0B0B"/>
                </a:solidFill>
                <a:latin typeface="Arial"/>
              </a:rPr>
              <a:t>THE PASS ON TOP, THE CONTROL PLANE BELOW</a:t>
            </a:r>
          </a:p>
        </p:txBody>
      </p:sp>
      <p:pic>
        <p:nvPicPr>
          <p:cNvPr id="4" name="Picture 3" descr="archw300-1.png"/>
          <p:cNvPicPr>
            <a:picLocks noChangeAspect="1"/>
          </p:cNvPicPr>
          <p:nvPr/>
        </p:nvPicPr>
        <p:blipFill>
          <a:blip r:embed="rId12"/>
          <a:stretch>
            <a:fillRect/>
          </a:stretch>
        </p:blipFill>
        <p:spPr>
          <a:xfrm>
            <a:off x="609447" y="1143000"/>
            <a:ext cx="10972800" cy="479010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229600" cy="274320"/>
          </a:xfrm>
          <a:prstGeom prst="rect">
            <a:avLst/>
          </a:prstGeom>
          <a:noFill/>
        </p:spPr>
        <p:txBody>
          <a:bodyPr wrap="square">
            <a:spAutoFit/>
          </a:bodyPr>
          <a:lstStyle/>
          <a:p>
            <a:r>
              <a:rPr sz="900" b="0">
                <a:solidFill>
                  <a:srgbClr val="898781"/>
                </a:solidFill>
                <a:latin typeface="Arial"/>
              </a:rPr>
              <a:t>ARCHITECTURE · THE ENERGY-AWARE CONTROL PLANE</a:t>
            </a:r>
          </a:p>
        </p:txBody>
      </p:sp>
      <p:sp>
        <p:nvSpPr>
          <p:cNvPr id="3" name="TextBox 2"/>
          <p:cNvSpPr txBox="1"/>
          <p:nvPr/>
        </p:nvSpPr>
        <p:spPr>
          <a:xfrm>
            <a:off x="365760" y="457200"/>
            <a:ext cx="9144000" cy="457200"/>
          </a:xfrm>
          <a:prstGeom prst="rect">
            <a:avLst/>
          </a:prstGeom>
          <a:noFill/>
        </p:spPr>
        <p:txBody>
          <a:bodyPr wrap="square">
            <a:spAutoFit/>
          </a:bodyPr>
          <a:lstStyle/>
          <a:p>
            <a:r>
              <a:rPr sz="2000" b="1">
                <a:solidFill>
                  <a:srgbClr val="0B0B0B"/>
                </a:solidFill>
                <a:latin typeface="Arial"/>
              </a:rPr>
              <a:t>SENSE, DECIDE, ACT, RUN, MEASURE, LEARN: ONCE PER REQUEST</a:t>
            </a:r>
          </a:p>
        </p:txBody>
      </p:sp>
      <p:pic>
        <p:nvPicPr>
          <p:cNvPr id="4" name="Picture 3" descr="cp300-1.png"/>
          <p:cNvPicPr>
            <a:picLocks noChangeAspect="1"/>
          </p:cNvPicPr>
          <p:nvPr/>
        </p:nvPicPr>
        <p:blipFill>
          <a:blip r:embed="rId5"/>
          <a:stretch>
            <a:fillRect/>
          </a:stretch>
        </p:blipFill>
        <p:spPr>
          <a:xfrm>
            <a:off x="612648" y="1463040"/>
            <a:ext cx="10972800" cy="3686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RESULTS · CPU</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10</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RESULT · SUSTAINED DECODE, PHONE CPU</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4.80× faster than the full cache, on one twelfth of the cells</a:t>
            </a:r>
          </a:p>
        </p:txBody>
      </p:sp>
      <p:sp>
        <p:nvSpPr>
          <p:cNvPr id="7" name="TextBox 6"/>
          <p:cNvSpPr txBox="1"/>
          <p:nvPr/>
        </p:nvSpPr>
        <p:spPr>
          <a:xfrm>
            <a:off x="566928" y="1536192"/>
            <a:ext cx="11064240" cy="256032"/>
          </a:xfrm>
          <a:prstGeom prst="rect">
            <a:avLst/>
          </a:prstGeom>
          <a:noFill/>
        </p:spPr>
        <p:txBody>
          <a:bodyPr wrap="square" lIns="0" rIns="0" tIns="0" bIns="0" anchor="t">
            <a:spAutoFit/>
          </a:bodyPr>
          <a:lstStyle/>
          <a:p>
            <a:pPr algn="l"/>
            <a:r>
              <a:rPr sz="1050" b="1" i="0">
                <a:solidFill>
                  <a:srgbClr val="2B6CA3"/>
                </a:solidFill>
                <a:latin typeface="Consolas"/>
              </a:rPr>
              <a:t>Llama-3.2-1B Q4_K_M · phone CPU, 6 threads · 9.7K-token prompt + 4096 decoded tokens</a:t>
            </a:r>
          </a:p>
        </p:txBody>
      </p:sp>
      <p:graphicFrame>
        <p:nvGraphicFramePr>
          <p:cNvPr id="8" name="Table 7"/>
          <p:cNvGraphicFramePr>
            <a:graphicFrameLocks noGrp="1"/>
          </p:cNvGraphicFramePr>
          <p:nvPr/>
        </p:nvGraphicFramePr>
        <p:xfrm>
          <a:off x="566928" y="1810512"/>
          <a:ext cx="11064238" cy="2633472"/>
        </p:xfrm>
        <a:graphic>
          <a:graphicData uri="http://schemas.openxmlformats.org/drawingml/2006/table">
            <a:tbl>
              <a:tblPr firstRow="1" bandRow="1">
                <a:tableStyleId>{5C22544A-7EE6-4342-B048-85BDC9FD1C3A}</a:tableStyleId>
              </a:tblPr>
              <a:tblGrid>
                <a:gridCol w="2685495"/>
                <a:gridCol w="1611297"/>
                <a:gridCol w="1826136"/>
                <a:gridCol w="1074198"/>
                <a:gridCol w="1289037"/>
                <a:gridCol w="1074198"/>
                <a:gridCol w="1503877"/>
              </a:tblGrid>
              <a:tr h="292608">
                <a:tc>
                  <a:txBody>
                    <a:bodyPr/>
                    <a:lstStyle/>
                    <a:p>
                      <a:pPr algn="l"/>
                      <a:r>
                        <a:rPr sz="950" b="1">
                          <a:solidFill>
                            <a:srgbClr val="6B7785"/>
                          </a:solidFill>
                          <a:latin typeface="Consolas"/>
                        </a:rPr>
                        <a:t>Policy</a:t>
                      </a:r>
                    </a:p>
                  </a:txBody>
                  <a:tcPr marL="45720" marR="45720" marT="0" marB="0">
                    <a:solidFill>
                      <a:srgbClr val="FFFFFF"/>
                    </a:solidFill>
                  </a:tcPr>
                </a:tc>
                <a:tc>
                  <a:txBody>
                    <a:bodyPr/>
                    <a:lstStyle/>
                    <a:p>
                      <a:pPr algn="r"/>
                      <a:r>
                        <a:rPr sz="950" b="1">
                          <a:solidFill>
                            <a:srgbClr val="6B7785"/>
                          </a:solidFill>
                          <a:latin typeface="Consolas"/>
                        </a:rPr>
                        <a:t>config</a:t>
                      </a:r>
                    </a:p>
                  </a:txBody>
                  <a:tcPr marL="45720" marR="45720" marT="0" marB="0">
                    <a:solidFill>
                      <a:srgbClr val="FFFFFF"/>
                    </a:solidFill>
                  </a:tcPr>
                </a:tc>
                <a:tc>
                  <a:txBody>
                    <a:bodyPr/>
                    <a:lstStyle/>
                    <a:p>
                      <a:pPr algn="r"/>
                      <a:r>
                        <a:rPr sz="950" b="1">
                          <a:solidFill>
                            <a:srgbClr val="6B7785"/>
                          </a:solidFill>
                          <a:latin typeface="Consolas"/>
                        </a:rPr>
                        <a:t>tok/s</a:t>
                      </a:r>
                    </a:p>
                  </a:txBody>
                  <a:tcPr marL="45720" marR="45720" marT="0" marB="0">
                    <a:solidFill>
                      <a:srgbClr val="FFFFFF"/>
                    </a:solidFill>
                  </a:tcPr>
                </a:tc>
                <a:tc>
                  <a:txBody>
                    <a:bodyPr/>
                    <a:lstStyle/>
                    <a:p>
                      <a:pPr algn="r"/>
                      <a:r>
                        <a:rPr sz="950" b="1">
                          <a:solidFill>
                            <a:srgbClr val="6B7785"/>
                          </a:solidFill>
                          <a:latin typeface="Consolas"/>
                        </a:rPr>
                        <a:t>×van</a:t>
                      </a:r>
                    </a:p>
                  </a:txBody>
                  <a:tcPr marL="45720" marR="45720" marT="0" marB="0">
                    <a:solidFill>
                      <a:srgbClr val="FFFFFF"/>
                    </a:solidFill>
                  </a:tcPr>
                </a:tc>
                <a:tc>
                  <a:txBody>
                    <a:bodyPr/>
                    <a:lstStyle/>
                    <a:p>
                      <a:pPr algn="r"/>
                      <a:r>
                        <a:rPr sz="950" b="1">
                          <a:solidFill>
                            <a:srgbClr val="6B7785"/>
                          </a:solidFill>
                          <a:latin typeface="Consolas"/>
                        </a:rPr>
                        <a:t>wall (s)</a:t>
                      </a:r>
                    </a:p>
                  </a:txBody>
                  <a:tcPr marL="45720" marR="45720" marT="0" marB="0">
                    <a:solidFill>
                      <a:srgbClr val="FFFFFF"/>
                    </a:solidFill>
                  </a:tcPr>
                </a:tc>
                <a:tc>
                  <a:txBody>
                    <a:bodyPr/>
                    <a:lstStyle/>
                    <a:p>
                      <a:pPr algn="r"/>
                      <a:r>
                        <a:rPr sz="950" b="1">
                          <a:solidFill>
                            <a:srgbClr val="6B7785"/>
                          </a:solidFill>
                          <a:latin typeface="Consolas"/>
                        </a:rPr>
                        <a:t>mWh</a:t>
                      </a:r>
                    </a:p>
                  </a:txBody>
                  <a:tcPr marL="45720" marR="45720" marT="0" marB="0">
                    <a:solidFill>
                      <a:srgbClr val="FFFFFF"/>
                    </a:solidFill>
                  </a:tcPr>
                </a:tc>
                <a:tc>
                  <a:txBody>
                    <a:bodyPr/>
                    <a:lstStyle/>
                    <a:p>
                      <a:pPr algn="r"/>
                      <a:r>
                        <a:rPr sz="950" b="1">
                          <a:solidFill>
                            <a:srgbClr val="6B7785"/>
                          </a:solidFill>
                          <a:latin typeface="Consolas"/>
                        </a:rPr>
                        <a:t>live cells</a:t>
                      </a:r>
                    </a:p>
                  </a:txBody>
                  <a:tcPr marL="45720" marR="45720" marT="0" marB="0">
                    <a:solidFill>
                      <a:srgbClr val="FFFFFF"/>
                    </a:solidFill>
                  </a:tcPr>
                </a:tc>
              </a:tr>
              <a:tr h="292608">
                <a:tc>
                  <a:txBody>
                    <a:bodyPr/>
                    <a:lstStyle/>
                    <a:p>
                      <a:pPr algn="l"/>
                      <a:r>
                        <a:rPr sz="1150" b="1">
                          <a:solidFill>
                            <a:srgbClr val="C4581A"/>
                          </a:solidFill>
                          <a:latin typeface="Arial"/>
                        </a:rPr>
                        <a:t>μKV</a:t>
                      </a:r>
                    </a:p>
                  </a:txBody>
                  <a:tcPr marL="45720" marR="45720" marT="18000" marB="18000">
                    <a:solidFill>
                      <a:srgbClr val="FDF0E6"/>
                    </a:solidFill>
                  </a:tcPr>
                </a:tc>
                <a:tc>
                  <a:txBody>
                    <a:bodyPr/>
                    <a:lstStyle/>
                    <a:p>
                      <a:pPr algn="r"/>
                      <a:r>
                        <a:rPr sz="1150" b="1">
                          <a:solidFill>
                            <a:srgbClr val="C4581A"/>
                          </a:solidFill>
                          <a:latin typeface="Consolas"/>
                        </a:rPr>
                        <a:t>K=1024</a:t>
                      </a:r>
                    </a:p>
                  </a:txBody>
                  <a:tcPr marL="45720" marR="45720" marT="18000" marB="18000">
                    <a:solidFill>
                      <a:srgbClr val="FDF0E6"/>
                    </a:solidFill>
                  </a:tcPr>
                </a:tc>
                <a:tc>
                  <a:txBody>
                    <a:bodyPr/>
                    <a:lstStyle/>
                    <a:p>
                      <a:pPr algn="r"/>
                      <a:r>
                        <a:rPr sz="1150" b="1">
                          <a:solidFill>
                            <a:srgbClr val="C4581A"/>
                          </a:solidFill>
                          <a:latin typeface="Consolas"/>
                        </a:rPr>
                        <a:t>23.91 ±0.37</a:t>
                      </a:r>
                    </a:p>
                  </a:txBody>
                  <a:tcPr marL="45720" marR="45720" marT="18000" marB="18000">
                    <a:solidFill>
                      <a:srgbClr val="FDF0E6"/>
                    </a:solidFill>
                  </a:tcPr>
                </a:tc>
                <a:tc>
                  <a:txBody>
                    <a:bodyPr/>
                    <a:lstStyle/>
                    <a:p>
                      <a:pPr algn="r"/>
                      <a:r>
                        <a:rPr sz="1150" b="1">
                          <a:solidFill>
                            <a:srgbClr val="C4581A"/>
                          </a:solidFill>
                          <a:latin typeface="Consolas"/>
                        </a:rPr>
                        <a:t>4.80×</a:t>
                      </a:r>
                    </a:p>
                  </a:txBody>
                  <a:tcPr marL="45720" marR="45720" marT="18000" marB="18000">
                    <a:solidFill>
                      <a:srgbClr val="FDF0E6"/>
                    </a:solidFill>
                  </a:tcPr>
                </a:tc>
                <a:tc>
                  <a:txBody>
                    <a:bodyPr/>
                    <a:lstStyle/>
                    <a:p>
                      <a:pPr algn="r"/>
                      <a:r>
                        <a:rPr sz="1150" b="1">
                          <a:solidFill>
                            <a:srgbClr val="C4581A"/>
                          </a:solidFill>
                          <a:latin typeface="Consolas"/>
                        </a:rPr>
                        <a:t>379</a:t>
                      </a:r>
                    </a:p>
                  </a:txBody>
                  <a:tcPr marL="45720" marR="45720" marT="18000" marB="18000">
                    <a:solidFill>
                      <a:srgbClr val="FDF0E6"/>
                    </a:solidFill>
                  </a:tcPr>
                </a:tc>
                <a:tc>
                  <a:txBody>
                    <a:bodyPr/>
                    <a:lstStyle/>
                    <a:p>
                      <a:pPr algn="r"/>
                      <a:r>
                        <a:rPr sz="1150" b="1">
                          <a:solidFill>
                            <a:srgbClr val="C4581A"/>
                          </a:solidFill>
                          <a:latin typeface="Consolas"/>
                        </a:rPr>
                        <a:t>595</a:t>
                      </a:r>
                    </a:p>
                  </a:txBody>
                  <a:tcPr marL="45720" marR="45720" marT="18000" marB="18000">
                    <a:solidFill>
                      <a:srgbClr val="FDF0E6"/>
                    </a:solidFill>
                  </a:tcPr>
                </a:tc>
                <a:tc>
                  <a:txBody>
                    <a:bodyPr/>
                    <a:lstStyle/>
                    <a:p>
                      <a:pPr algn="r"/>
                      <a:r>
                        <a:rPr sz="1150" b="1">
                          <a:solidFill>
                            <a:srgbClr val="C4581A"/>
                          </a:solidFill>
                          <a:latin typeface="Consolas"/>
                        </a:rPr>
                        <a:t>721</a:t>
                      </a:r>
                    </a:p>
                  </a:txBody>
                  <a:tcPr marL="45720" marR="45720" marT="18000" marB="18000">
                    <a:solidFill>
                      <a:srgbClr val="FDF0E6"/>
                    </a:solidFill>
                  </a:tcPr>
                </a:tc>
              </a:tr>
              <a:tr h="292608">
                <a:tc>
                  <a:txBody>
                    <a:bodyPr/>
                    <a:lstStyle/>
                    <a:p>
                      <a:pPr algn="l"/>
                      <a:r>
                        <a:rPr sz="1150" b="0">
                          <a:solidFill>
                            <a:srgbClr val="0C1116"/>
                          </a:solidFill>
                          <a:latin typeface="Arial"/>
                        </a:rPr>
                        <a:t>KeyDiff</a:t>
                      </a:r>
                    </a:p>
                  </a:txBody>
                  <a:tcPr marL="45720" marR="45720" marT="18000" marB="18000">
                    <a:solidFill>
                      <a:srgbClr val="FFFFFF"/>
                    </a:solidFill>
                  </a:tcPr>
                </a:tc>
                <a:tc>
                  <a:txBody>
                    <a:bodyPr/>
                    <a:lstStyle/>
                    <a:p>
                      <a:pPr algn="r"/>
                      <a:r>
                        <a:rPr sz="1150" b="0">
                          <a:solidFill>
                            <a:srgbClr val="0C1116"/>
                          </a:solidFill>
                          <a:latin typeface="Consolas"/>
                        </a:rPr>
                        <a:t>K=2048</a:t>
                      </a:r>
                    </a:p>
                  </a:txBody>
                  <a:tcPr marL="45720" marR="45720" marT="18000" marB="18000">
                    <a:solidFill>
                      <a:srgbClr val="FFFFFF"/>
                    </a:solidFill>
                  </a:tcPr>
                </a:tc>
                <a:tc>
                  <a:txBody>
                    <a:bodyPr/>
                    <a:lstStyle/>
                    <a:p>
                      <a:pPr algn="r"/>
                      <a:r>
                        <a:rPr sz="1150" b="0">
                          <a:solidFill>
                            <a:srgbClr val="0C1116"/>
                          </a:solidFill>
                          <a:latin typeface="Consolas"/>
                        </a:rPr>
                        <a:t>16.40 ±0.11</a:t>
                      </a:r>
                    </a:p>
                  </a:txBody>
                  <a:tcPr marL="45720" marR="45720" marT="18000" marB="18000">
                    <a:solidFill>
                      <a:srgbClr val="FFFFFF"/>
                    </a:solidFill>
                  </a:tcPr>
                </a:tc>
                <a:tc>
                  <a:txBody>
                    <a:bodyPr/>
                    <a:lstStyle/>
                    <a:p>
                      <a:pPr algn="r"/>
                      <a:r>
                        <a:rPr sz="1150" b="0">
                          <a:solidFill>
                            <a:srgbClr val="0C1116"/>
                          </a:solidFill>
                          <a:latin typeface="Consolas"/>
                        </a:rPr>
                        <a:t>3.29×</a:t>
                      </a:r>
                    </a:p>
                  </a:txBody>
                  <a:tcPr marL="45720" marR="45720" marT="18000" marB="18000">
                    <a:solidFill>
                      <a:srgbClr val="FFFFFF"/>
                    </a:solidFill>
                  </a:tcPr>
                </a:tc>
                <a:tc>
                  <a:txBody>
                    <a:bodyPr/>
                    <a:lstStyle/>
                    <a:p>
                      <a:pPr algn="r"/>
                      <a:r>
                        <a:rPr sz="1150" b="0">
                          <a:solidFill>
                            <a:srgbClr val="0C1116"/>
                          </a:solidFill>
                          <a:latin typeface="Consolas"/>
                        </a:rPr>
                        <a:t>484</a:t>
                      </a:r>
                    </a:p>
                  </a:txBody>
                  <a:tcPr marL="45720" marR="45720" marT="18000" marB="18000">
                    <a:solidFill>
                      <a:srgbClr val="FFFFFF"/>
                    </a:solidFill>
                  </a:tcPr>
                </a:tc>
                <a:tc>
                  <a:txBody>
                    <a:bodyPr/>
                    <a:lstStyle/>
                    <a:p>
                      <a:pPr algn="r"/>
                      <a:r>
                        <a:rPr sz="1150" b="0">
                          <a:solidFill>
                            <a:srgbClr val="0C1116"/>
                          </a:solidFill>
                          <a:latin typeface="Consolas"/>
                        </a:rPr>
                        <a:t>700</a:t>
                      </a:r>
                    </a:p>
                  </a:txBody>
                  <a:tcPr marL="45720" marR="45720" marT="18000" marB="18000">
                    <a:solidFill>
                      <a:srgbClr val="FFFFFF"/>
                    </a:solidFill>
                  </a:tcPr>
                </a:tc>
                <a:tc>
                  <a:txBody>
                    <a:bodyPr/>
                    <a:lstStyle/>
                    <a:p>
                      <a:pPr algn="r"/>
                      <a:r>
                        <a:rPr sz="1150" b="0">
                          <a:solidFill>
                            <a:srgbClr val="0C1116"/>
                          </a:solidFill>
                          <a:latin typeface="Consolas"/>
                        </a:rPr>
                        <a:t>2049</a:t>
                      </a:r>
                    </a:p>
                  </a:txBody>
                  <a:tcPr marL="45720" marR="45720" marT="18000" marB="18000">
                    <a:solidFill>
                      <a:srgbClr val="FFFFFF"/>
                    </a:solidFill>
                  </a:tcPr>
                </a:tc>
              </a:tr>
              <a:tr h="292608">
                <a:tc>
                  <a:txBody>
                    <a:bodyPr/>
                    <a:lstStyle/>
                    <a:p>
                      <a:pPr algn="l"/>
                      <a:r>
                        <a:rPr sz="1150" b="0">
                          <a:solidFill>
                            <a:srgbClr val="0C1116"/>
                          </a:solidFill>
                          <a:latin typeface="Arial"/>
                        </a:rPr>
                        <a:t>Ada-KV</a:t>
                      </a:r>
                    </a:p>
                  </a:txBody>
                  <a:tcPr marL="45720" marR="45720" marT="18000" marB="18000">
                    <a:solidFill>
                      <a:srgbClr val="FFFFFF"/>
                    </a:solidFill>
                  </a:tcPr>
                </a:tc>
                <a:tc>
                  <a:txBody>
                    <a:bodyPr/>
                    <a:lstStyle/>
                    <a:p>
                      <a:pPr algn="r"/>
                      <a:r>
                        <a:rPr sz="1150" b="0">
                          <a:solidFill>
                            <a:srgbClr val="0C1116"/>
                          </a:solidFill>
                          <a:latin typeface="Consolas"/>
                        </a:rPr>
                        <a:t>FA on</a:t>
                      </a:r>
                    </a:p>
                  </a:txBody>
                  <a:tcPr marL="45720" marR="45720" marT="18000" marB="18000">
                    <a:solidFill>
                      <a:srgbClr val="FFFFFF"/>
                    </a:solidFill>
                  </a:tcPr>
                </a:tc>
                <a:tc>
                  <a:txBody>
                    <a:bodyPr/>
                    <a:lstStyle/>
                    <a:p>
                      <a:pPr algn="r"/>
                      <a:r>
                        <a:rPr sz="1150" b="0">
                          <a:solidFill>
                            <a:srgbClr val="0C1116"/>
                          </a:solidFill>
                          <a:latin typeface="Consolas"/>
                        </a:rPr>
                        <a:t>11.52</a:t>
                      </a:r>
                    </a:p>
                  </a:txBody>
                  <a:tcPr marL="45720" marR="45720" marT="18000" marB="18000">
                    <a:solidFill>
                      <a:srgbClr val="FFFFFF"/>
                    </a:solidFill>
                  </a:tcPr>
                </a:tc>
                <a:tc>
                  <a:txBody>
                    <a:bodyPr/>
                    <a:lstStyle/>
                    <a:p>
                      <a:pPr algn="r"/>
                      <a:r>
                        <a:rPr sz="1150" b="0">
                          <a:solidFill>
                            <a:srgbClr val="0C1116"/>
                          </a:solidFill>
                          <a:latin typeface="Consolas"/>
                        </a:rPr>
                        <a:t>2.29×</a:t>
                      </a:r>
                    </a:p>
                  </a:txBody>
                  <a:tcPr marL="45720" marR="45720" marT="18000" marB="18000">
                    <a:solidFill>
                      <a:srgbClr val="FFFFFF"/>
                    </a:solidFill>
                  </a:tcPr>
                </a:tc>
                <a:tc>
                  <a:txBody>
                    <a:bodyPr/>
                    <a:lstStyle/>
                    <a:p>
                      <a:pPr algn="r"/>
                      <a:r>
                        <a:rPr sz="1150" b="0">
                          <a:solidFill>
                            <a:srgbClr val="0C1116"/>
                          </a:solidFill>
                          <a:latin typeface="Consolas"/>
                        </a:rPr>
                        <a:t>566</a:t>
                      </a:r>
                    </a:p>
                  </a:txBody>
                  <a:tcPr marL="45720" marR="45720" marT="18000" marB="18000">
                    <a:solidFill>
                      <a:srgbClr val="FFFFFF"/>
                    </a:solidFill>
                  </a:tcPr>
                </a:tc>
                <a:tc>
                  <a:txBody>
                    <a:bodyPr/>
                    <a:lstStyle/>
                    <a:p>
                      <a:pPr algn="r"/>
                      <a:r>
                        <a:rPr sz="1150" b="0">
                          <a:solidFill>
                            <a:srgbClr val="0C1116"/>
                          </a:solidFill>
                          <a:latin typeface="Consolas"/>
                        </a:rPr>
                        <a:t>845</a:t>
                      </a:r>
                    </a:p>
                  </a:txBody>
                  <a:tcPr marL="45720" marR="45720" marT="18000" marB="18000">
                    <a:solidFill>
                      <a:srgbClr val="FFFFFF"/>
                    </a:solidFill>
                  </a:tcPr>
                </a:tc>
                <a:tc>
                  <a:txBody>
                    <a:bodyPr/>
                    <a:lstStyle/>
                    <a:p>
                      <a:pPr algn="r"/>
                      <a:r>
                        <a:rPr sz="1150" b="0">
                          <a:solidFill>
                            <a:srgbClr val="0C1116"/>
                          </a:solidFill>
                          <a:latin typeface="Consolas"/>
                        </a:rPr>
                        <a:t>3489</a:t>
                      </a:r>
                    </a:p>
                  </a:txBody>
                  <a:tcPr marL="45720" marR="45720" marT="18000" marB="18000">
                    <a:solidFill>
                      <a:srgbClr val="FFFFFF"/>
                    </a:solidFill>
                  </a:tcPr>
                </a:tc>
              </a:tr>
              <a:tr h="292608">
                <a:tc>
                  <a:txBody>
                    <a:bodyPr/>
                    <a:lstStyle/>
                    <a:p>
                      <a:pPr algn="l"/>
                      <a:r>
                        <a:rPr sz="1150" b="0">
                          <a:solidFill>
                            <a:srgbClr val="0C1116"/>
                          </a:solidFill>
                          <a:latin typeface="Arial"/>
                        </a:rPr>
                        <a:t>StreamingLLM</a:t>
                      </a:r>
                    </a:p>
                  </a:txBody>
                  <a:tcPr marL="45720" marR="45720" marT="18000" marB="18000">
                    <a:solidFill>
                      <a:srgbClr val="FFFFFF"/>
                    </a:solidFill>
                  </a:tcPr>
                </a:tc>
                <a:tc>
                  <a:txBody>
                    <a:bodyPr/>
                    <a:lstStyle/>
                    <a:p>
                      <a:pPr algn="r"/>
                      <a:r>
                        <a:rPr sz="1150" b="0">
                          <a:solidFill>
                            <a:srgbClr val="0C1116"/>
                          </a:solidFill>
                          <a:latin typeface="Consolas"/>
                        </a:rPr>
                        <a:t>4+2000</a:t>
                      </a:r>
                    </a:p>
                  </a:txBody>
                  <a:tcPr marL="45720" marR="45720" marT="18000" marB="18000">
                    <a:solidFill>
                      <a:srgbClr val="FFFFFF"/>
                    </a:solidFill>
                  </a:tcPr>
                </a:tc>
                <a:tc>
                  <a:txBody>
                    <a:bodyPr/>
                    <a:lstStyle/>
                    <a:p>
                      <a:pPr algn="r"/>
                      <a:r>
                        <a:rPr sz="1150" b="0">
                          <a:solidFill>
                            <a:srgbClr val="0C1116"/>
                          </a:solidFill>
                          <a:latin typeface="Consolas"/>
                        </a:rPr>
                        <a:t>10.25 ±0.06</a:t>
                      </a:r>
                    </a:p>
                  </a:txBody>
                  <a:tcPr marL="45720" marR="45720" marT="18000" marB="18000">
                    <a:solidFill>
                      <a:srgbClr val="FFFFFF"/>
                    </a:solidFill>
                  </a:tcPr>
                </a:tc>
                <a:tc>
                  <a:txBody>
                    <a:bodyPr/>
                    <a:lstStyle/>
                    <a:p>
                      <a:pPr algn="r"/>
                      <a:r>
                        <a:rPr sz="1150" b="0">
                          <a:solidFill>
                            <a:srgbClr val="0C1116"/>
                          </a:solidFill>
                          <a:latin typeface="Consolas"/>
                        </a:rPr>
                        <a:t>2.06×</a:t>
                      </a:r>
                    </a:p>
                  </a:txBody>
                  <a:tcPr marL="45720" marR="45720" marT="18000" marB="18000">
                    <a:solidFill>
                      <a:srgbClr val="FFFFFF"/>
                    </a:solidFill>
                  </a:tcPr>
                </a:tc>
                <a:tc>
                  <a:txBody>
                    <a:bodyPr/>
                    <a:lstStyle/>
                    <a:p>
                      <a:pPr algn="r"/>
                      <a:r>
                        <a:rPr sz="1150" b="0">
                          <a:solidFill>
                            <a:srgbClr val="0C1116"/>
                          </a:solidFill>
                          <a:latin typeface="Consolas"/>
                        </a:rPr>
                        <a:t>580</a:t>
                      </a:r>
                    </a:p>
                  </a:txBody>
                  <a:tcPr marL="45720" marR="45720" marT="18000" marB="18000">
                    <a:solidFill>
                      <a:srgbClr val="FFFFFF"/>
                    </a:solidFill>
                  </a:tcPr>
                </a:tc>
                <a:tc>
                  <a:txBody>
                    <a:bodyPr/>
                    <a:lstStyle/>
                    <a:p>
                      <a:pPr algn="r"/>
                      <a:r>
                        <a:rPr sz="1150" b="0">
                          <a:solidFill>
                            <a:srgbClr val="0C1116"/>
                          </a:solidFill>
                          <a:latin typeface="Consolas"/>
                        </a:rPr>
                        <a:t>781</a:t>
                      </a:r>
                    </a:p>
                  </a:txBody>
                  <a:tcPr marL="45720" marR="45720" marT="18000" marB="18000">
                    <a:solidFill>
                      <a:srgbClr val="FFFFFF"/>
                    </a:solidFill>
                  </a:tcPr>
                </a:tc>
                <a:tc>
                  <a:txBody>
                    <a:bodyPr/>
                    <a:lstStyle/>
                    <a:p>
                      <a:pPr algn="r"/>
                      <a:r>
                        <a:rPr sz="1150" b="0">
                          <a:solidFill>
                            <a:srgbClr val="0C1116"/>
                          </a:solidFill>
                          <a:latin typeface="Consolas"/>
                        </a:rPr>
                        <a:t>2001</a:t>
                      </a:r>
                    </a:p>
                  </a:txBody>
                  <a:tcPr marL="45720" marR="45720" marT="18000" marB="18000">
                    <a:solidFill>
                      <a:srgbClr val="FFFFFF"/>
                    </a:solidFill>
                  </a:tcPr>
                </a:tc>
              </a:tr>
              <a:tr h="292608">
                <a:tc>
                  <a:txBody>
                    <a:bodyPr/>
                    <a:lstStyle/>
                    <a:p>
                      <a:pPr algn="l"/>
                      <a:r>
                        <a:rPr sz="1150" b="0">
                          <a:solidFill>
                            <a:srgbClr val="0C1116"/>
                          </a:solidFill>
                          <a:latin typeface="Arial"/>
                        </a:rPr>
                        <a:t>SnapKV</a:t>
                      </a:r>
                    </a:p>
                  </a:txBody>
                  <a:tcPr marL="45720" marR="45720" marT="18000" marB="18000">
                    <a:solidFill>
                      <a:srgbClr val="FFFFFF"/>
                    </a:solidFill>
                  </a:tcPr>
                </a:tc>
                <a:tc>
                  <a:txBody>
                    <a:bodyPr/>
                    <a:lstStyle/>
                    <a:p>
                      <a:pPr algn="r"/>
                      <a:r>
                        <a:rPr sz="1150" b="0">
                          <a:solidFill>
                            <a:srgbClr val="0C1116"/>
                          </a:solidFill>
                          <a:latin typeface="Consolas"/>
                        </a:rPr>
                        <a:t>FA off</a:t>
                      </a:r>
                    </a:p>
                  </a:txBody>
                  <a:tcPr marL="45720" marR="45720" marT="18000" marB="18000">
                    <a:solidFill>
                      <a:srgbClr val="FFFFFF"/>
                    </a:solidFill>
                  </a:tcPr>
                </a:tc>
                <a:tc>
                  <a:txBody>
                    <a:bodyPr/>
                    <a:lstStyle/>
                    <a:p>
                      <a:pPr algn="r"/>
                      <a:r>
                        <a:rPr sz="1150" b="0">
                          <a:solidFill>
                            <a:srgbClr val="0C1116"/>
                          </a:solidFill>
                          <a:latin typeface="Consolas"/>
                        </a:rPr>
                        <a:t>6.83</a:t>
                      </a:r>
                    </a:p>
                  </a:txBody>
                  <a:tcPr marL="45720" marR="45720" marT="18000" marB="18000">
                    <a:solidFill>
                      <a:srgbClr val="FFFFFF"/>
                    </a:solidFill>
                  </a:tcPr>
                </a:tc>
                <a:tc>
                  <a:txBody>
                    <a:bodyPr/>
                    <a:lstStyle/>
                    <a:p>
                      <a:pPr algn="r"/>
                      <a:r>
                        <a:rPr sz="1150" b="0">
                          <a:solidFill>
                            <a:srgbClr val="0C1116"/>
                          </a:solidFill>
                          <a:latin typeface="Consolas"/>
                        </a:rPr>
                        <a:t>1.36×</a:t>
                      </a:r>
                    </a:p>
                  </a:txBody>
                  <a:tcPr marL="45720" marR="45720" marT="18000" marB="18000">
                    <a:solidFill>
                      <a:srgbClr val="FFFFFF"/>
                    </a:solidFill>
                  </a:tcPr>
                </a:tc>
                <a:tc>
                  <a:txBody>
                    <a:bodyPr/>
                    <a:lstStyle/>
                    <a:p>
                      <a:pPr algn="r"/>
                      <a:r>
                        <a:rPr sz="1150" b="0">
                          <a:solidFill>
                            <a:srgbClr val="0C1116"/>
                          </a:solidFill>
                          <a:latin typeface="Consolas"/>
                        </a:rPr>
                        <a:t>849</a:t>
                      </a:r>
                    </a:p>
                  </a:txBody>
                  <a:tcPr marL="45720" marR="45720" marT="18000" marB="18000">
                    <a:solidFill>
                      <a:srgbClr val="FFFFFF"/>
                    </a:solidFill>
                  </a:tcPr>
                </a:tc>
                <a:tc>
                  <a:txBody>
                    <a:bodyPr/>
                    <a:lstStyle/>
                    <a:p>
                      <a:pPr algn="r"/>
                      <a:r>
                        <a:rPr sz="1150" b="0">
                          <a:solidFill>
                            <a:srgbClr val="0C1116"/>
                          </a:solidFill>
                          <a:latin typeface="Consolas"/>
                        </a:rPr>
                        <a:t>1180</a:t>
                      </a:r>
                    </a:p>
                  </a:txBody>
                  <a:tcPr marL="45720" marR="45720" marT="18000" marB="18000">
                    <a:solidFill>
                      <a:srgbClr val="FFFFFF"/>
                    </a:solidFill>
                  </a:tcPr>
                </a:tc>
                <a:tc>
                  <a:txBody>
                    <a:bodyPr/>
                    <a:lstStyle/>
                    <a:p>
                      <a:pPr algn="r"/>
                      <a:r>
                        <a:rPr sz="1150" b="0">
                          <a:solidFill>
                            <a:srgbClr val="0C1116"/>
                          </a:solidFill>
                          <a:latin typeface="Consolas"/>
                        </a:rPr>
                        <a:t>5931</a:t>
                      </a:r>
                    </a:p>
                  </a:txBody>
                  <a:tcPr marL="45720" marR="45720" marT="18000" marB="18000">
                    <a:solidFill>
                      <a:srgbClr val="FFFFFF"/>
                    </a:solidFill>
                  </a:tcPr>
                </a:tc>
              </a:tr>
              <a:tr h="292608">
                <a:tc>
                  <a:txBody>
                    <a:bodyPr/>
                    <a:lstStyle/>
                    <a:p>
                      <a:pPr algn="l"/>
                      <a:r>
                        <a:rPr sz="1150" b="0">
                          <a:solidFill>
                            <a:srgbClr val="0C1116"/>
                          </a:solidFill>
                          <a:latin typeface="Arial"/>
                        </a:rPr>
                        <a:t>H2O</a:t>
                      </a:r>
                    </a:p>
                  </a:txBody>
                  <a:tcPr marL="45720" marR="45720" marT="18000" marB="18000">
                    <a:solidFill>
                      <a:srgbClr val="FFFFFF"/>
                    </a:solidFill>
                  </a:tcPr>
                </a:tc>
                <a:tc>
                  <a:txBody>
                    <a:bodyPr/>
                    <a:lstStyle/>
                    <a:p>
                      <a:pPr algn="r"/>
                      <a:r>
                        <a:rPr sz="1150" b="0">
                          <a:solidFill>
                            <a:srgbClr val="0C1116"/>
                          </a:solidFill>
                          <a:latin typeface="Consolas"/>
                        </a:rPr>
                        <a:t>FA off</a:t>
                      </a:r>
                    </a:p>
                  </a:txBody>
                  <a:tcPr marL="45720" marR="45720" marT="18000" marB="18000">
                    <a:solidFill>
                      <a:srgbClr val="FFFFFF"/>
                    </a:solidFill>
                  </a:tcPr>
                </a:tc>
                <a:tc>
                  <a:txBody>
                    <a:bodyPr/>
                    <a:lstStyle/>
                    <a:p>
                      <a:pPr algn="r"/>
                      <a:r>
                        <a:rPr sz="1150" b="0">
                          <a:solidFill>
                            <a:srgbClr val="0C1116"/>
                          </a:solidFill>
                          <a:latin typeface="Consolas"/>
                        </a:rPr>
                        <a:t>6.45</a:t>
                      </a:r>
                    </a:p>
                  </a:txBody>
                  <a:tcPr marL="45720" marR="45720" marT="18000" marB="18000">
                    <a:solidFill>
                      <a:srgbClr val="FFFFFF"/>
                    </a:solidFill>
                  </a:tcPr>
                </a:tc>
                <a:tc>
                  <a:txBody>
                    <a:bodyPr/>
                    <a:lstStyle/>
                    <a:p>
                      <a:pPr algn="r"/>
                      <a:r>
                        <a:rPr sz="1150" b="0">
                          <a:solidFill>
                            <a:srgbClr val="0C1116"/>
                          </a:solidFill>
                          <a:latin typeface="Consolas"/>
                        </a:rPr>
                        <a:t>1.29×</a:t>
                      </a:r>
                    </a:p>
                  </a:txBody>
                  <a:tcPr marL="45720" marR="45720" marT="18000" marB="18000">
                    <a:solidFill>
                      <a:srgbClr val="FFFFFF"/>
                    </a:solidFill>
                  </a:tcPr>
                </a:tc>
                <a:tc>
                  <a:txBody>
                    <a:bodyPr/>
                    <a:lstStyle/>
                    <a:p>
                      <a:pPr algn="r"/>
                      <a:r>
                        <a:rPr sz="1150" b="0">
                          <a:solidFill>
                            <a:srgbClr val="0C1116"/>
                          </a:solidFill>
                          <a:latin typeface="Consolas"/>
                        </a:rPr>
                        <a:t>856</a:t>
                      </a:r>
                    </a:p>
                  </a:txBody>
                  <a:tcPr marL="45720" marR="45720" marT="18000" marB="18000">
                    <a:solidFill>
                      <a:srgbClr val="FFFFFF"/>
                    </a:solidFill>
                  </a:tcPr>
                </a:tc>
                <a:tc>
                  <a:txBody>
                    <a:bodyPr/>
                    <a:lstStyle/>
                    <a:p>
                      <a:pPr algn="r"/>
                      <a:r>
                        <a:rPr sz="1150" b="0">
                          <a:solidFill>
                            <a:srgbClr val="0C1116"/>
                          </a:solidFill>
                          <a:latin typeface="Consolas"/>
                        </a:rPr>
                        <a:t>1262</a:t>
                      </a:r>
                    </a:p>
                  </a:txBody>
                  <a:tcPr marL="45720" marR="45720" marT="18000" marB="18000">
                    <a:solidFill>
                      <a:srgbClr val="FFFFFF"/>
                    </a:solidFill>
                  </a:tcPr>
                </a:tc>
                <a:tc>
                  <a:txBody>
                    <a:bodyPr/>
                    <a:lstStyle/>
                    <a:p>
                      <a:pPr algn="r"/>
                      <a:r>
                        <a:rPr sz="1150" b="0">
                          <a:solidFill>
                            <a:srgbClr val="0C1116"/>
                          </a:solidFill>
                          <a:latin typeface="Consolas"/>
                        </a:rPr>
                        <a:t>9151</a:t>
                      </a:r>
                    </a:p>
                  </a:txBody>
                  <a:tcPr marL="45720" marR="45720" marT="18000" marB="18000">
                    <a:solidFill>
                      <a:srgbClr val="FFFFFF"/>
                    </a:solidFill>
                  </a:tcPr>
                </a:tc>
              </a:tr>
              <a:tr h="292608">
                <a:tc>
                  <a:txBody>
                    <a:bodyPr/>
                    <a:lstStyle/>
                    <a:p>
                      <a:pPr algn="l"/>
                      <a:r>
                        <a:rPr sz="1150" b="0">
                          <a:solidFill>
                            <a:srgbClr val="0C1116"/>
                          </a:solidFill>
                          <a:latin typeface="Arial"/>
                        </a:rPr>
                        <a:t>SnapKV</a:t>
                      </a:r>
                    </a:p>
                  </a:txBody>
                  <a:tcPr marL="45720" marR="45720" marT="18000" marB="18000">
                    <a:solidFill>
                      <a:srgbClr val="FFFFFF"/>
                    </a:solidFill>
                  </a:tcPr>
                </a:tc>
                <a:tc>
                  <a:txBody>
                    <a:bodyPr/>
                    <a:lstStyle/>
                    <a:p>
                      <a:pPr algn="r"/>
                      <a:r>
                        <a:rPr sz="1150" b="0">
                          <a:solidFill>
                            <a:srgbClr val="0C1116"/>
                          </a:solidFill>
                          <a:latin typeface="Consolas"/>
                        </a:rPr>
                        <a:t>FA on</a:t>
                      </a:r>
                    </a:p>
                  </a:txBody>
                  <a:tcPr marL="45720" marR="45720" marT="18000" marB="18000">
                    <a:solidFill>
                      <a:srgbClr val="FFFFFF"/>
                    </a:solidFill>
                  </a:tcPr>
                </a:tc>
                <a:tc>
                  <a:txBody>
                    <a:bodyPr/>
                    <a:lstStyle/>
                    <a:p>
                      <a:pPr algn="r"/>
                      <a:r>
                        <a:rPr sz="1150" b="0">
                          <a:solidFill>
                            <a:srgbClr val="0C1116"/>
                          </a:solidFill>
                          <a:latin typeface="Consolas"/>
                        </a:rPr>
                        <a:t>5.38</a:t>
                      </a:r>
                    </a:p>
                  </a:txBody>
                  <a:tcPr marL="45720" marR="45720" marT="18000" marB="18000">
                    <a:solidFill>
                      <a:srgbClr val="FFFFFF"/>
                    </a:solidFill>
                  </a:tcPr>
                </a:tc>
                <a:tc>
                  <a:txBody>
                    <a:bodyPr/>
                    <a:lstStyle/>
                    <a:p>
                      <a:pPr algn="r"/>
                      <a:r>
                        <a:rPr sz="1150" b="0">
                          <a:solidFill>
                            <a:srgbClr val="0C1116"/>
                          </a:solidFill>
                          <a:latin typeface="Consolas"/>
                        </a:rPr>
                        <a:t>1.07×</a:t>
                      </a:r>
                    </a:p>
                  </a:txBody>
                  <a:tcPr marL="45720" marR="45720" marT="18000" marB="18000">
                    <a:solidFill>
                      <a:srgbClr val="FFFFFF"/>
                    </a:solidFill>
                  </a:tcPr>
                </a:tc>
                <a:tc>
                  <a:txBody>
                    <a:bodyPr/>
                    <a:lstStyle/>
                    <a:p>
                      <a:pPr algn="r"/>
                      <a:r>
                        <a:rPr sz="1150" b="0">
                          <a:solidFill>
                            <a:srgbClr val="0C1116"/>
                          </a:solidFill>
                          <a:latin typeface="Consolas"/>
                        </a:rPr>
                        <a:t>953</a:t>
                      </a:r>
                    </a:p>
                  </a:txBody>
                  <a:tcPr marL="45720" marR="45720" marT="18000" marB="18000">
                    <a:solidFill>
                      <a:srgbClr val="FFFFFF"/>
                    </a:solidFill>
                  </a:tcPr>
                </a:tc>
                <a:tc>
                  <a:txBody>
                    <a:bodyPr/>
                    <a:lstStyle/>
                    <a:p>
                      <a:pPr algn="r"/>
                      <a:r>
                        <a:rPr sz="1150" b="0">
                          <a:solidFill>
                            <a:srgbClr val="0C1116"/>
                          </a:solidFill>
                          <a:latin typeface="Consolas"/>
                        </a:rPr>
                        <a:t>1346</a:t>
                      </a:r>
                    </a:p>
                  </a:txBody>
                  <a:tcPr marL="45720" marR="45720" marT="18000" marB="18000">
                    <a:solidFill>
                      <a:srgbClr val="FFFFFF"/>
                    </a:solidFill>
                  </a:tcPr>
                </a:tc>
                <a:tc>
                  <a:txBody>
                    <a:bodyPr/>
                    <a:lstStyle/>
                    <a:p>
                      <a:pPr algn="r"/>
                      <a:r>
                        <a:rPr sz="1150" b="0">
                          <a:solidFill>
                            <a:srgbClr val="0C1116"/>
                          </a:solidFill>
                          <a:latin typeface="Consolas"/>
                        </a:rPr>
                        <a:t>8893</a:t>
                      </a:r>
                    </a:p>
                  </a:txBody>
                  <a:tcPr marL="45720" marR="45720" marT="18000" marB="18000">
                    <a:solidFill>
                      <a:srgbClr val="FFFFFF"/>
                    </a:solidFill>
                  </a:tcPr>
                </a:tc>
              </a:tr>
              <a:tr h="292608">
                <a:tc>
                  <a:txBody>
                    <a:bodyPr/>
                    <a:lstStyle/>
                    <a:p>
                      <a:pPr algn="l"/>
                      <a:r>
                        <a:rPr sz="1150" b="0">
                          <a:solidFill>
                            <a:srgbClr val="0C1116"/>
                          </a:solidFill>
                          <a:latin typeface="Arial"/>
                        </a:rPr>
                        <a:t>vanilla</a:t>
                      </a:r>
                    </a:p>
                  </a:txBody>
                  <a:tcPr marL="45720" marR="45720" marT="18000" marB="18000">
                    <a:solidFill>
                      <a:srgbClr val="FFFFFF"/>
                    </a:solidFill>
                  </a:tcPr>
                </a:tc>
                <a:tc>
                  <a:txBody>
                    <a:bodyPr/>
                    <a:lstStyle/>
                    <a:p>
                      <a:pPr algn="r"/>
                      <a:r>
                        <a:rPr sz="1150" b="0">
                          <a:solidFill>
                            <a:srgbClr val="0C1116"/>
                          </a:solidFill>
                          <a:latin typeface="Consolas"/>
                        </a:rPr>
                        <a:t>full cache</a:t>
                      </a:r>
                    </a:p>
                  </a:txBody>
                  <a:tcPr marL="45720" marR="45720" marT="18000" marB="18000">
                    <a:solidFill>
                      <a:srgbClr val="FFFFFF"/>
                    </a:solidFill>
                  </a:tcPr>
                </a:tc>
                <a:tc>
                  <a:txBody>
                    <a:bodyPr/>
                    <a:lstStyle/>
                    <a:p>
                      <a:pPr algn="r"/>
                      <a:r>
                        <a:rPr sz="1150" b="0">
                          <a:solidFill>
                            <a:srgbClr val="0C1116"/>
                          </a:solidFill>
                          <a:latin typeface="Consolas"/>
                        </a:rPr>
                        <a:t>4.99 ±0.01</a:t>
                      </a:r>
                    </a:p>
                  </a:txBody>
                  <a:tcPr marL="45720" marR="45720" marT="18000" marB="18000">
                    <a:solidFill>
                      <a:srgbClr val="FFFFFF"/>
                    </a:solidFill>
                  </a:tcPr>
                </a:tc>
                <a:tc>
                  <a:txBody>
                    <a:bodyPr/>
                    <a:lstStyle/>
                    <a:p>
                      <a:pPr algn="r"/>
                      <a:r>
                        <a:rPr sz="1150" b="0">
                          <a:solidFill>
                            <a:srgbClr val="0C1116"/>
                          </a:solidFill>
                          <a:latin typeface="Consolas"/>
                        </a:rPr>
                        <a:t>1.00×</a:t>
                      </a:r>
                    </a:p>
                  </a:txBody>
                  <a:tcPr marL="45720" marR="45720" marT="18000" marB="18000">
                    <a:solidFill>
                      <a:srgbClr val="FFFFFF"/>
                    </a:solidFill>
                  </a:tcPr>
                </a:tc>
                <a:tc>
                  <a:txBody>
                    <a:bodyPr/>
                    <a:lstStyle/>
                    <a:p>
                      <a:pPr algn="r"/>
                      <a:r>
                        <a:rPr sz="1150" b="0">
                          <a:solidFill>
                            <a:srgbClr val="0C1116"/>
                          </a:solidFill>
                          <a:latin typeface="Consolas"/>
                        </a:rPr>
                        <a:t>1004</a:t>
                      </a:r>
                    </a:p>
                  </a:txBody>
                  <a:tcPr marL="45720" marR="45720" marT="18000" marB="18000">
                    <a:solidFill>
                      <a:srgbClr val="FFFFFF"/>
                    </a:solidFill>
                  </a:tcPr>
                </a:tc>
                <a:tc>
                  <a:txBody>
                    <a:bodyPr/>
                    <a:lstStyle/>
                    <a:p>
                      <a:pPr algn="r"/>
                      <a:r>
                        <a:rPr sz="1150" b="0">
                          <a:solidFill>
                            <a:srgbClr val="0C1116"/>
                          </a:solidFill>
                          <a:latin typeface="Consolas"/>
                        </a:rPr>
                        <a:t>1431</a:t>
                      </a:r>
                    </a:p>
                  </a:txBody>
                  <a:tcPr marL="45720" marR="45720" marT="18000" marB="18000">
                    <a:solidFill>
                      <a:srgbClr val="FFFFFF"/>
                    </a:solidFill>
                  </a:tcPr>
                </a:tc>
                <a:tc>
                  <a:txBody>
                    <a:bodyPr/>
                    <a:lstStyle/>
                    <a:p>
                      <a:pPr algn="r"/>
                      <a:r>
                        <a:rPr sz="1150" b="0">
                          <a:solidFill>
                            <a:srgbClr val="0C1116"/>
                          </a:solidFill>
                          <a:latin typeface="Consolas"/>
                        </a:rPr>
                        <a:t>9741</a:t>
                      </a:r>
                    </a:p>
                  </a:txBody>
                  <a:tcPr marL="45720" marR="45720" marT="18000" marB="18000">
                    <a:solidFill>
                      <a:srgbClr val="FFFFFF"/>
                    </a:solidFill>
                  </a:tcPr>
                </a:tc>
              </a:tr>
            </a:tbl>
          </a:graphicData>
        </a:graphic>
      </p:graphicFrame>
      <p:sp>
        <p:nvSpPr>
          <p:cNvPr id="9" name="TextBox 8"/>
          <p:cNvSpPr txBox="1"/>
          <p:nvPr/>
        </p:nvSpPr>
        <p:spPr>
          <a:xfrm>
            <a:off x="566928" y="4498848"/>
            <a:ext cx="11064240" cy="411480"/>
          </a:xfrm>
          <a:prstGeom prst="rect">
            <a:avLst/>
          </a:prstGeom>
          <a:noFill/>
        </p:spPr>
        <p:txBody>
          <a:bodyPr wrap="square" lIns="0" rIns="0" tIns="0" bIns="0" anchor="t">
            <a:spAutoFit/>
          </a:bodyPr>
          <a:lstStyle/>
          <a:p>
            <a:pPr algn="l"/>
            <a:r>
              <a:rPr sz="1200" b="1" i="0">
                <a:solidFill>
                  <a:srgbClr val="0C1116"/>
                </a:solidFill>
                <a:latin typeface="Arial"/>
              </a:rPr>
              <a:t>How to read this: the last column is what the engine still holds. The policies at the bottom are slow BECAUSE they never freed anything.</a:t>
            </a:r>
          </a:p>
        </p:txBody>
      </p:sp>
      <p:sp>
        <p:nvSpPr>
          <p:cNvPr id="10" name="Rounded Rectangle 9"/>
          <p:cNvSpPr/>
          <p:nvPr/>
        </p:nvSpPr>
        <p:spPr>
          <a:xfrm>
            <a:off x="566928" y="4937760"/>
            <a:ext cx="349300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499262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5084064"/>
            <a:ext cx="3172968" cy="457200"/>
          </a:xfrm>
          <a:prstGeom prst="rect">
            <a:avLst/>
          </a:prstGeom>
          <a:noFill/>
        </p:spPr>
        <p:txBody>
          <a:bodyPr wrap="square" lIns="0" rIns="0" tIns="0" bIns="0" anchor="t">
            <a:spAutoFit/>
          </a:bodyPr>
          <a:lstStyle/>
          <a:p>
            <a:pPr algn="l"/>
            <a:r>
              <a:rPr sz="2600" b="1" i="0">
                <a:solidFill>
                  <a:srgbClr val="C4581A"/>
                </a:solidFill>
                <a:latin typeface="Consolas"/>
              </a:rPr>
              <a:t>4.80×</a:t>
            </a:r>
          </a:p>
        </p:txBody>
      </p:sp>
      <p:sp>
        <p:nvSpPr>
          <p:cNvPr id="13" name="TextBox 12"/>
          <p:cNvSpPr txBox="1"/>
          <p:nvPr/>
        </p:nvSpPr>
        <p:spPr>
          <a:xfrm>
            <a:off x="768096" y="5577840"/>
            <a:ext cx="317296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23.91 vs 4.99 tok/s, three runs each, rotated order</a:t>
            </a:r>
          </a:p>
        </p:txBody>
      </p:sp>
      <p:sp>
        <p:nvSpPr>
          <p:cNvPr id="14" name="Rounded Rectangle 13"/>
          <p:cNvSpPr/>
          <p:nvPr/>
        </p:nvSpPr>
        <p:spPr>
          <a:xfrm>
            <a:off x="4352544" y="4937760"/>
            <a:ext cx="349300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52544" y="499262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5084064"/>
            <a:ext cx="3172968" cy="457200"/>
          </a:xfrm>
          <a:prstGeom prst="rect">
            <a:avLst/>
          </a:prstGeom>
          <a:noFill/>
        </p:spPr>
        <p:txBody>
          <a:bodyPr wrap="square" lIns="0" rIns="0" tIns="0" bIns="0" anchor="t">
            <a:spAutoFit/>
          </a:bodyPr>
          <a:lstStyle/>
          <a:p>
            <a:pPr algn="l"/>
            <a:r>
              <a:rPr sz="2600" b="1" i="0">
                <a:solidFill>
                  <a:srgbClr val="C4581A"/>
                </a:solidFill>
                <a:latin typeface="Consolas"/>
              </a:rPr>
              <a:t>−58%</a:t>
            </a:r>
          </a:p>
        </p:txBody>
      </p:sp>
      <p:sp>
        <p:nvSpPr>
          <p:cNvPr id="17" name="TextBox 16"/>
          <p:cNvSpPr txBox="1"/>
          <p:nvPr/>
        </p:nvSpPr>
        <p:spPr>
          <a:xfrm>
            <a:off x="4553712" y="5577840"/>
            <a:ext cx="317296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energy for the same 4096 tokens, 595 vs 1431 mWh</a:t>
            </a:r>
          </a:p>
        </p:txBody>
      </p:sp>
      <p:sp>
        <p:nvSpPr>
          <p:cNvPr id="18" name="Rounded Rectangle 17"/>
          <p:cNvSpPr/>
          <p:nvPr/>
        </p:nvSpPr>
        <p:spPr>
          <a:xfrm>
            <a:off x="8138160" y="4937760"/>
            <a:ext cx="349300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499262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5084064"/>
            <a:ext cx="3172968" cy="457200"/>
          </a:xfrm>
          <a:prstGeom prst="rect">
            <a:avLst/>
          </a:prstGeom>
          <a:noFill/>
        </p:spPr>
        <p:txBody>
          <a:bodyPr wrap="square" lIns="0" rIns="0" tIns="0" bIns="0" anchor="t">
            <a:spAutoFit/>
          </a:bodyPr>
          <a:lstStyle/>
          <a:p>
            <a:pPr algn="l"/>
            <a:r>
              <a:rPr sz="2600" b="1" i="0">
                <a:solidFill>
                  <a:srgbClr val="C4581A"/>
                </a:solidFill>
                <a:latin typeface="Consolas"/>
              </a:rPr>
              <a:t>12.3×</a:t>
            </a:r>
          </a:p>
        </p:txBody>
      </p:sp>
      <p:sp>
        <p:nvSpPr>
          <p:cNvPr id="21" name="TextBox 20"/>
          <p:cNvSpPr txBox="1"/>
          <p:nvPr/>
        </p:nvSpPr>
        <p:spPr>
          <a:xfrm>
            <a:off x="8339328" y="5577840"/>
            <a:ext cx="317296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fewer live cells than SnapKV FA-on, 721 vs 8893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WHAT COMPACTION ACTUALLY BUYS</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11</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A CLAIM WE HAD TO GET RIGHT</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Compaction does not shrink the allocation. It shrinks what is read.</a:t>
            </a:r>
          </a:p>
        </p:txBody>
      </p:sp>
      <p:sp>
        <p:nvSpPr>
          <p:cNvPr id="7" name="TextBox 6"/>
          <p:cNvSpPr txBox="1"/>
          <p:nvPr/>
        </p:nvSpPr>
        <p:spPr>
          <a:xfrm>
            <a:off x="566928" y="1572768"/>
            <a:ext cx="6949440" cy="256032"/>
          </a:xfrm>
          <a:prstGeom prst="rect">
            <a:avLst/>
          </a:prstGeom>
          <a:noFill/>
        </p:spPr>
        <p:txBody>
          <a:bodyPr wrap="square" lIns="0" rIns="0" tIns="0" bIns="0" anchor="t">
            <a:spAutoFit/>
          </a:bodyPr>
          <a:lstStyle/>
          <a:p>
            <a:pPr algn="l"/>
            <a:r>
              <a:rPr sz="1050" b="1" i="0">
                <a:solidFill>
                  <a:srgbClr val="2B6CA3"/>
                </a:solidFill>
                <a:latin typeface="Consolas"/>
              </a:rPr>
              <a:t>Llama-3.2-1B · phone GPU (Adreno 840) · 9737-token prompt</a:t>
            </a:r>
          </a:p>
        </p:txBody>
      </p:sp>
      <p:graphicFrame>
        <p:nvGraphicFramePr>
          <p:cNvPr id="8" name="Table 7"/>
          <p:cNvGraphicFramePr>
            <a:graphicFrameLocks noGrp="1"/>
          </p:cNvGraphicFramePr>
          <p:nvPr/>
        </p:nvGraphicFramePr>
        <p:xfrm>
          <a:off x="566928" y="1847088"/>
          <a:ext cx="6949438" cy="877824"/>
        </p:xfrm>
        <a:graphic>
          <a:graphicData uri="http://schemas.openxmlformats.org/drawingml/2006/table">
            <a:tbl>
              <a:tblPr firstRow="1" bandRow="1">
                <a:tableStyleId>{5C22544A-7EE6-4342-B048-85BDC9FD1C3A}</a:tableStyleId>
              </a:tblPr>
              <a:tblGrid>
                <a:gridCol w="2475143"/>
                <a:gridCol w="1523164"/>
                <a:gridCol w="1523164"/>
                <a:gridCol w="1427967"/>
              </a:tblGrid>
              <a:tr h="292608">
                <a:tc>
                  <a:txBody>
                    <a:bodyPr/>
                    <a:lstStyle/>
                    <a:p>
                      <a:pPr algn="l"/>
                      <a:r>
                        <a:rPr sz="950" b="1">
                          <a:solidFill>
                            <a:srgbClr val="6B7785"/>
                          </a:solidFill>
                          <a:latin typeface="Consolas"/>
                        </a:rPr>
                        <a:t>Measured</a:t>
                      </a:r>
                    </a:p>
                  </a:txBody>
                  <a:tcPr marL="45720" marR="45720" marT="0" marB="0">
                    <a:solidFill>
                      <a:srgbClr val="FFFFFF"/>
                    </a:solidFill>
                  </a:tcPr>
                </a:tc>
                <a:tc>
                  <a:txBody>
                    <a:bodyPr/>
                    <a:lstStyle/>
                    <a:p>
                      <a:pPr algn="r"/>
                      <a:r>
                        <a:rPr sz="950" b="1">
                          <a:solidFill>
                            <a:srgbClr val="6B7785"/>
                          </a:solidFill>
                          <a:latin typeface="Consolas"/>
                        </a:rPr>
                        <a:t>vanilla</a:t>
                      </a:r>
                    </a:p>
                  </a:txBody>
                  <a:tcPr marL="45720" marR="45720" marT="0" marB="0">
                    <a:solidFill>
                      <a:srgbClr val="FFFFFF"/>
                    </a:solidFill>
                  </a:tcPr>
                </a:tc>
                <a:tc>
                  <a:txBody>
                    <a:bodyPr/>
                    <a:lstStyle/>
                    <a:p>
                      <a:pPr algn="r"/>
                      <a:r>
                        <a:rPr sz="950" b="1">
                          <a:solidFill>
                            <a:srgbClr val="6B7785"/>
                          </a:solidFill>
                          <a:latin typeface="Consolas"/>
                        </a:rPr>
                        <a:t>μKV</a:t>
                      </a:r>
                    </a:p>
                  </a:txBody>
                  <a:tcPr marL="45720" marR="45720" marT="0" marB="0">
                    <a:solidFill>
                      <a:srgbClr val="FFFFFF"/>
                    </a:solidFill>
                  </a:tcPr>
                </a:tc>
                <a:tc>
                  <a:txBody>
                    <a:bodyPr/>
                    <a:lstStyle/>
                    <a:p>
                      <a:pPr algn="r"/>
                      <a:r>
                        <a:rPr sz="950" b="1">
                          <a:solidFill>
                            <a:srgbClr val="6B7785"/>
                          </a:solidFill>
                          <a:latin typeface="Consolas"/>
                        </a:rPr>
                        <a:t>change</a:t>
                      </a:r>
                    </a:p>
                  </a:txBody>
                  <a:tcPr marL="45720" marR="45720" marT="0" marB="0">
                    <a:solidFill>
                      <a:srgbClr val="FFFFFF"/>
                    </a:solidFill>
                  </a:tcPr>
                </a:tc>
              </a:tr>
              <a:tr h="292608">
                <a:tc>
                  <a:txBody>
                    <a:bodyPr/>
                    <a:lstStyle/>
                    <a:p>
                      <a:pPr algn="l"/>
                      <a:r>
                        <a:rPr sz="1200" b="0">
                          <a:solidFill>
                            <a:srgbClr val="0C1116"/>
                          </a:solidFill>
                          <a:latin typeface="Arial"/>
                        </a:rPr>
                        <a:t>Peak cache ALLOCATED</a:t>
                      </a:r>
                    </a:p>
                  </a:txBody>
                  <a:tcPr marL="45720" marR="45720" marT="18000" marB="18000">
                    <a:solidFill>
                      <a:srgbClr val="FFFFFF"/>
                    </a:solidFill>
                  </a:tcPr>
                </a:tc>
                <a:tc>
                  <a:txBody>
                    <a:bodyPr/>
                    <a:lstStyle/>
                    <a:p>
                      <a:pPr algn="r"/>
                      <a:r>
                        <a:rPr sz="1200" b="0">
                          <a:solidFill>
                            <a:srgbClr val="0C1116"/>
                          </a:solidFill>
                          <a:latin typeface="Consolas"/>
                        </a:rPr>
                        <a:t>432 MB</a:t>
                      </a:r>
                    </a:p>
                  </a:txBody>
                  <a:tcPr marL="45720" marR="45720" marT="18000" marB="18000">
                    <a:solidFill>
                      <a:srgbClr val="FFFFFF"/>
                    </a:solidFill>
                  </a:tcPr>
                </a:tc>
                <a:tc>
                  <a:txBody>
                    <a:bodyPr/>
                    <a:lstStyle/>
                    <a:p>
                      <a:pPr algn="r"/>
                      <a:r>
                        <a:rPr sz="1200" b="0">
                          <a:solidFill>
                            <a:srgbClr val="0C1116"/>
                          </a:solidFill>
                          <a:latin typeface="Consolas"/>
                        </a:rPr>
                        <a:t>392 MB</a:t>
                      </a:r>
                    </a:p>
                  </a:txBody>
                  <a:tcPr marL="45720" marR="45720" marT="18000" marB="18000">
                    <a:solidFill>
                      <a:srgbClr val="FFFFFF"/>
                    </a:solidFill>
                  </a:tcPr>
                </a:tc>
                <a:tc>
                  <a:txBody>
                    <a:bodyPr/>
                    <a:lstStyle/>
                    <a:p>
                      <a:pPr algn="r"/>
                      <a:r>
                        <a:rPr sz="1200" b="0">
                          <a:solidFill>
                            <a:srgbClr val="0C1116"/>
                          </a:solidFill>
                          <a:latin typeface="Consolas"/>
                        </a:rPr>
                        <a:t>−9%</a:t>
                      </a:r>
                    </a:p>
                  </a:txBody>
                  <a:tcPr marL="45720" marR="45720" marT="18000" marB="18000">
                    <a:solidFill>
                      <a:srgbClr val="FFFFFF"/>
                    </a:solidFill>
                  </a:tcPr>
                </a:tc>
              </a:tr>
              <a:tr h="292608">
                <a:tc>
                  <a:txBody>
                    <a:bodyPr/>
                    <a:lstStyle/>
                    <a:p>
                      <a:pPr algn="l"/>
                      <a:r>
                        <a:rPr sz="1200" b="1">
                          <a:solidFill>
                            <a:srgbClr val="C4581A"/>
                          </a:solidFill>
                          <a:latin typeface="Arial"/>
                        </a:rPr>
                        <a:t>Cache READ per token</a:t>
                      </a:r>
                    </a:p>
                  </a:txBody>
                  <a:tcPr marL="45720" marR="45720" marT="18000" marB="18000">
                    <a:solidFill>
                      <a:srgbClr val="FDF0E6"/>
                    </a:solidFill>
                  </a:tcPr>
                </a:tc>
                <a:tc>
                  <a:txBody>
                    <a:bodyPr/>
                    <a:lstStyle/>
                    <a:p>
                      <a:pPr algn="r"/>
                      <a:r>
                        <a:rPr sz="1200" b="1">
                          <a:solidFill>
                            <a:srgbClr val="C4581A"/>
                          </a:solidFill>
                          <a:latin typeface="Consolas"/>
                        </a:rPr>
                        <a:t>304 MB</a:t>
                      </a:r>
                    </a:p>
                  </a:txBody>
                  <a:tcPr marL="45720" marR="45720" marT="18000" marB="18000">
                    <a:solidFill>
                      <a:srgbClr val="FDF0E6"/>
                    </a:solidFill>
                  </a:tcPr>
                </a:tc>
                <a:tc>
                  <a:txBody>
                    <a:bodyPr/>
                    <a:lstStyle/>
                    <a:p>
                      <a:pPr algn="r"/>
                      <a:r>
                        <a:rPr sz="1200" b="1">
                          <a:solidFill>
                            <a:srgbClr val="C4581A"/>
                          </a:solidFill>
                          <a:latin typeface="Consolas"/>
                        </a:rPr>
                        <a:t>23 MB</a:t>
                      </a:r>
                    </a:p>
                  </a:txBody>
                  <a:tcPr marL="45720" marR="45720" marT="18000" marB="18000">
                    <a:solidFill>
                      <a:srgbClr val="FDF0E6"/>
                    </a:solidFill>
                  </a:tcPr>
                </a:tc>
                <a:tc>
                  <a:txBody>
                    <a:bodyPr/>
                    <a:lstStyle/>
                    <a:p>
                      <a:pPr algn="r"/>
                      <a:r>
                        <a:rPr sz="1200" b="1">
                          <a:solidFill>
                            <a:srgbClr val="C4581A"/>
                          </a:solidFill>
                          <a:latin typeface="Consolas"/>
                        </a:rPr>
                        <a:t>−93%</a:t>
                      </a:r>
                    </a:p>
                  </a:txBody>
                  <a:tcPr marL="45720" marR="45720" marT="18000" marB="18000">
                    <a:solidFill>
                      <a:srgbClr val="FDF0E6"/>
                    </a:solidFill>
                  </a:tcPr>
                </a:tc>
              </a:tr>
            </a:tbl>
          </a:graphicData>
        </a:graphic>
      </p:graphicFrame>
      <p:sp>
        <p:nvSpPr>
          <p:cNvPr id="9" name="Rounded Rectangle 8"/>
          <p:cNvSpPr/>
          <p:nvPr/>
        </p:nvSpPr>
        <p:spPr>
          <a:xfrm>
            <a:off x="566928" y="3017520"/>
            <a:ext cx="6949440" cy="932688"/>
          </a:xfrm>
          <a:prstGeom prst="roundRect">
            <a:avLst>
              <a:gd name="adj" fmla="val 4000"/>
            </a:avLst>
          </a:prstGeom>
          <a:solidFill>
            <a:srgbClr val="E9F1F8"/>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072384"/>
            <a:ext cx="41148" cy="822960"/>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54680"/>
            <a:ext cx="6400800" cy="256032"/>
          </a:xfrm>
          <a:prstGeom prst="rect">
            <a:avLst/>
          </a:prstGeom>
          <a:noFill/>
        </p:spPr>
        <p:txBody>
          <a:bodyPr wrap="square" lIns="0" rIns="0" tIns="0" bIns="0" anchor="t">
            <a:spAutoFit/>
          </a:bodyPr>
          <a:lstStyle/>
          <a:p>
            <a:pPr algn="l"/>
            <a:r>
              <a:rPr sz="950" b="1" i="0" spc="120">
                <a:solidFill>
                  <a:srgbClr val="2B6CA3"/>
                </a:solidFill>
                <a:latin typeface="Consolas"/>
              </a:rPr>
              <a:t>WHAT COMPACTION IS</a:t>
            </a:r>
          </a:p>
        </p:txBody>
      </p:sp>
      <p:sp>
        <p:nvSpPr>
          <p:cNvPr id="12" name="TextBox 11"/>
          <p:cNvSpPr txBox="1"/>
          <p:nvPr/>
        </p:nvSpPr>
        <p:spPr>
          <a:xfrm>
            <a:off x="868680" y="3474720"/>
            <a:ext cx="6400800" cy="502920"/>
          </a:xfrm>
          <a:prstGeom prst="rect">
            <a:avLst/>
          </a:prstGeom>
          <a:noFill/>
        </p:spPr>
        <p:txBody>
          <a:bodyPr wrap="square" lIns="0" rIns="0" tIns="0" bIns="0" anchor="t">
            <a:spAutoFit/>
          </a:bodyPr>
          <a:lstStyle/>
          <a:p>
            <a:pPr algn="l">
              <a:lnSpc>
                <a:spcPct val="130000"/>
              </a:lnSpc>
            </a:pPr>
            <a:r>
              <a:rPr sz="1150" b="0" i="0">
                <a:solidFill>
                  <a:srgbClr val="0C1116"/>
                </a:solidFill>
                <a:latin typeface="Arial"/>
              </a:rPr>
              <a:t>Selection marks which cells to keep. Compaction slides those survivors into one contiguous block at the front of the cache, inside tensors the engine already holds.</a:t>
            </a:r>
          </a:p>
        </p:txBody>
      </p:sp>
      <p:sp>
        <p:nvSpPr>
          <p:cNvPr id="13" name="TextBox 12"/>
          <p:cNvSpPr txBox="1"/>
          <p:nvPr/>
        </p:nvSpPr>
        <p:spPr>
          <a:xfrm>
            <a:off x="566928" y="4114800"/>
            <a:ext cx="6949440" cy="822960"/>
          </a:xfrm>
          <a:prstGeom prst="rect">
            <a:avLst/>
          </a:prstGeom>
          <a:noFill/>
        </p:spPr>
        <p:txBody>
          <a:bodyPr wrap="square" lIns="0" rIns="0" tIns="0" bIns="0" anchor="t">
            <a:spAutoFit/>
          </a:bodyPr>
          <a:lstStyle/>
          <a:p>
            <a:pPr algn="l">
              <a:lnSpc>
                <a:spcPct val="135000"/>
              </a:lnSpc>
            </a:pPr>
            <a:r>
              <a:rPr sz="1200" b="0" i="0">
                <a:solidFill>
                  <a:srgbClr val="38424E"/>
                </a:solidFill>
                <a:latin typeface="Arial"/>
              </a:rPr>
              <a:t>The engine reserves the whole context up front, so peak memory barely moves. What changes is how much of it the device touches on every decoded token, and that is where the speed and the energy come from. New since: because compaction leaves the dead cells contiguous, madvise hands 485.8 MiB back to the OS, ending the run 444 MiB below vanilla with byte-identical output.</a:t>
            </a:r>
          </a:p>
        </p:txBody>
      </p:sp>
      <p:sp>
        <p:nvSpPr>
          <p:cNvPr id="14" name="Rounded Rectangle 13"/>
          <p:cNvSpPr/>
          <p:nvPr/>
        </p:nvSpPr>
        <p:spPr>
          <a:xfrm>
            <a:off x="566928" y="4956048"/>
            <a:ext cx="6949440" cy="914400"/>
          </a:xfrm>
          <a:prstGeom prst="roundRect">
            <a:avLst>
              <a:gd name="adj" fmla="val 4000"/>
            </a:avLst>
          </a:prstGeom>
          <a:solidFill>
            <a:srgbClr val="E7F4E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5010912"/>
            <a:ext cx="41148" cy="804672"/>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084064"/>
            <a:ext cx="6400800" cy="274320"/>
          </a:xfrm>
          <a:prstGeom prst="rect">
            <a:avLst/>
          </a:prstGeom>
          <a:noFill/>
        </p:spPr>
        <p:txBody>
          <a:bodyPr wrap="square" lIns="0" rIns="0" tIns="0" bIns="0" anchor="t">
            <a:spAutoFit/>
          </a:bodyPr>
          <a:lstStyle/>
          <a:p>
            <a:pPr algn="l"/>
            <a:r>
              <a:rPr sz="950" b="1" i="0" spc="120">
                <a:solidFill>
                  <a:srgbClr val="1A7A58"/>
                </a:solidFill>
                <a:latin typeface="Consolas"/>
              </a:rPr>
              <a:t>WHY COMPACTION IS STILL NECESSARY</a:t>
            </a:r>
          </a:p>
        </p:txBody>
      </p:sp>
      <p:sp>
        <p:nvSpPr>
          <p:cNvPr id="17" name="TextBox 16"/>
          <p:cNvSpPr txBox="1"/>
          <p:nvPr/>
        </p:nvSpPr>
        <p:spPr>
          <a:xfrm>
            <a:off x="868680" y="5376672"/>
            <a:ext cx="6400800" cy="457200"/>
          </a:xfrm>
          <a:prstGeom prst="rect">
            <a:avLst/>
          </a:prstGeom>
          <a:noFill/>
        </p:spPr>
        <p:txBody>
          <a:bodyPr wrap="square" lIns="0" rIns="0" tIns="0" bIns="0" anchor="t">
            <a:spAutoFit/>
          </a:bodyPr>
          <a:lstStyle/>
          <a:p>
            <a:pPr algn="l">
              <a:lnSpc>
                <a:spcPct val="132000"/>
              </a:lnSpc>
            </a:pPr>
            <a:r>
              <a:rPr sz="1150" b="0" i="0">
                <a:solidFill>
                  <a:srgbClr val="0C1116"/>
                </a:solidFill>
                <a:latin typeface="Arial"/>
              </a:rPr>
              <a:t>If the survivors stay scattered, the engine still walks the whole array every token. Packing them into one contiguous block is what turns 'dropped' into 'never read again'.</a:t>
            </a:r>
          </a:p>
        </p:txBody>
      </p:sp>
      <p:sp>
        <p:nvSpPr>
          <p:cNvPr id="18" name="Rounded Rectangle 17"/>
          <p:cNvSpPr/>
          <p:nvPr/>
        </p:nvSpPr>
        <p:spPr>
          <a:xfrm>
            <a:off x="7772400" y="1783080"/>
            <a:ext cx="3858768" cy="406908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1837943"/>
            <a:ext cx="41148" cy="395935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1965960"/>
            <a:ext cx="3291840" cy="274320"/>
          </a:xfrm>
          <a:prstGeom prst="rect">
            <a:avLst/>
          </a:prstGeom>
          <a:noFill/>
        </p:spPr>
        <p:txBody>
          <a:bodyPr wrap="square" lIns="0" rIns="0" tIns="0" bIns="0" anchor="t">
            <a:spAutoFit/>
          </a:bodyPr>
          <a:lstStyle/>
          <a:p>
            <a:pPr algn="l"/>
            <a:r>
              <a:rPr sz="950" b="1" i="0" spc="120">
                <a:solidFill>
                  <a:srgbClr val="C4581A"/>
                </a:solidFill>
                <a:latin typeface="Consolas"/>
              </a:rPr>
              <a:t>AND IT IS SAFE</a:t>
            </a:r>
          </a:p>
        </p:txBody>
      </p:sp>
      <p:sp>
        <p:nvSpPr>
          <p:cNvPr id="21" name="TextBox 20"/>
          <p:cNvSpPr txBox="1"/>
          <p:nvPr/>
        </p:nvSpPr>
        <p:spPr>
          <a:xfrm>
            <a:off x="8046720" y="2377440"/>
            <a:ext cx="3291840" cy="548640"/>
          </a:xfrm>
          <a:prstGeom prst="rect">
            <a:avLst/>
          </a:prstGeom>
          <a:noFill/>
        </p:spPr>
        <p:txBody>
          <a:bodyPr wrap="square" lIns="0" rIns="0" tIns="0" bIns="0" anchor="t">
            <a:spAutoFit/>
          </a:bodyPr>
          <a:lstStyle/>
          <a:p>
            <a:pPr algn="l"/>
            <a:r>
              <a:rPr sz="3000" b="1" i="0">
                <a:solidFill>
                  <a:srgbClr val="C4581A"/>
                </a:solidFill>
                <a:latin typeface="Consolas"/>
              </a:rPr>
              <a:t>23 of 25</a:t>
            </a:r>
          </a:p>
        </p:txBody>
      </p:sp>
      <p:sp>
        <p:nvSpPr>
          <p:cNvPr id="22" name="TextBox 21"/>
          <p:cNvSpPr txBox="1"/>
          <p:nvPr/>
        </p:nvSpPr>
        <p:spPr>
          <a:xfrm>
            <a:off x="8046720" y="3017520"/>
            <a:ext cx="3291840" cy="1554480"/>
          </a:xfrm>
          <a:prstGeom prst="rect">
            <a:avLst/>
          </a:prstGeom>
          <a:noFill/>
        </p:spPr>
        <p:txBody>
          <a:bodyPr wrap="square" lIns="0" rIns="0" tIns="0" bIns="0" anchor="t">
            <a:spAutoFit/>
          </a:bodyPr>
          <a:lstStyle/>
          <a:p>
            <a:pPr algn="l">
              <a:lnSpc>
                <a:spcPct val="135000"/>
              </a:lnSpc>
            </a:pPr>
            <a:r>
              <a:rPr sz="1100" b="0" i="0">
                <a:solidFill>
                  <a:srgbClr val="38424E"/>
                </a:solidFill>
                <a:latin typeface="Arial"/>
              </a:rPr>
              <a:t>generations byte-for-byte identical to the same run without compaction, across Llama-1B, Phi-3 and Bonsai-8B, with the keep-set held identical so compaction is the only variable.</a:t>
            </a:r>
          </a:p>
        </p:txBody>
      </p:sp>
      <p:sp>
        <p:nvSpPr>
          <p:cNvPr id="23" name="TextBox 22"/>
          <p:cNvSpPr txBox="1"/>
          <p:nvPr/>
        </p:nvSpPr>
        <p:spPr>
          <a:xfrm>
            <a:off x="8046720" y="4617720"/>
            <a:ext cx="3291840" cy="1097280"/>
          </a:xfrm>
          <a:prstGeom prst="rect">
            <a:avLst/>
          </a:prstGeom>
          <a:noFill/>
        </p:spPr>
        <p:txBody>
          <a:bodyPr wrap="square" lIns="0" rIns="0" tIns="0" bIns="0" anchor="t">
            <a:spAutoFit/>
          </a:bodyPr>
          <a:lstStyle/>
          <a:p>
            <a:pPr algn="l">
              <a:lnSpc>
                <a:spcPct val="130000"/>
              </a:lnSpc>
            </a:pPr>
            <a:r>
              <a:rPr sz="1050" b="0" i="0">
                <a:solidFill>
                  <a:srgbClr val="6B7785"/>
                </a:solidFill>
                <a:latin typeface="Arial"/>
              </a:rPr>
              <a:t>The two exceptions differ by a trailing full stop and by text after the answer. Sliding survivors keeps their positions, so the maths is unchanged.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RESULTS · QUALITY</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12</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RESULT · QUALITY AND RETRIEVAL</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Always read the score next to how much cache was kept</a:t>
            </a:r>
          </a:p>
        </p:txBody>
      </p:sp>
      <p:sp>
        <p:nvSpPr>
          <p:cNvPr id="7" name="Rounded Rectangle 6"/>
          <p:cNvSpPr/>
          <p:nvPr/>
        </p:nvSpPr>
        <p:spPr>
          <a:xfrm>
            <a:off x="566928" y="1737360"/>
            <a:ext cx="5394960" cy="310896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01952"/>
            <a:ext cx="4846320" cy="274320"/>
          </a:xfrm>
          <a:prstGeom prst="rect">
            <a:avLst/>
          </a:prstGeom>
          <a:noFill/>
        </p:spPr>
        <p:txBody>
          <a:bodyPr wrap="square" lIns="0" rIns="0" tIns="0" bIns="0" anchor="t">
            <a:spAutoFit/>
          </a:bodyPr>
          <a:lstStyle/>
          <a:p>
            <a:pPr algn="l"/>
            <a:r>
              <a:rPr sz="1250" b="1" i="0">
                <a:solidFill>
                  <a:srgbClr val="0C1116"/>
                </a:solidFill>
                <a:latin typeface="Arial"/>
              </a:rPr>
              <a:t>Finding a fact hidden in a long document</a:t>
            </a:r>
          </a:p>
        </p:txBody>
      </p:sp>
      <p:sp>
        <p:nvSpPr>
          <p:cNvPr id="9" name="TextBox 8"/>
          <p:cNvSpPr txBox="1"/>
          <p:nvPr/>
        </p:nvSpPr>
        <p:spPr>
          <a:xfrm>
            <a:off x="868680" y="2176272"/>
            <a:ext cx="4846320" cy="237744"/>
          </a:xfrm>
          <a:prstGeom prst="rect">
            <a:avLst/>
          </a:prstGeom>
          <a:noFill/>
        </p:spPr>
        <p:txBody>
          <a:bodyPr wrap="square" lIns="0" rIns="0" tIns="0" bIns="0" anchor="t">
            <a:spAutoFit/>
          </a:bodyPr>
          <a:lstStyle/>
          <a:p>
            <a:pPr algn="l"/>
            <a:r>
              <a:rPr sz="950" b="0" i="0">
                <a:solidFill>
                  <a:srgbClr val="2B6CA3"/>
                </a:solidFill>
                <a:latin typeface="Consolas"/>
              </a:rPr>
              <a:t>Llama-3.2-1B · phone GPU · 14 stimuli x 7 depths</a:t>
            </a:r>
          </a:p>
        </p:txBody>
      </p:sp>
      <p:graphicFrame>
        <p:nvGraphicFramePr>
          <p:cNvPr id="10" name="Table 9"/>
          <p:cNvGraphicFramePr>
            <a:graphicFrameLocks noGrp="1"/>
          </p:cNvGraphicFramePr>
          <p:nvPr/>
        </p:nvGraphicFramePr>
        <p:xfrm>
          <a:off x="868680" y="2487168"/>
          <a:ext cx="4800598" cy="1463040"/>
        </p:xfrm>
        <a:graphic>
          <a:graphicData uri="http://schemas.openxmlformats.org/drawingml/2006/table">
            <a:tbl>
              <a:tblPr firstRow="1" bandRow="1">
                <a:tableStyleId>{5C22544A-7EE6-4342-B048-85BDC9FD1C3A}</a:tableStyleId>
              </a:tblPr>
              <a:tblGrid>
                <a:gridCol w="1689100"/>
                <a:gridCol w="977899"/>
                <a:gridCol w="888999"/>
                <a:gridCol w="1244600"/>
              </a:tblGrid>
              <a:tr h="292608">
                <a:tc>
                  <a:txBody>
                    <a:bodyPr/>
                    <a:lstStyle/>
                    <a:p>
                      <a:pPr algn="l"/>
                      <a:r>
                        <a:rPr sz="950" b="1">
                          <a:solidFill>
                            <a:srgbClr val="6B7785"/>
                          </a:solidFill>
                          <a:latin typeface="Consolas"/>
                        </a:rPr>
                        <a:t>Policy</a:t>
                      </a:r>
                    </a:p>
                  </a:txBody>
                  <a:tcPr marL="45720" marR="45720" marT="0" marB="0">
                    <a:solidFill>
                      <a:srgbClr val="FFFFFF"/>
                    </a:solidFill>
                  </a:tcPr>
                </a:tc>
                <a:tc>
                  <a:txBody>
                    <a:bodyPr/>
                    <a:lstStyle/>
                    <a:p>
                      <a:pPr algn="r"/>
                      <a:r>
                        <a:rPr sz="950" b="1">
                          <a:solidFill>
                            <a:srgbClr val="6B7785"/>
                          </a:solidFill>
                          <a:latin typeface="Consolas"/>
                        </a:rPr>
                        <a:t>budget</a:t>
                      </a:r>
                    </a:p>
                  </a:txBody>
                  <a:tcPr marL="45720" marR="45720" marT="0" marB="0">
                    <a:solidFill>
                      <a:srgbClr val="FFFFFF"/>
                    </a:solidFill>
                  </a:tcPr>
                </a:tc>
                <a:tc>
                  <a:txBody>
                    <a:bodyPr/>
                    <a:lstStyle/>
                    <a:p>
                      <a:pPr algn="r"/>
                      <a:r>
                        <a:rPr sz="950" b="1">
                          <a:solidFill>
                            <a:srgbClr val="6B7785"/>
                          </a:solidFill>
                          <a:latin typeface="Consolas"/>
                        </a:rPr>
                        <a:t>found</a:t>
                      </a:r>
                    </a:p>
                  </a:txBody>
                  <a:tcPr marL="45720" marR="45720" marT="0" marB="0">
                    <a:solidFill>
                      <a:srgbClr val="FFFFFF"/>
                    </a:solidFill>
                  </a:tcPr>
                </a:tc>
                <a:tc>
                  <a:txBody>
                    <a:bodyPr/>
                    <a:lstStyle/>
                    <a:p>
                      <a:pPr algn="r"/>
                      <a:r>
                        <a:rPr sz="950" b="1">
                          <a:solidFill>
                            <a:srgbClr val="6B7785"/>
                          </a:solidFill>
                          <a:latin typeface="Consolas"/>
                        </a:rPr>
                        <a:t>kept</a:t>
                      </a:r>
                    </a:p>
                  </a:txBody>
                  <a:tcPr marL="45720" marR="45720" marT="0" marB="0">
                    <a:solidFill>
                      <a:srgbClr val="FFFFFF"/>
                    </a:solidFill>
                  </a:tcPr>
                </a:tc>
              </a:tr>
              <a:tr h="292608">
                <a:tc>
                  <a:txBody>
                    <a:bodyPr/>
                    <a:lstStyle/>
                    <a:p>
                      <a:pPr algn="l"/>
                      <a:r>
                        <a:rPr sz="1100" b="1">
                          <a:solidFill>
                            <a:srgbClr val="C4581A"/>
                          </a:solidFill>
                          <a:latin typeface="Arial"/>
                        </a:rPr>
                        <a:t>μKV</a:t>
                      </a:r>
                    </a:p>
                  </a:txBody>
                  <a:tcPr marL="45720" marR="45720" marT="18000" marB="18000">
                    <a:solidFill>
                      <a:srgbClr val="FDF0E6"/>
                    </a:solidFill>
                  </a:tcPr>
                </a:tc>
                <a:tc>
                  <a:txBody>
                    <a:bodyPr/>
                    <a:lstStyle/>
                    <a:p>
                      <a:pPr algn="r"/>
                      <a:r>
                        <a:rPr sz="1100" b="1">
                          <a:solidFill>
                            <a:srgbClr val="C4581A"/>
                          </a:solidFill>
                          <a:latin typeface="Consolas"/>
                        </a:rPr>
                        <a:t>1024</a:t>
                      </a:r>
                    </a:p>
                  </a:txBody>
                  <a:tcPr marL="45720" marR="45720" marT="18000" marB="18000">
                    <a:solidFill>
                      <a:srgbClr val="FDF0E6"/>
                    </a:solidFill>
                  </a:tcPr>
                </a:tc>
                <a:tc>
                  <a:txBody>
                    <a:bodyPr/>
                    <a:lstStyle/>
                    <a:p>
                      <a:pPr algn="r"/>
                      <a:r>
                        <a:rPr sz="1100" b="1">
                          <a:solidFill>
                            <a:srgbClr val="C4581A"/>
                          </a:solidFill>
                          <a:latin typeface="Consolas"/>
                        </a:rPr>
                        <a:t>14/14</a:t>
                      </a:r>
                    </a:p>
                  </a:txBody>
                  <a:tcPr marL="45720" marR="45720" marT="18000" marB="18000">
                    <a:solidFill>
                      <a:srgbClr val="FDF0E6"/>
                    </a:solidFill>
                  </a:tcPr>
                </a:tc>
                <a:tc>
                  <a:txBody>
                    <a:bodyPr/>
                    <a:lstStyle/>
                    <a:p>
                      <a:pPr algn="r"/>
                      <a:r>
                        <a:rPr sz="1100" b="1">
                          <a:solidFill>
                            <a:srgbClr val="C4581A"/>
                          </a:solidFill>
                          <a:latin typeface="Consolas"/>
                        </a:rPr>
                        <a:t>13.0%</a:t>
                      </a:r>
                    </a:p>
                  </a:txBody>
                  <a:tcPr marL="45720" marR="45720" marT="18000" marB="18000">
                    <a:solidFill>
                      <a:srgbClr val="FDF0E6"/>
                    </a:solidFill>
                  </a:tcPr>
                </a:tc>
              </a:tr>
              <a:tr h="292608">
                <a:tc>
                  <a:txBody>
                    <a:bodyPr/>
                    <a:lstStyle/>
                    <a:p>
                      <a:pPr algn="l"/>
                      <a:r>
                        <a:rPr sz="1100" b="0">
                          <a:solidFill>
                            <a:srgbClr val="0C1116"/>
                          </a:solidFill>
                          <a:latin typeface="Arial"/>
                        </a:rPr>
                        <a:t>vanilla</a:t>
                      </a:r>
                    </a:p>
                  </a:txBody>
                  <a:tcPr marL="45720" marR="45720" marT="18000" marB="18000">
                    <a:solidFill>
                      <a:srgbClr val="FFFFFF"/>
                    </a:solidFill>
                  </a:tcPr>
                </a:tc>
                <a:tc>
                  <a:txBody>
                    <a:bodyPr/>
                    <a:lstStyle/>
                    <a:p>
                      <a:pPr algn="r"/>
                      <a:r>
                        <a:rPr sz="1100" b="0">
                          <a:solidFill>
                            <a:srgbClr val="0C1116"/>
                          </a:solidFill>
                          <a:latin typeface="Consolas"/>
                        </a:rPr>
                        <a:t>full</a:t>
                      </a:r>
                    </a:p>
                  </a:txBody>
                  <a:tcPr marL="45720" marR="45720" marT="18000" marB="18000">
                    <a:solidFill>
                      <a:srgbClr val="FFFFFF"/>
                    </a:solidFill>
                  </a:tcPr>
                </a:tc>
                <a:tc>
                  <a:txBody>
                    <a:bodyPr/>
                    <a:lstStyle/>
                    <a:p>
                      <a:pPr algn="r"/>
                      <a:r>
                        <a:rPr sz="1100" b="0">
                          <a:solidFill>
                            <a:srgbClr val="0C1116"/>
                          </a:solidFill>
                          <a:latin typeface="Consolas"/>
                        </a:rPr>
                        <a:t>14/14</a:t>
                      </a:r>
                    </a:p>
                  </a:txBody>
                  <a:tcPr marL="45720" marR="45720" marT="18000" marB="18000">
                    <a:solidFill>
                      <a:srgbClr val="FFFFFF"/>
                    </a:solidFill>
                  </a:tcPr>
                </a:tc>
                <a:tc>
                  <a:txBody>
                    <a:bodyPr/>
                    <a:lstStyle/>
                    <a:p>
                      <a:pPr algn="r"/>
                      <a:r>
                        <a:rPr sz="1100" b="0">
                          <a:solidFill>
                            <a:srgbClr val="0C1116"/>
                          </a:solidFill>
                          <a:latin typeface="Consolas"/>
                        </a:rPr>
                        <a:t>100%</a:t>
                      </a:r>
                    </a:p>
                  </a:txBody>
                  <a:tcPr marL="45720" marR="45720" marT="18000" marB="18000">
                    <a:solidFill>
                      <a:srgbClr val="FFFFFF"/>
                    </a:solidFill>
                  </a:tcPr>
                </a:tc>
              </a:tr>
              <a:tr h="292608">
                <a:tc>
                  <a:txBody>
                    <a:bodyPr/>
                    <a:lstStyle/>
                    <a:p>
                      <a:pPr algn="l"/>
                      <a:r>
                        <a:rPr sz="1100" b="0">
                          <a:solidFill>
                            <a:srgbClr val="0C1116"/>
                          </a:solidFill>
                          <a:latin typeface="Arial"/>
                        </a:rPr>
                        <a:t>SnapKV</a:t>
                      </a:r>
                    </a:p>
                  </a:txBody>
                  <a:tcPr marL="45720" marR="45720" marT="18000" marB="18000">
                    <a:solidFill>
                      <a:srgbClr val="FFFFFF"/>
                    </a:solidFill>
                  </a:tcPr>
                </a:tc>
                <a:tc>
                  <a:txBody>
                    <a:bodyPr/>
                    <a:lstStyle/>
                    <a:p>
                      <a:pPr algn="r"/>
                      <a:r>
                        <a:rPr sz="1100" b="0">
                          <a:solidFill>
                            <a:srgbClr val="0C1116"/>
                          </a:solidFill>
                          <a:latin typeface="Consolas"/>
                        </a:rPr>
                        <a:t>1024</a:t>
                      </a:r>
                    </a:p>
                  </a:txBody>
                  <a:tcPr marL="45720" marR="45720" marT="18000" marB="18000">
                    <a:solidFill>
                      <a:srgbClr val="FFFFFF"/>
                    </a:solidFill>
                  </a:tcPr>
                </a:tc>
                <a:tc>
                  <a:txBody>
                    <a:bodyPr/>
                    <a:lstStyle/>
                    <a:p>
                      <a:pPr algn="r"/>
                      <a:r>
                        <a:rPr sz="1100" b="0">
                          <a:solidFill>
                            <a:srgbClr val="0C1116"/>
                          </a:solidFill>
                          <a:latin typeface="Consolas"/>
                        </a:rPr>
                        <a:t>12/14</a:t>
                      </a:r>
                    </a:p>
                  </a:txBody>
                  <a:tcPr marL="45720" marR="45720" marT="18000" marB="18000">
                    <a:solidFill>
                      <a:srgbClr val="FFFFFF"/>
                    </a:solidFill>
                  </a:tcPr>
                </a:tc>
                <a:tc>
                  <a:txBody>
                    <a:bodyPr/>
                    <a:lstStyle/>
                    <a:p>
                      <a:pPr algn="r"/>
                      <a:r>
                        <a:rPr sz="1100" b="0">
                          <a:solidFill>
                            <a:srgbClr val="0C1116"/>
                          </a:solidFill>
                          <a:latin typeface="Consolas"/>
                        </a:rPr>
                        <a:t>98.2%</a:t>
                      </a:r>
                    </a:p>
                  </a:txBody>
                  <a:tcPr marL="45720" marR="45720" marT="18000" marB="18000">
                    <a:solidFill>
                      <a:srgbClr val="FFFFFF"/>
                    </a:solidFill>
                  </a:tcPr>
                </a:tc>
              </a:tr>
              <a:tr h="292608">
                <a:tc>
                  <a:txBody>
                    <a:bodyPr/>
                    <a:lstStyle/>
                    <a:p>
                      <a:pPr algn="l"/>
                      <a:r>
                        <a:rPr sz="1100" b="0">
                          <a:solidFill>
                            <a:srgbClr val="0C1116"/>
                          </a:solidFill>
                          <a:latin typeface="Arial"/>
                        </a:rPr>
                        <a:t>StreamingLLM</a:t>
                      </a:r>
                    </a:p>
                  </a:txBody>
                  <a:tcPr marL="45720" marR="45720" marT="18000" marB="18000">
                    <a:solidFill>
                      <a:srgbClr val="FFFFFF"/>
                    </a:solidFill>
                  </a:tcPr>
                </a:tc>
                <a:tc>
                  <a:txBody>
                    <a:bodyPr/>
                    <a:lstStyle/>
                    <a:p>
                      <a:pPr algn="r"/>
                      <a:r>
                        <a:rPr sz="1100" b="0">
                          <a:solidFill>
                            <a:srgbClr val="0C1116"/>
                          </a:solidFill>
                          <a:latin typeface="Consolas"/>
                        </a:rPr>
                        <a:t>2004</a:t>
                      </a:r>
                    </a:p>
                  </a:txBody>
                  <a:tcPr marL="45720" marR="45720" marT="18000" marB="18000">
                    <a:solidFill>
                      <a:srgbClr val="FFFFFF"/>
                    </a:solidFill>
                  </a:tcPr>
                </a:tc>
                <a:tc>
                  <a:txBody>
                    <a:bodyPr/>
                    <a:lstStyle/>
                    <a:p>
                      <a:pPr algn="r"/>
                      <a:r>
                        <a:rPr sz="1100" b="0">
                          <a:solidFill>
                            <a:srgbClr val="0C1116"/>
                          </a:solidFill>
                          <a:latin typeface="Consolas"/>
                        </a:rPr>
                        <a:t>7/14</a:t>
                      </a:r>
                    </a:p>
                  </a:txBody>
                  <a:tcPr marL="45720" marR="45720" marT="18000" marB="18000">
                    <a:solidFill>
                      <a:srgbClr val="FFFFFF"/>
                    </a:solidFill>
                  </a:tcPr>
                </a:tc>
                <a:tc>
                  <a:txBody>
                    <a:bodyPr/>
                    <a:lstStyle/>
                    <a:p>
                      <a:pPr algn="r"/>
                      <a:r>
                        <a:rPr sz="1100" b="0">
                          <a:solidFill>
                            <a:srgbClr val="0C1116"/>
                          </a:solidFill>
                          <a:latin typeface="Consolas"/>
                        </a:rPr>
                        <a:t>32.9%</a:t>
                      </a:r>
                    </a:p>
                  </a:txBody>
                  <a:tcPr marL="45720" marR="45720" marT="18000" marB="18000">
                    <a:solidFill>
                      <a:srgbClr val="FFFFFF"/>
                    </a:solidFill>
                  </a:tcPr>
                </a:tc>
              </a:tr>
            </a:tbl>
          </a:graphicData>
        </a:graphic>
      </p:graphicFrame>
      <p:sp>
        <p:nvSpPr>
          <p:cNvPr id="11" name="TextBox 10"/>
          <p:cNvSpPr txBox="1"/>
          <p:nvPr/>
        </p:nvSpPr>
        <p:spPr>
          <a:xfrm>
            <a:off x="868680" y="4114800"/>
            <a:ext cx="4800600" cy="777240"/>
          </a:xfrm>
          <a:prstGeom prst="rect">
            <a:avLst/>
          </a:prstGeom>
          <a:noFill/>
        </p:spPr>
        <p:txBody>
          <a:bodyPr wrap="square" lIns="0" rIns="0" tIns="0" bIns="0" anchor="t">
            <a:spAutoFit/>
          </a:bodyPr>
          <a:lstStyle/>
          <a:p>
            <a:pPr algn="l">
              <a:lnSpc>
                <a:spcPct val="130000"/>
              </a:lnSpc>
            </a:pPr>
            <a:r>
              <a:rPr sz="1100" b="0" i="0">
                <a:solidFill>
                  <a:srgbClr val="38424E"/>
                </a:solidFill>
                <a:latin typeface="Arial"/>
              </a:rPr>
              <a:t>μKV finds every needle while keeping one eighth of the cache. StreamingLLM keeps 2.5× more and still loses half of them, because it keeps by position, not by evidence.</a:t>
            </a:r>
          </a:p>
        </p:txBody>
      </p:sp>
      <p:sp>
        <p:nvSpPr>
          <p:cNvPr id="12" name="Rounded Rectangle 11"/>
          <p:cNvSpPr/>
          <p:nvPr/>
        </p:nvSpPr>
        <p:spPr>
          <a:xfrm>
            <a:off x="6236208" y="1737360"/>
            <a:ext cx="5394960" cy="310896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792224"/>
            <a:ext cx="41148" cy="299923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901952"/>
            <a:ext cx="4846320" cy="274320"/>
          </a:xfrm>
          <a:prstGeom prst="rect">
            <a:avLst/>
          </a:prstGeom>
          <a:noFill/>
        </p:spPr>
        <p:txBody>
          <a:bodyPr wrap="square" lIns="0" rIns="0" tIns="0" bIns="0" anchor="t">
            <a:spAutoFit/>
          </a:bodyPr>
          <a:lstStyle/>
          <a:p>
            <a:pPr algn="l"/>
            <a:r>
              <a:rPr sz="1250" b="1" i="0">
                <a:solidFill>
                  <a:srgbClr val="0C1116"/>
                </a:solidFill>
                <a:latin typeface="Arial"/>
              </a:rPr>
              <a:t>Question answering (LongBench hotpotqa)</a:t>
            </a:r>
          </a:p>
        </p:txBody>
      </p:sp>
      <p:sp>
        <p:nvSpPr>
          <p:cNvPr id="15" name="TextBox 14"/>
          <p:cNvSpPr txBox="1"/>
          <p:nvPr/>
        </p:nvSpPr>
        <p:spPr>
          <a:xfrm>
            <a:off x="6537960" y="2176272"/>
            <a:ext cx="4846320" cy="237744"/>
          </a:xfrm>
          <a:prstGeom prst="rect">
            <a:avLst/>
          </a:prstGeom>
          <a:noFill/>
        </p:spPr>
        <p:txBody>
          <a:bodyPr wrap="square" lIns="0" rIns="0" tIns="0" bIns="0" anchor="t">
            <a:spAutoFit/>
          </a:bodyPr>
          <a:lstStyle/>
          <a:p>
            <a:pPr algn="l"/>
            <a:r>
              <a:rPr sz="950" b="0" i="0">
                <a:solidFill>
                  <a:srgbClr val="2B6CA3"/>
                </a:solidFill>
                <a:latin typeface="Consolas"/>
              </a:rPr>
              <a:t>Llama-3.2-1B · phone CPU · 15 questions</a:t>
            </a:r>
          </a:p>
        </p:txBody>
      </p:sp>
      <p:graphicFrame>
        <p:nvGraphicFramePr>
          <p:cNvPr id="16" name="Table 15"/>
          <p:cNvGraphicFramePr>
            <a:graphicFrameLocks noGrp="1"/>
          </p:cNvGraphicFramePr>
          <p:nvPr/>
        </p:nvGraphicFramePr>
        <p:xfrm>
          <a:off x="6537960" y="2487168"/>
          <a:ext cx="4800599" cy="1463040"/>
        </p:xfrm>
        <a:graphic>
          <a:graphicData uri="http://schemas.openxmlformats.org/drawingml/2006/table">
            <a:tbl>
              <a:tblPr firstRow="1" bandRow="1">
                <a:tableStyleId>{5C22544A-7EE6-4342-B048-85BDC9FD1C3A}</a:tableStyleId>
              </a:tblPr>
              <a:tblGrid>
                <a:gridCol w="2351314"/>
                <a:gridCol w="1175657"/>
                <a:gridCol w="1273628"/>
              </a:tblGrid>
              <a:tr h="292608">
                <a:tc>
                  <a:txBody>
                    <a:bodyPr/>
                    <a:lstStyle/>
                    <a:p>
                      <a:pPr algn="l"/>
                      <a:r>
                        <a:rPr sz="950" b="1">
                          <a:solidFill>
                            <a:srgbClr val="6B7785"/>
                          </a:solidFill>
                          <a:latin typeface="Consolas"/>
                        </a:rPr>
                        <a:t>Policy</a:t>
                      </a:r>
                    </a:p>
                  </a:txBody>
                  <a:tcPr marL="45720" marR="45720" marT="0" marB="0">
                    <a:solidFill>
                      <a:srgbClr val="FFFFFF"/>
                    </a:solidFill>
                  </a:tcPr>
                </a:tc>
                <a:tc>
                  <a:txBody>
                    <a:bodyPr/>
                    <a:lstStyle/>
                    <a:p>
                      <a:pPr algn="r"/>
                      <a:r>
                        <a:rPr sz="950" b="1">
                          <a:solidFill>
                            <a:srgbClr val="6B7785"/>
                          </a:solidFill>
                          <a:latin typeface="Consolas"/>
                        </a:rPr>
                        <a:t>F1</a:t>
                      </a:r>
                    </a:p>
                  </a:txBody>
                  <a:tcPr marL="45720" marR="45720" marT="0" marB="0">
                    <a:solidFill>
                      <a:srgbClr val="FFFFFF"/>
                    </a:solidFill>
                  </a:tcPr>
                </a:tc>
                <a:tc>
                  <a:txBody>
                    <a:bodyPr/>
                    <a:lstStyle/>
                    <a:p>
                      <a:pPr algn="r"/>
                      <a:r>
                        <a:rPr sz="950" b="1">
                          <a:solidFill>
                            <a:srgbClr val="6B7785"/>
                          </a:solidFill>
                          <a:latin typeface="Consolas"/>
                        </a:rPr>
                        <a:t>kept</a:t>
                      </a:r>
                    </a:p>
                  </a:txBody>
                  <a:tcPr marL="45720" marR="45720" marT="0" marB="0">
                    <a:solidFill>
                      <a:srgbClr val="FFFFFF"/>
                    </a:solidFill>
                  </a:tcPr>
                </a:tc>
              </a:tr>
              <a:tr h="292608">
                <a:tc>
                  <a:txBody>
                    <a:bodyPr/>
                    <a:lstStyle/>
                    <a:p>
                      <a:pPr algn="l"/>
                      <a:r>
                        <a:rPr sz="1100" b="0">
                          <a:solidFill>
                            <a:srgbClr val="0C1116"/>
                          </a:solidFill>
                          <a:latin typeface="Arial"/>
                        </a:rPr>
                        <a:t>SnapKV</a:t>
                      </a:r>
                    </a:p>
                  </a:txBody>
                  <a:tcPr marL="45720" marR="45720" marT="18000" marB="18000">
                    <a:solidFill>
                      <a:srgbClr val="FFFFFF"/>
                    </a:solidFill>
                  </a:tcPr>
                </a:tc>
                <a:tc>
                  <a:txBody>
                    <a:bodyPr/>
                    <a:lstStyle/>
                    <a:p>
                      <a:pPr algn="r"/>
                      <a:r>
                        <a:rPr sz="1100" b="0">
                          <a:solidFill>
                            <a:srgbClr val="0C1116"/>
                          </a:solidFill>
                          <a:latin typeface="Consolas"/>
                        </a:rPr>
                        <a:t>40.00</a:t>
                      </a:r>
                    </a:p>
                  </a:txBody>
                  <a:tcPr marL="45720" marR="45720" marT="18000" marB="18000">
                    <a:solidFill>
                      <a:srgbClr val="FFFFFF"/>
                    </a:solidFill>
                  </a:tcPr>
                </a:tc>
                <a:tc>
                  <a:txBody>
                    <a:bodyPr/>
                    <a:lstStyle/>
                    <a:p>
                      <a:pPr algn="r"/>
                      <a:r>
                        <a:rPr sz="1100" b="0">
                          <a:solidFill>
                            <a:srgbClr val="0C1116"/>
                          </a:solidFill>
                          <a:latin typeface="Consolas"/>
                        </a:rPr>
                        <a:t>89.1%</a:t>
                      </a:r>
                    </a:p>
                  </a:txBody>
                  <a:tcPr marL="45720" marR="45720" marT="18000" marB="18000">
                    <a:solidFill>
                      <a:srgbClr val="FFFFFF"/>
                    </a:solidFill>
                  </a:tcPr>
                </a:tc>
              </a:tr>
              <a:tr h="292608">
                <a:tc>
                  <a:txBody>
                    <a:bodyPr/>
                    <a:lstStyle/>
                    <a:p>
                      <a:pPr algn="l"/>
                      <a:r>
                        <a:rPr sz="1100" b="0">
                          <a:solidFill>
                            <a:srgbClr val="0C1116"/>
                          </a:solidFill>
                          <a:latin typeface="Arial"/>
                        </a:rPr>
                        <a:t>vanilla</a:t>
                      </a:r>
                    </a:p>
                  </a:txBody>
                  <a:tcPr marL="45720" marR="45720" marT="18000" marB="18000">
                    <a:solidFill>
                      <a:srgbClr val="FFFFFF"/>
                    </a:solidFill>
                  </a:tcPr>
                </a:tc>
                <a:tc>
                  <a:txBody>
                    <a:bodyPr/>
                    <a:lstStyle/>
                    <a:p>
                      <a:pPr algn="r"/>
                      <a:r>
                        <a:rPr sz="1100" b="0">
                          <a:solidFill>
                            <a:srgbClr val="0C1116"/>
                          </a:solidFill>
                          <a:latin typeface="Consolas"/>
                        </a:rPr>
                        <a:t>36.00</a:t>
                      </a:r>
                    </a:p>
                  </a:txBody>
                  <a:tcPr marL="45720" marR="45720" marT="18000" marB="18000">
                    <a:solidFill>
                      <a:srgbClr val="FFFFFF"/>
                    </a:solidFill>
                  </a:tcPr>
                </a:tc>
                <a:tc>
                  <a:txBody>
                    <a:bodyPr/>
                    <a:lstStyle/>
                    <a:p>
                      <a:pPr algn="r"/>
                      <a:r>
                        <a:rPr sz="1100" b="0">
                          <a:solidFill>
                            <a:srgbClr val="0C1116"/>
                          </a:solidFill>
                          <a:latin typeface="Consolas"/>
                        </a:rPr>
                        <a:t>100%</a:t>
                      </a:r>
                    </a:p>
                  </a:txBody>
                  <a:tcPr marL="45720" marR="45720" marT="18000" marB="18000">
                    <a:solidFill>
                      <a:srgbClr val="FFFFFF"/>
                    </a:solidFill>
                  </a:tcPr>
                </a:tc>
              </a:tr>
              <a:tr h="292608">
                <a:tc>
                  <a:txBody>
                    <a:bodyPr/>
                    <a:lstStyle/>
                    <a:p>
                      <a:pPr algn="l"/>
                      <a:r>
                        <a:rPr sz="1100" b="1">
                          <a:solidFill>
                            <a:srgbClr val="C4581A"/>
                          </a:solidFill>
                          <a:latin typeface="Arial"/>
                        </a:rPr>
                        <a:t>μKV</a:t>
                      </a:r>
                    </a:p>
                  </a:txBody>
                  <a:tcPr marL="45720" marR="45720" marT="18000" marB="18000">
                    <a:solidFill>
                      <a:srgbClr val="FDF0E6"/>
                    </a:solidFill>
                  </a:tcPr>
                </a:tc>
                <a:tc>
                  <a:txBody>
                    <a:bodyPr/>
                    <a:lstStyle/>
                    <a:p>
                      <a:pPr algn="r"/>
                      <a:r>
                        <a:rPr sz="1100" b="1">
                          <a:solidFill>
                            <a:srgbClr val="C4581A"/>
                          </a:solidFill>
                          <a:latin typeface="Consolas"/>
                        </a:rPr>
                        <a:t>29.79</a:t>
                      </a:r>
                    </a:p>
                  </a:txBody>
                  <a:tcPr marL="45720" marR="45720" marT="18000" marB="18000">
                    <a:solidFill>
                      <a:srgbClr val="FDF0E6"/>
                    </a:solidFill>
                  </a:tcPr>
                </a:tc>
                <a:tc>
                  <a:txBody>
                    <a:bodyPr/>
                    <a:lstStyle/>
                    <a:p>
                      <a:pPr algn="r"/>
                      <a:r>
                        <a:rPr sz="1100" b="1">
                          <a:solidFill>
                            <a:srgbClr val="C4581A"/>
                          </a:solidFill>
                          <a:latin typeface="Consolas"/>
                        </a:rPr>
                        <a:t>13.7%</a:t>
                      </a:r>
                    </a:p>
                  </a:txBody>
                  <a:tcPr marL="45720" marR="45720" marT="18000" marB="18000">
                    <a:solidFill>
                      <a:srgbClr val="FDF0E6"/>
                    </a:solidFill>
                  </a:tcPr>
                </a:tc>
              </a:tr>
              <a:tr h="292608">
                <a:tc>
                  <a:txBody>
                    <a:bodyPr/>
                    <a:lstStyle/>
                    <a:p>
                      <a:pPr algn="l"/>
                      <a:r>
                        <a:rPr sz="1100" b="0">
                          <a:solidFill>
                            <a:srgbClr val="0C1116"/>
                          </a:solidFill>
                          <a:latin typeface="Arial"/>
                        </a:rPr>
                        <a:t>StreamingLLM</a:t>
                      </a:r>
                    </a:p>
                  </a:txBody>
                  <a:tcPr marL="45720" marR="45720" marT="18000" marB="18000">
                    <a:solidFill>
                      <a:srgbClr val="FFFFFF"/>
                    </a:solidFill>
                  </a:tcPr>
                </a:tc>
                <a:tc>
                  <a:txBody>
                    <a:bodyPr/>
                    <a:lstStyle/>
                    <a:p>
                      <a:pPr algn="r"/>
                      <a:r>
                        <a:rPr sz="1100" b="0">
                          <a:solidFill>
                            <a:srgbClr val="0C1116"/>
                          </a:solidFill>
                          <a:latin typeface="Consolas"/>
                        </a:rPr>
                        <a:t>23.57</a:t>
                      </a:r>
                    </a:p>
                  </a:txBody>
                  <a:tcPr marL="45720" marR="45720" marT="18000" marB="18000">
                    <a:solidFill>
                      <a:srgbClr val="FFFFFF"/>
                    </a:solidFill>
                  </a:tcPr>
                </a:tc>
                <a:tc>
                  <a:txBody>
                    <a:bodyPr/>
                    <a:lstStyle/>
                    <a:p>
                      <a:pPr algn="r"/>
                      <a:r>
                        <a:rPr sz="1100" b="0">
                          <a:solidFill>
                            <a:srgbClr val="0C1116"/>
                          </a:solidFill>
                          <a:latin typeface="Consolas"/>
                        </a:rPr>
                        <a:t>19.5%</a:t>
                      </a:r>
                    </a:p>
                  </a:txBody>
                  <a:tcPr marL="45720" marR="45720" marT="18000" marB="18000">
                    <a:solidFill>
                      <a:srgbClr val="FFFFFF"/>
                    </a:solidFill>
                  </a:tcPr>
                </a:tc>
              </a:tr>
            </a:tbl>
          </a:graphicData>
        </a:graphic>
      </p:graphicFrame>
      <p:sp>
        <p:nvSpPr>
          <p:cNvPr id="17" name="TextBox 16"/>
          <p:cNvSpPr txBox="1"/>
          <p:nvPr/>
        </p:nvSpPr>
        <p:spPr>
          <a:xfrm>
            <a:off x="6537960" y="4114800"/>
            <a:ext cx="4800600" cy="777240"/>
          </a:xfrm>
          <a:prstGeom prst="rect">
            <a:avLst/>
          </a:prstGeom>
          <a:noFill/>
        </p:spPr>
        <p:txBody>
          <a:bodyPr wrap="square" lIns="0" rIns="0" tIns="0" bIns="0" anchor="t">
            <a:spAutoFit/>
          </a:bodyPr>
          <a:lstStyle/>
          <a:p>
            <a:pPr algn="l">
              <a:lnSpc>
                <a:spcPct val="130000"/>
              </a:lnSpc>
            </a:pPr>
            <a:r>
              <a:rPr sz="1100" b="0" i="0">
                <a:solidFill>
                  <a:srgbClr val="38424E"/>
                </a:solidFill>
                <a:latin typeface="Arial"/>
              </a:rPr>
              <a:t>Compared only against policies that actually evict, μKV is ahead: +6.2 F1 over StreamingLLM on less cache. The ones above it kept 6× more.</a:t>
            </a:r>
          </a:p>
        </p:txBody>
      </p:sp>
      <p:sp>
        <p:nvSpPr>
          <p:cNvPr id="18" name="Rounded Rectangle 17"/>
          <p:cNvSpPr/>
          <p:nvPr/>
        </p:nvSpPr>
        <p:spPr>
          <a:xfrm>
            <a:off x="566928" y="5029200"/>
            <a:ext cx="11064240" cy="914400"/>
          </a:xfrm>
          <a:prstGeom prst="roundRect">
            <a:avLst>
              <a:gd name="adj" fmla="val 4000"/>
            </a:avLst>
          </a:prstGeom>
          <a:solidFill>
            <a:srgbClr val="E9F1F8"/>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5084064"/>
            <a:ext cx="41148" cy="804672"/>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38928"/>
            <a:ext cx="10515600" cy="274320"/>
          </a:xfrm>
          <a:prstGeom prst="rect">
            <a:avLst/>
          </a:prstGeom>
          <a:noFill/>
        </p:spPr>
        <p:txBody>
          <a:bodyPr wrap="square" lIns="0" rIns="0" tIns="0" bIns="0" anchor="t">
            <a:spAutoFit/>
          </a:bodyPr>
          <a:lstStyle/>
          <a:p>
            <a:pPr algn="l"/>
            <a:r>
              <a:rPr sz="950" b="1" i="0" spc="120">
                <a:solidFill>
                  <a:srgbClr val="2B6CA3"/>
                </a:solidFill>
                <a:latin typeface="Consolas"/>
              </a:rPr>
              <a:t>BUT BE HONEST ABOUT THIS TABLE</a:t>
            </a:r>
          </a:p>
        </p:txBody>
      </p:sp>
      <p:sp>
        <p:nvSpPr>
          <p:cNvPr id="21" name="TextBox 20"/>
          <p:cNvSpPr txBox="1"/>
          <p:nvPr/>
        </p:nvSpPr>
        <p:spPr>
          <a:xfrm>
            <a:off x="868680" y="5440680"/>
            <a:ext cx="10515600" cy="457200"/>
          </a:xfrm>
          <a:prstGeom prst="rect">
            <a:avLst/>
          </a:prstGeom>
          <a:noFill/>
        </p:spPr>
        <p:txBody>
          <a:bodyPr wrap="square" lIns="0" rIns="0" tIns="0" bIns="0" anchor="t">
            <a:spAutoFit/>
          </a:bodyPr>
          <a:lstStyle/>
          <a:p>
            <a:pPr algn="l"/>
            <a:r>
              <a:rPr sz="1200" b="0" i="0">
                <a:solidFill>
                  <a:srgbClr val="0C1116"/>
                </a:solidFill>
                <a:latin typeface="Arial"/>
              </a:rPr>
              <a:t>With only 15 questions, one question changes the score by 6.7 points. μKV and vanilla answer 13 of 15 identically. The F1 ranking here is not a real difference; the retention column 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RESULTS · THERMAL</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13</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RESULT · THERMAL</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The watchdog gives back whatever the workload is short of</a:t>
            </a:r>
          </a:p>
        </p:txBody>
      </p:sp>
      <p:sp>
        <p:nvSpPr>
          <p:cNvPr id="7" name="TextBox 6"/>
          <p:cNvSpPr txBox="1"/>
          <p:nvPr/>
        </p:nvSpPr>
        <p:spPr>
          <a:xfrm>
            <a:off x="566928" y="1627632"/>
            <a:ext cx="6766560" cy="256032"/>
          </a:xfrm>
          <a:prstGeom prst="rect">
            <a:avLst/>
          </a:prstGeom>
          <a:noFill/>
        </p:spPr>
        <p:txBody>
          <a:bodyPr wrap="square" lIns="0" rIns="0" tIns="0" bIns="0" anchor="t">
            <a:spAutoFit/>
          </a:bodyPr>
          <a:lstStyle/>
          <a:p>
            <a:pPr algn="l"/>
            <a:r>
              <a:rPr sz="1050" b="1" i="0">
                <a:solidFill>
                  <a:srgbClr val="2B6CA3"/>
                </a:solidFill>
                <a:latin typeface="Consolas"/>
              </a:rPr>
              <a:t>Llama-3.2-1B · phone CPU · six back-to-back 16K generations</a:t>
            </a:r>
          </a:p>
        </p:txBody>
      </p:sp>
      <p:graphicFrame>
        <p:nvGraphicFramePr>
          <p:cNvPr id="8" name="Table 7"/>
          <p:cNvGraphicFramePr>
            <a:graphicFrameLocks noGrp="1"/>
          </p:cNvGraphicFramePr>
          <p:nvPr/>
        </p:nvGraphicFramePr>
        <p:xfrm>
          <a:off x="566928" y="1901952"/>
          <a:ext cx="6766556" cy="1755648"/>
        </p:xfrm>
        <a:graphic>
          <a:graphicData uri="http://schemas.openxmlformats.org/drawingml/2006/table">
            <a:tbl>
              <a:tblPr firstRow="1" bandRow="1">
                <a:tableStyleId>{5C22544A-7EE6-4342-B048-85BDC9FD1C3A}</a:tableStyleId>
              </a:tblPr>
              <a:tblGrid>
                <a:gridCol w="1470991"/>
                <a:gridCol w="1078726"/>
                <a:gridCol w="980660"/>
                <a:gridCol w="1078726"/>
                <a:gridCol w="980660"/>
                <a:gridCol w="1176793"/>
              </a:tblGrid>
              <a:tr h="292608">
                <a:tc>
                  <a:txBody>
                    <a:bodyPr/>
                    <a:lstStyle/>
                    <a:p>
                      <a:pPr algn="l"/>
                      <a:r>
                        <a:rPr sz="950" b="1">
                          <a:solidFill>
                            <a:srgbClr val="6B7785"/>
                          </a:solidFill>
                          <a:latin typeface="Consolas"/>
                        </a:rPr>
                        <a:t>Run</a:t>
                      </a:r>
                    </a:p>
                  </a:txBody>
                  <a:tcPr marL="45720" marR="45720" marT="0" marB="0">
                    <a:solidFill>
                      <a:srgbClr val="FFFFFF"/>
                    </a:solidFill>
                  </a:tcPr>
                </a:tc>
                <a:tc>
                  <a:txBody>
                    <a:bodyPr/>
                    <a:lstStyle/>
                    <a:p>
                      <a:pPr algn="r"/>
                      <a:r>
                        <a:rPr sz="950" b="1">
                          <a:solidFill>
                            <a:srgbClr val="6B7785"/>
                          </a:solidFill>
                          <a:latin typeface="Consolas"/>
                        </a:rPr>
                        <a:t>trigger</a:t>
                      </a:r>
                    </a:p>
                  </a:txBody>
                  <a:tcPr marL="45720" marR="45720" marT="0" marB="0">
                    <a:solidFill>
                      <a:srgbClr val="FFFFFF"/>
                    </a:solidFill>
                  </a:tcPr>
                </a:tc>
                <a:tc>
                  <a:txBody>
                    <a:bodyPr/>
                    <a:lstStyle/>
                    <a:p>
                      <a:pPr algn="r"/>
                      <a:r>
                        <a:rPr sz="950" b="1">
                          <a:solidFill>
                            <a:srgbClr val="6B7785"/>
                          </a:solidFill>
                          <a:latin typeface="Consolas"/>
                        </a:rPr>
                        <a:t>1st gen</a:t>
                      </a:r>
                    </a:p>
                  </a:txBody>
                  <a:tcPr marL="45720" marR="45720" marT="0" marB="0">
                    <a:solidFill>
                      <a:srgbClr val="FFFFFF"/>
                    </a:solidFill>
                  </a:tcPr>
                </a:tc>
                <a:tc>
                  <a:txBody>
                    <a:bodyPr/>
                    <a:lstStyle/>
                    <a:p>
                      <a:pPr algn="r"/>
                      <a:r>
                        <a:rPr sz="950" b="1">
                          <a:solidFill>
                            <a:srgbClr val="6B7785"/>
                          </a:solidFill>
                          <a:latin typeface="Consolas"/>
                        </a:rPr>
                        <a:t>later</a:t>
                      </a:r>
                    </a:p>
                  </a:txBody>
                  <a:tcPr marL="45720" marR="45720" marT="0" marB="0">
                    <a:solidFill>
                      <a:srgbClr val="FFFFFF"/>
                    </a:solidFill>
                  </a:tcPr>
                </a:tc>
                <a:tc>
                  <a:txBody>
                    <a:bodyPr/>
                    <a:lstStyle/>
                    <a:p>
                      <a:pPr algn="r"/>
                      <a:r>
                        <a:rPr sz="950" b="1">
                          <a:solidFill>
                            <a:srgbClr val="6B7785"/>
                          </a:solidFill>
                          <a:latin typeface="Consolas"/>
                        </a:rPr>
                        <a:t>at floor</a:t>
                      </a:r>
                    </a:p>
                  </a:txBody>
                  <a:tcPr marL="45720" marR="45720" marT="0" marB="0">
                    <a:solidFill>
                      <a:srgbClr val="FFFFFF"/>
                    </a:solidFill>
                  </a:tcPr>
                </a:tc>
                <a:tc>
                  <a:txBody>
                    <a:bodyPr/>
                    <a:lstStyle/>
                    <a:p>
                      <a:pPr algn="r"/>
                      <a:r>
                        <a:rPr sz="950" b="1">
                          <a:solidFill>
                            <a:srgbClr val="6B7785"/>
                          </a:solidFill>
                          <a:latin typeface="Consolas"/>
                        </a:rPr>
                        <a:t>peak DDR</a:t>
                      </a:r>
                    </a:p>
                  </a:txBody>
                  <a:tcPr marL="45720" marR="45720" marT="0" marB="0">
                    <a:solidFill>
                      <a:srgbClr val="FFFFFF"/>
                    </a:solidFill>
                  </a:tcPr>
                </a:tc>
              </a:tr>
              <a:tr h="292608">
                <a:tc>
                  <a:txBody>
                    <a:bodyPr/>
                    <a:lstStyle/>
                    <a:p>
                      <a:pPr algn="l"/>
                      <a:r>
                        <a:rPr sz="1100" b="0">
                          <a:solidFill>
                            <a:srgbClr val="0C1116"/>
                          </a:solidFill>
                          <a:latin typeface="Arial"/>
                        </a:rPr>
                        <a:t>vanilla</a:t>
                      </a:r>
                    </a:p>
                  </a:txBody>
                  <a:tcPr marL="45720" marR="45720" marT="18000" marB="18000">
                    <a:solidFill>
                      <a:srgbClr val="FFFFFF"/>
                    </a:solidFill>
                  </a:tcPr>
                </a:tc>
                <a:tc>
                  <a:txBody>
                    <a:bodyPr/>
                    <a:lstStyle/>
                    <a:p>
                      <a:pPr algn="r"/>
                      <a:r>
                        <a:rPr sz="1100" b="0">
                          <a:solidFill>
                            <a:srgbClr val="0C1116"/>
                          </a:solidFill>
                          <a:latin typeface="Consolas"/>
                        </a:rPr>
                        <a:t>off</a:t>
                      </a:r>
                    </a:p>
                  </a:txBody>
                  <a:tcPr marL="45720" marR="45720" marT="18000" marB="18000">
                    <a:solidFill>
                      <a:srgbClr val="FFFFFF"/>
                    </a:solidFill>
                  </a:tcPr>
                </a:tc>
                <a:tc>
                  <a:txBody>
                    <a:bodyPr/>
                    <a:lstStyle/>
                    <a:p>
                      <a:pPr algn="r"/>
                      <a:r>
                        <a:rPr sz="1100" b="0">
                          <a:solidFill>
                            <a:srgbClr val="0C1116"/>
                          </a:solidFill>
                          <a:latin typeface="Consolas"/>
                        </a:rPr>
                        <a:t>4.97</a:t>
                      </a:r>
                    </a:p>
                  </a:txBody>
                  <a:tcPr marL="45720" marR="45720" marT="18000" marB="18000">
                    <a:solidFill>
                      <a:srgbClr val="FFFFFF"/>
                    </a:solidFill>
                  </a:tcPr>
                </a:tc>
                <a:tc>
                  <a:txBody>
                    <a:bodyPr/>
                    <a:lstStyle/>
                    <a:p>
                      <a:pPr algn="r"/>
                      <a:r>
                        <a:rPr sz="1100" b="0">
                          <a:solidFill>
                            <a:srgbClr val="0C1116"/>
                          </a:solidFill>
                          <a:latin typeface="Consolas"/>
                        </a:rPr>
                        <a:t>4.99</a:t>
                      </a:r>
                    </a:p>
                  </a:txBody>
                  <a:tcPr marL="45720" marR="45720" marT="18000" marB="18000">
                    <a:solidFill>
                      <a:srgbClr val="FFFFFF"/>
                    </a:solidFill>
                  </a:tcPr>
                </a:tc>
                <a:tc>
                  <a:txBody>
                    <a:bodyPr/>
                    <a:lstStyle/>
                    <a:p>
                      <a:pPr algn="r"/>
                      <a:r>
                        <a:rPr sz="1100" b="0">
                          <a:solidFill>
                            <a:srgbClr val="0C1116"/>
                          </a:solidFill>
                          <a:latin typeface="Consolas"/>
                        </a:rPr>
                        <a:t>3.3%</a:t>
                      </a:r>
                    </a:p>
                  </a:txBody>
                  <a:tcPr marL="45720" marR="45720" marT="18000" marB="18000">
                    <a:solidFill>
                      <a:srgbClr val="FFFFFF"/>
                    </a:solidFill>
                  </a:tcPr>
                </a:tc>
                <a:tc>
                  <a:txBody>
                    <a:bodyPr/>
                    <a:lstStyle/>
                    <a:p>
                      <a:pPr algn="r"/>
                      <a:r>
                        <a:rPr sz="1100" b="0">
                          <a:solidFill>
                            <a:srgbClr val="0C1116"/>
                          </a:solidFill>
                          <a:latin typeface="Consolas"/>
                        </a:rPr>
                        <a:t>68.3</a:t>
                      </a:r>
                    </a:p>
                  </a:txBody>
                  <a:tcPr marL="45720" marR="45720" marT="18000" marB="18000">
                    <a:solidFill>
                      <a:srgbClr val="FFFFFF"/>
                    </a:solidFill>
                  </a:tcPr>
                </a:tc>
              </a:tr>
              <a:tr h="292608">
                <a:tc>
                  <a:txBody>
                    <a:bodyPr/>
                    <a:lstStyle/>
                    <a:p>
                      <a:pPr algn="l"/>
                      <a:r>
                        <a:rPr sz="1100" b="0">
                          <a:solidFill>
                            <a:srgbClr val="0C1116"/>
                          </a:solidFill>
                          <a:latin typeface="Arial"/>
                        </a:rPr>
                        <a:t>vanilla</a:t>
                      </a:r>
                    </a:p>
                  </a:txBody>
                  <a:tcPr marL="45720" marR="45720" marT="18000" marB="18000">
                    <a:solidFill>
                      <a:srgbClr val="FFFFFF"/>
                    </a:solidFill>
                  </a:tcPr>
                </a:tc>
                <a:tc>
                  <a:txBody>
                    <a:bodyPr/>
                    <a:lstStyle/>
                    <a:p>
                      <a:pPr algn="r"/>
                      <a:r>
                        <a:rPr sz="1100" b="0">
                          <a:solidFill>
                            <a:srgbClr val="0C1116"/>
                          </a:solidFill>
                          <a:latin typeface="Consolas"/>
                        </a:rPr>
                        <a:t>47 °C</a:t>
                      </a:r>
                    </a:p>
                  </a:txBody>
                  <a:tcPr marL="45720" marR="45720" marT="18000" marB="18000">
                    <a:solidFill>
                      <a:srgbClr val="FFFFFF"/>
                    </a:solidFill>
                  </a:tcPr>
                </a:tc>
                <a:tc>
                  <a:txBody>
                    <a:bodyPr/>
                    <a:lstStyle/>
                    <a:p>
                      <a:pPr algn="r"/>
                      <a:r>
                        <a:rPr sz="1100" b="0">
                          <a:solidFill>
                            <a:srgbClr val="0C1116"/>
                          </a:solidFill>
                          <a:latin typeface="Consolas"/>
                        </a:rPr>
                        <a:t>5.01</a:t>
                      </a:r>
                    </a:p>
                  </a:txBody>
                  <a:tcPr marL="45720" marR="45720" marT="18000" marB="18000">
                    <a:solidFill>
                      <a:srgbClr val="FFFFFF"/>
                    </a:solidFill>
                  </a:tcPr>
                </a:tc>
                <a:tc>
                  <a:txBody>
                    <a:bodyPr/>
                    <a:lstStyle/>
                    <a:p>
                      <a:pPr algn="r"/>
                      <a:r>
                        <a:rPr sz="1100" b="0">
                          <a:solidFill>
                            <a:srgbClr val="0C1116"/>
                          </a:solidFill>
                          <a:latin typeface="Consolas"/>
                        </a:rPr>
                        <a:t>4.98</a:t>
                      </a:r>
                    </a:p>
                  </a:txBody>
                  <a:tcPr marL="45720" marR="45720" marT="18000" marB="18000">
                    <a:solidFill>
                      <a:srgbClr val="FFFFFF"/>
                    </a:solidFill>
                  </a:tcPr>
                </a:tc>
                <a:tc>
                  <a:txBody>
                    <a:bodyPr/>
                    <a:lstStyle/>
                    <a:p>
                      <a:pPr algn="r"/>
                      <a:r>
                        <a:rPr sz="1100" b="0">
                          <a:solidFill>
                            <a:srgbClr val="0C1116"/>
                          </a:solidFill>
                          <a:latin typeface="Consolas"/>
                        </a:rPr>
                        <a:t>3.6%</a:t>
                      </a:r>
                    </a:p>
                  </a:txBody>
                  <a:tcPr marL="45720" marR="45720" marT="18000" marB="18000">
                    <a:solidFill>
                      <a:srgbClr val="FFFFFF"/>
                    </a:solidFill>
                  </a:tcPr>
                </a:tc>
                <a:tc>
                  <a:txBody>
                    <a:bodyPr/>
                    <a:lstStyle/>
                    <a:p>
                      <a:pPr algn="r"/>
                      <a:r>
                        <a:rPr sz="1100" b="0">
                          <a:solidFill>
                            <a:srgbClr val="0C1116"/>
                          </a:solidFill>
                          <a:latin typeface="Consolas"/>
                        </a:rPr>
                        <a:t>67.2</a:t>
                      </a:r>
                    </a:p>
                  </a:txBody>
                  <a:tcPr marL="45720" marR="45720" marT="18000" marB="18000">
                    <a:solidFill>
                      <a:srgbClr val="FFFFFF"/>
                    </a:solidFill>
                  </a:tcPr>
                </a:tc>
              </a:tr>
              <a:tr h="292608">
                <a:tc>
                  <a:txBody>
                    <a:bodyPr/>
                    <a:lstStyle/>
                    <a:p>
                      <a:pPr algn="l"/>
                      <a:r>
                        <a:rPr sz="1100" b="0">
                          <a:solidFill>
                            <a:srgbClr val="0C1116"/>
                          </a:solidFill>
                          <a:latin typeface="Arial"/>
                        </a:rPr>
                        <a:t>μKV</a:t>
                      </a:r>
                    </a:p>
                  </a:txBody>
                  <a:tcPr marL="45720" marR="45720" marT="18000" marB="18000">
                    <a:solidFill>
                      <a:srgbClr val="FFFFFF"/>
                    </a:solidFill>
                  </a:tcPr>
                </a:tc>
                <a:tc>
                  <a:txBody>
                    <a:bodyPr/>
                    <a:lstStyle/>
                    <a:p>
                      <a:pPr algn="r"/>
                      <a:r>
                        <a:rPr sz="1100" b="0">
                          <a:solidFill>
                            <a:srgbClr val="0C1116"/>
                          </a:solidFill>
                          <a:latin typeface="Consolas"/>
                        </a:rPr>
                        <a:t>off</a:t>
                      </a:r>
                    </a:p>
                  </a:txBody>
                  <a:tcPr marL="45720" marR="45720" marT="18000" marB="18000">
                    <a:solidFill>
                      <a:srgbClr val="FFFFFF"/>
                    </a:solidFill>
                  </a:tcPr>
                </a:tc>
                <a:tc>
                  <a:txBody>
                    <a:bodyPr/>
                    <a:lstStyle/>
                    <a:p>
                      <a:pPr algn="r"/>
                      <a:r>
                        <a:rPr sz="1100" b="0">
                          <a:solidFill>
                            <a:srgbClr val="0C1116"/>
                          </a:solidFill>
                          <a:latin typeface="Consolas"/>
                        </a:rPr>
                        <a:t>23.32</a:t>
                      </a:r>
                    </a:p>
                  </a:txBody>
                  <a:tcPr marL="45720" marR="45720" marT="18000" marB="18000">
                    <a:solidFill>
                      <a:srgbClr val="FFFFFF"/>
                    </a:solidFill>
                  </a:tcPr>
                </a:tc>
                <a:tc>
                  <a:txBody>
                    <a:bodyPr/>
                    <a:lstStyle/>
                    <a:p>
                      <a:pPr algn="r"/>
                      <a:r>
                        <a:rPr sz="1100" b="0">
                          <a:solidFill>
                            <a:srgbClr val="0C1116"/>
                          </a:solidFill>
                          <a:latin typeface="Consolas"/>
                        </a:rPr>
                        <a:t>23.14</a:t>
                      </a:r>
                    </a:p>
                  </a:txBody>
                  <a:tcPr marL="45720" marR="45720" marT="18000" marB="18000">
                    <a:solidFill>
                      <a:srgbClr val="FFFFFF"/>
                    </a:solidFill>
                  </a:tcPr>
                </a:tc>
                <a:tc>
                  <a:txBody>
                    <a:bodyPr/>
                    <a:lstStyle/>
                    <a:p>
                      <a:pPr algn="r"/>
                      <a:r>
                        <a:rPr sz="1100" b="0">
                          <a:solidFill>
                            <a:srgbClr val="0C1116"/>
                          </a:solidFill>
                          <a:latin typeface="Consolas"/>
                        </a:rPr>
                        <a:t>8.2%</a:t>
                      </a:r>
                    </a:p>
                  </a:txBody>
                  <a:tcPr marL="45720" marR="45720" marT="18000" marB="18000">
                    <a:solidFill>
                      <a:srgbClr val="FFFFFF"/>
                    </a:solidFill>
                  </a:tcPr>
                </a:tc>
                <a:tc>
                  <a:txBody>
                    <a:bodyPr/>
                    <a:lstStyle/>
                    <a:p>
                      <a:pPr algn="r"/>
                      <a:r>
                        <a:rPr sz="1100" b="0">
                          <a:solidFill>
                            <a:srgbClr val="0C1116"/>
                          </a:solidFill>
                          <a:latin typeface="Consolas"/>
                        </a:rPr>
                        <a:t>65.6</a:t>
                      </a:r>
                    </a:p>
                  </a:txBody>
                  <a:tcPr marL="45720" marR="45720" marT="18000" marB="18000">
                    <a:solidFill>
                      <a:srgbClr val="FFFFFF"/>
                    </a:solidFill>
                  </a:tcPr>
                </a:tc>
              </a:tr>
              <a:tr h="292608">
                <a:tc>
                  <a:txBody>
                    <a:bodyPr/>
                    <a:lstStyle/>
                    <a:p>
                      <a:pPr algn="l"/>
                      <a:r>
                        <a:rPr sz="1100" b="1">
                          <a:solidFill>
                            <a:srgbClr val="C4581A"/>
                          </a:solidFill>
                          <a:latin typeface="Arial"/>
                        </a:rPr>
                        <a:t>μKV</a:t>
                      </a:r>
                    </a:p>
                  </a:txBody>
                  <a:tcPr marL="45720" marR="45720" marT="18000" marB="18000">
                    <a:solidFill>
                      <a:srgbClr val="FDF0E6"/>
                    </a:solidFill>
                  </a:tcPr>
                </a:tc>
                <a:tc>
                  <a:txBody>
                    <a:bodyPr/>
                    <a:lstStyle/>
                    <a:p>
                      <a:pPr algn="r"/>
                      <a:r>
                        <a:rPr sz="1100" b="1">
                          <a:solidFill>
                            <a:srgbClr val="C4581A"/>
                          </a:solidFill>
                          <a:latin typeface="Consolas"/>
                        </a:rPr>
                        <a:t>47 °C</a:t>
                      </a:r>
                    </a:p>
                  </a:txBody>
                  <a:tcPr marL="45720" marR="45720" marT="18000" marB="18000">
                    <a:solidFill>
                      <a:srgbClr val="FDF0E6"/>
                    </a:solidFill>
                  </a:tcPr>
                </a:tc>
                <a:tc>
                  <a:txBody>
                    <a:bodyPr/>
                    <a:lstStyle/>
                    <a:p>
                      <a:pPr algn="r"/>
                      <a:r>
                        <a:rPr sz="1100" b="1">
                          <a:solidFill>
                            <a:srgbClr val="C4581A"/>
                          </a:solidFill>
                          <a:latin typeface="Consolas"/>
                        </a:rPr>
                        <a:t>26.95</a:t>
                      </a:r>
                    </a:p>
                  </a:txBody>
                  <a:tcPr marL="45720" marR="45720" marT="18000" marB="18000">
                    <a:solidFill>
                      <a:srgbClr val="FDF0E6"/>
                    </a:solidFill>
                  </a:tcPr>
                </a:tc>
                <a:tc>
                  <a:txBody>
                    <a:bodyPr/>
                    <a:lstStyle/>
                    <a:p>
                      <a:pPr algn="r"/>
                      <a:r>
                        <a:rPr sz="1100" b="1">
                          <a:solidFill>
                            <a:srgbClr val="C4581A"/>
                          </a:solidFill>
                          <a:latin typeface="Consolas"/>
                        </a:rPr>
                        <a:t>22.97</a:t>
                      </a:r>
                    </a:p>
                  </a:txBody>
                  <a:tcPr marL="45720" marR="45720" marT="18000" marB="18000">
                    <a:solidFill>
                      <a:srgbClr val="FDF0E6"/>
                    </a:solidFill>
                  </a:tcPr>
                </a:tc>
                <a:tc>
                  <a:txBody>
                    <a:bodyPr/>
                    <a:lstStyle/>
                    <a:p>
                      <a:pPr algn="r"/>
                      <a:r>
                        <a:rPr sz="1100" b="1">
                          <a:solidFill>
                            <a:srgbClr val="C4581A"/>
                          </a:solidFill>
                          <a:latin typeface="Consolas"/>
                        </a:rPr>
                        <a:t>6.4%</a:t>
                      </a:r>
                    </a:p>
                  </a:txBody>
                  <a:tcPr marL="45720" marR="45720" marT="18000" marB="18000">
                    <a:solidFill>
                      <a:srgbClr val="FDF0E6"/>
                    </a:solidFill>
                  </a:tcPr>
                </a:tc>
                <a:tc>
                  <a:txBody>
                    <a:bodyPr/>
                    <a:lstStyle/>
                    <a:p>
                      <a:pPr algn="r"/>
                      <a:r>
                        <a:rPr sz="1100" b="1">
                          <a:solidFill>
                            <a:srgbClr val="C4581A"/>
                          </a:solidFill>
                          <a:latin typeface="Consolas"/>
                        </a:rPr>
                        <a:t>66.0</a:t>
                      </a:r>
                    </a:p>
                  </a:txBody>
                  <a:tcPr marL="45720" marR="45720" marT="18000" marB="18000">
                    <a:solidFill>
                      <a:srgbClr val="FDF0E6"/>
                    </a:solidFill>
                  </a:tcPr>
                </a:tc>
              </a:tr>
              <a:tr h="292608">
                <a:tc>
                  <a:txBody>
                    <a:bodyPr/>
                    <a:lstStyle/>
                    <a:p>
                      <a:pPr algn="l"/>
                      <a:r>
                        <a:rPr sz="1100" b="0">
                          <a:solidFill>
                            <a:srgbClr val="0C1116"/>
                          </a:solidFill>
                          <a:latin typeface="Arial"/>
                        </a:rPr>
                        <a:t>μKV</a:t>
                      </a:r>
                    </a:p>
                  </a:txBody>
                  <a:tcPr marL="45720" marR="45720" marT="18000" marB="18000">
                    <a:solidFill>
                      <a:srgbClr val="FFFFFF"/>
                    </a:solidFill>
                  </a:tcPr>
                </a:tc>
                <a:tc>
                  <a:txBody>
                    <a:bodyPr/>
                    <a:lstStyle/>
                    <a:p>
                      <a:pPr algn="r"/>
                      <a:r>
                        <a:rPr sz="1100" b="0">
                          <a:solidFill>
                            <a:srgbClr val="0C1116"/>
                          </a:solidFill>
                          <a:latin typeface="Consolas"/>
                        </a:rPr>
                        <a:t>35 °C</a:t>
                      </a:r>
                    </a:p>
                  </a:txBody>
                  <a:tcPr marL="45720" marR="45720" marT="18000" marB="18000">
                    <a:solidFill>
                      <a:srgbClr val="FFFFFF"/>
                    </a:solidFill>
                  </a:tcPr>
                </a:tc>
                <a:tc>
                  <a:txBody>
                    <a:bodyPr/>
                    <a:lstStyle/>
                    <a:p>
                      <a:pPr algn="r"/>
                      <a:r>
                        <a:rPr sz="1100" b="0">
                          <a:solidFill>
                            <a:srgbClr val="0C1116"/>
                          </a:solidFill>
                          <a:latin typeface="Consolas"/>
                        </a:rPr>
                        <a:t>18.00</a:t>
                      </a:r>
                    </a:p>
                  </a:txBody>
                  <a:tcPr marL="45720" marR="45720" marT="18000" marB="18000">
                    <a:solidFill>
                      <a:srgbClr val="FFFFFF"/>
                    </a:solidFill>
                  </a:tcPr>
                </a:tc>
                <a:tc>
                  <a:txBody>
                    <a:bodyPr/>
                    <a:lstStyle/>
                    <a:p>
                      <a:pPr algn="r"/>
                      <a:r>
                        <a:rPr sz="1100" b="0">
                          <a:solidFill>
                            <a:srgbClr val="0C1116"/>
                          </a:solidFill>
                          <a:latin typeface="Consolas"/>
                        </a:rPr>
                        <a:t>15.95</a:t>
                      </a:r>
                    </a:p>
                  </a:txBody>
                  <a:tcPr marL="45720" marR="45720" marT="18000" marB="18000">
                    <a:solidFill>
                      <a:srgbClr val="FFFFFF"/>
                    </a:solidFill>
                  </a:tcPr>
                </a:tc>
                <a:tc>
                  <a:txBody>
                    <a:bodyPr/>
                    <a:lstStyle/>
                    <a:p>
                      <a:pPr algn="r"/>
                      <a:r>
                        <a:rPr sz="1100" b="0">
                          <a:solidFill>
                            <a:srgbClr val="0C1116"/>
                          </a:solidFill>
                          <a:latin typeface="Consolas"/>
                        </a:rPr>
                        <a:t>2.4%</a:t>
                      </a:r>
                    </a:p>
                  </a:txBody>
                  <a:tcPr marL="45720" marR="45720" marT="18000" marB="18000">
                    <a:solidFill>
                      <a:srgbClr val="FFFFFF"/>
                    </a:solidFill>
                  </a:tcPr>
                </a:tc>
                <a:tc>
                  <a:txBody>
                    <a:bodyPr/>
                    <a:lstStyle/>
                    <a:p>
                      <a:pPr algn="r"/>
                      <a:r>
                        <a:rPr sz="1100" b="0">
                          <a:solidFill>
                            <a:srgbClr val="0C1116"/>
                          </a:solidFill>
                          <a:latin typeface="Consolas"/>
                        </a:rPr>
                        <a:t>58.7</a:t>
                      </a:r>
                    </a:p>
                  </a:txBody>
                  <a:tcPr marL="45720" marR="45720" marT="18000" marB="18000">
                    <a:solidFill>
                      <a:srgbClr val="FFFFFF"/>
                    </a:solidFill>
                  </a:tcPr>
                </a:tc>
              </a:tr>
            </a:tbl>
          </a:graphicData>
        </a:graphic>
      </p:graphicFrame>
      <p:sp>
        <p:nvSpPr>
          <p:cNvPr id="9" name="TextBox 8"/>
          <p:cNvSpPr txBox="1"/>
          <p:nvPr/>
        </p:nvSpPr>
        <p:spPr>
          <a:xfrm>
            <a:off x="566928" y="3886200"/>
            <a:ext cx="6766560" cy="1371600"/>
          </a:xfrm>
          <a:prstGeom prst="rect">
            <a:avLst/>
          </a:prstGeom>
          <a:noFill/>
        </p:spPr>
        <p:txBody>
          <a:bodyPr wrap="square" lIns="0" rIns="0" tIns="0" bIns="0" anchor="t">
            <a:spAutoFit/>
          </a:bodyPr>
          <a:lstStyle/>
          <a:p>
            <a:pPr algn="l">
              <a:lnSpc>
                <a:spcPct val="135000"/>
              </a:lnSpc>
            </a:pPr>
            <a:r>
              <a:rPr sz="1150" b="0" i="0">
                <a:solidFill>
                  <a:srgbClr val="38424E"/>
                </a:solidFill>
                <a:latin typeface="Arial"/>
              </a:rPr>
              <a:t>The watchdog steps the clock down early, before the vendor's own thermal limiter slams it to 883 MHz. At its first step it also lifts a cap the vendor had already applied, which is why the first generation gets faster rather than slower.</a:t>
            </a:r>
          </a:p>
        </p:txBody>
      </p:sp>
      <p:sp>
        <p:nvSpPr>
          <p:cNvPr id="10" name="Rounded Rectangle 9"/>
          <p:cNvSpPr/>
          <p:nvPr/>
        </p:nvSpPr>
        <p:spPr>
          <a:xfrm>
            <a:off x="7589520" y="1828800"/>
            <a:ext cx="404164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89520" y="188366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0688" y="1975104"/>
            <a:ext cx="3721608" cy="457200"/>
          </a:xfrm>
          <a:prstGeom prst="rect">
            <a:avLst/>
          </a:prstGeom>
          <a:noFill/>
        </p:spPr>
        <p:txBody>
          <a:bodyPr wrap="square" lIns="0" rIns="0" tIns="0" bIns="0" anchor="t">
            <a:spAutoFit/>
          </a:bodyPr>
          <a:lstStyle/>
          <a:p>
            <a:pPr algn="l"/>
            <a:r>
              <a:rPr sz="2600" b="1" i="0">
                <a:solidFill>
                  <a:srgbClr val="C4581A"/>
                </a:solidFill>
                <a:latin typeface="Consolas"/>
              </a:rPr>
              <a:t>+15.5%</a:t>
            </a:r>
          </a:p>
        </p:txBody>
      </p:sp>
      <p:sp>
        <p:nvSpPr>
          <p:cNvPr id="13" name="TextBox 12"/>
          <p:cNvSpPr txBox="1"/>
          <p:nvPr/>
        </p:nvSpPr>
        <p:spPr>
          <a:xfrm>
            <a:off x="7790688" y="2468880"/>
            <a:ext cx="372160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μKV, first generation. It is compute-bound, so it can use the clock it is handed.</a:t>
            </a:r>
          </a:p>
        </p:txBody>
      </p:sp>
      <p:sp>
        <p:nvSpPr>
          <p:cNvPr id="14" name="Rounded Rectangle 13"/>
          <p:cNvSpPr/>
          <p:nvPr/>
        </p:nvSpPr>
        <p:spPr>
          <a:xfrm>
            <a:off x="7589520" y="3154680"/>
            <a:ext cx="404164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89520" y="3209544"/>
            <a:ext cx="41148" cy="1024128"/>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90688" y="3300984"/>
            <a:ext cx="3721608" cy="457200"/>
          </a:xfrm>
          <a:prstGeom prst="rect">
            <a:avLst/>
          </a:prstGeom>
          <a:noFill/>
        </p:spPr>
        <p:txBody>
          <a:bodyPr wrap="square" lIns="0" rIns="0" tIns="0" bIns="0" anchor="t">
            <a:spAutoFit/>
          </a:bodyPr>
          <a:lstStyle/>
          <a:p>
            <a:pPr algn="l"/>
            <a:r>
              <a:rPr sz="2600" b="1" i="0">
                <a:solidFill>
                  <a:srgbClr val="2B6CA3"/>
                </a:solidFill>
                <a:latin typeface="Consolas"/>
              </a:rPr>
              <a:t>+0.9%</a:t>
            </a:r>
          </a:p>
        </p:txBody>
      </p:sp>
      <p:sp>
        <p:nvSpPr>
          <p:cNvPr id="17" name="TextBox 16"/>
          <p:cNvSpPr txBox="1"/>
          <p:nvPr/>
        </p:nvSpPr>
        <p:spPr>
          <a:xfrm>
            <a:off x="7790688" y="3794760"/>
            <a:ext cx="372160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vanilla, identical watchdog. It is bandwidth-bound, so the same clock buys nothing and the gain shows up as −2.4 °C instead.</a:t>
            </a:r>
          </a:p>
        </p:txBody>
      </p:sp>
      <p:sp>
        <p:nvSpPr>
          <p:cNvPr id="18" name="Rounded Rectangle 17"/>
          <p:cNvSpPr/>
          <p:nvPr/>
        </p:nvSpPr>
        <p:spPr>
          <a:xfrm>
            <a:off x="7589520" y="4480560"/>
            <a:ext cx="404164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89520" y="4535424"/>
            <a:ext cx="41148" cy="1024128"/>
          </a:xfrm>
          <a:prstGeom prst="rect">
            <a:avLst/>
          </a:prstGeom>
          <a:solidFill>
            <a:srgbClr val="1A7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90688" y="4626864"/>
            <a:ext cx="3721608" cy="457200"/>
          </a:xfrm>
          <a:prstGeom prst="rect">
            <a:avLst/>
          </a:prstGeom>
          <a:noFill/>
        </p:spPr>
        <p:txBody>
          <a:bodyPr wrap="square" lIns="0" rIns="0" tIns="0" bIns="0" anchor="t">
            <a:spAutoFit/>
          </a:bodyPr>
          <a:lstStyle/>
          <a:p>
            <a:pPr algn="l"/>
            <a:r>
              <a:rPr sz="2600" b="1" i="0">
                <a:solidFill>
                  <a:srgbClr val="1A7A58"/>
                </a:solidFill>
                <a:latin typeface="Consolas"/>
              </a:rPr>
              <a:t>+10.8%</a:t>
            </a:r>
          </a:p>
        </p:txBody>
      </p:sp>
      <p:sp>
        <p:nvSpPr>
          <p:cNvPr id="21" name="TextBox 20"/>
          <p:cNvSpPr txBox="1"/>
          <p:nvPr/>
        </p:nvSpPr>
        <p:spPr>
          <a:xfrm>
            <a:off x="7790688" y="5120640"/>
            <a:ext cx="372160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the early trigger on the GPU, where it helps. On the CPU the same early trigger costs 37% more time. The sign flips with the processor.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6400800" cy="274320"/>
          </a:xfrm>
          <a:prstGeom prst="rect">
            <a:avLst/>
          </a:prstGeom>
          <a:noFill/>
        </p:spPr>
        <p:txBody>
          <a:bodyPr wrap="square" anchor="t" lIns="18288" rIns="18288" tIns="9144" bIns="9144">
            <a:spAutoFit/>
          </a:bodyPr>
          <a:lstStyle/>
          <a:p>
            <a:pPr algn="l"/>
            <a:r>
              <a:rPr sz="900" b="1">
                <a:solidFill>
                  <a:srgbClr val="6B7785"/>
                </a:solidFill>
                <a:latin typeface="Consolas"/>
              </a:rPr>
              <a:t>RESULTS · ENERGY-AWARE · LLAMA-3.2-1B · ONEPLUS 15 · 9737-TOKEN PROMPT · N=1 UNLESS STATED</a:t>
            </a:r>
          </a:p>
        </p:txBody>
      </p:sp>
      <p:sp>
        <p:nvSpPr>
          <p:cNvPr id="4" name="TextBox 3"/>
          <p:cNvSpPr txBox="1"/>
          <p:nvPr/>
        </p:nvSpPr>
        <p:spPr>
          <a:xfrm>
            <a:off x="566928" y="502920"/>
            <a:ext cx="10058400" cy="365760"/>
          </a:xfrm>
          <a:prstGeom prst="rect">
            <a:avLst/>
          </a:prstGeom>
          <a:noFill/>
        </p:spPr>
        <p:txBody>
          <a:bodyPr wrap="square" anchor="t" lIns="18288" rIns="18288" tIns="9144" bIns="9144">
            <a:spAutoFit/>
          </a:bodyPr>
          <a:lstStyle/>
          <a:p>
            <a:pPr algn="l"/>
            <a:r>
              <a:rPr sz="1100" b="1">
                <a:solidFill>
                  <a:srgbClr val="C4581A"/>
                </a:solidFill>
                <a:latin typeface="Consolas"/>
              </a:rPr>
              <a:t>RESULT · ENERGY-AWARE CONTROL</a:t>
            </a:r>
          </a:p>
        </p:txBody>
      </p:sp>
      <p:sp>
        <p:nvSpPr>
          <p:cNvPr id="5" name="TextBox 4"/>
          <p:cNvSpPr txBox="1"/>
          <p:nvPr/>
        </p:nvSpPr>
        <p:spPr>
          <a:xfrm>
            <a:off x="566928" y="914400"/>
            <a:ext cx="10607040" cy="685800"/>
          </a:xfrm>
          <a:prstGeom prst="rect">
            <a:avLst/>
          </a:prstGeom>
          <a:noFill/>
        </p:spPr>
        <p:txBody>
          <a:bodyPr wrap="square" anchor="t" lIns="18288" rIns="18288" tIns="9144" bIns="9144">
            <a:spAutoFit/>
          </a:bodyPr>
          <a:lstStyle/>
          <a:p>
            <a:pPr algn="l"/>
            <a:r>
              <a:rPr sz="2600" b="1">
                <a:solidFill>
                  <a:srgbClr val="0C1116"/>
                </a:solidFill>
                <a:latin typeface="Arial"/>
              </a:rPr>
              <a:t>Same command line; only the battery state changes the plan</a:t>
            </a:r>
          </a:p>
        </p:txBody>
      </p:sp>
      <p:sp>
        <p:nvSpPr>
          <p:cNvPr id="6" name="TextBox 5"/>
          <p:cNvSpPr txBox="1"/>
          <p:nvPr/>
        </p:nvSpPr>
        <p:spPr>
          <a:xfrm>
            <a:off x="566928" y="1627632"/>
            <a:ext cx="6949440" cy="256032"/>
          </a:xfrm>
          <a:prstGeom prst="rect">
            <a:avLst/>
          </a:prstGeom>
          <a:noFill/>
        </p:spPr>
        <p:txBody>
          <a:bodyPr wrap="square" anchor="t" lIns="18288" rIns="18288" tIns="9144" bIns="9144">
            <a:spAutoFit/>
          </a:bodyPr>
          <a:lstStyle/>
          <a:p>
            <a:pPr algn="l"/>
            <a:r>
              <a:rPr sz="1050" b="1">
                <a:solidFill>
                  <a:srgbClr val="2B6CA3"/>
                </a:solidFill>
                <a:latin typeface="Consolas"/>
              </a:rPr>
              <a:t>GPU · clock caps by prefill / decode phase · K held at 1024 · 4096 output tokens</a:t>
            </a:r>
          </a:p>
        </p:txBody>
      </p:sp>
      <p:graphicFrame>
        <p:nvGraphicFramePr>
          <p:cNvPr id="7" name="Table 6"/>
          <p:cNvGraphicFramePr>
            <a:graphicFrameLocks noGrp="1"/>
          </p:cNvGraphicFramePr>
          <p:nvPr/>
        </p:nvGraphicFramePr>
        <p:xfrm>
          <a:off x="566928" y="1901952"/>
          <a:ext cx="6729984" cy="1554480"/>
        </p:xfrm>
        <a:graphic>
          <a:graphicData uri="http://schemas.openxmlformats.org/drawingml/2006/table">
            <a:tbl>
              <a:tblPr firstRow="1" bandRow="1">
                <a:tableStyleId>{5C22544A-7EE6-4342-B048-85BDC9FD1C3A}</a:tableStyleId>
              </a:tblPr>
              <a:tblGrid>
                <a:gridCol w="1188720"/>
                <a:gridCol w="1280160"/>
                <a:gridCol w="822960"/>
                <a:gridCol w="658368"/>
                <a:gridCol w="822960"/>
                <a:gridCol w="566928"/>
                <a:gridCol w="731520"/>
                <a:gridCol w="658368"/>
              </a:tblGrid>
              <a:tr h="320040">
                <a:tc>
                  <a:txBody>
                    <a:bodyPr/>
                    <a:lstStyle/>
                    <a:p>
                      <a:r>
                        <a:rPr sz="850" b="1">
                          <a:solidFill>
                            <a:srgbClr val="6B7785"/>
                          </a:solidFill>
                          <a:latin typeface="Consolas"/>
                        </a:rPr>
                        <a:t>lever picks at</a:t>
                      </a:r>
                    </a:p>
                  </a:txBody>
                  <a:tcPr marL="36576" marR="36576" marT="18288" marB="18288">
                    <a:solidFill>
                      <a:srgbClr val="FFFFFF"/>
                    </a:solidFill>
                  </a:tcPr>
                </a:tc>
                <a:tc>
                  <a:txBody>
                    <a:bodyPr/>
                    <a:lstStyle/>
                    <a:p>
                      <a:r>
                        <a:rPr sz="850" b="1">
                          <a:solidFill>
                            <a:srgbClr val="6B7785"/>
                          </a:solidFill>
                          <a:latin typeface="Consolas"/>
                        </a:rPr>
                        <a:t>prefill / decode MHz</a:t>
                      </a:r>
                    </a:p>
                  </a:txBody>
                  <a:tcPr marL="36576" marR="36576" marT="18288" marB="18288">
                    <a:solidFill>
                      <a:srgbClr val="FFFFFF"/>
                    </a:solidFill>
                  </a:tcPr>
                </a:tc>
                <a:tc>
                  <a:txBody>
                    <a:bodyPr/>
                    <a:lstStyle/>
                    <a:p>
                      <a:r>
                        <a:rPr sz="850" b="1">
                          <a:solidFill>
                            <a:srgbClr val="6B7785"/>
                          </a:solidFill>
                          <a:latin typeface="Consolas"/>
                        </a:rPr>
                        <a:t>prefill mJ/tok</a:t>
                      </a:r>
                    </a:p>
                  </a:txBody>
                  <a:tcPr marL="36576" marR="36576" marT="18288" marB="18288">
                    <a:solidFill>
                      <a:srgbClr val="FFFFFF"/>
                    </a:solidFill>
                  </a:tcPr>
                </a:tc>
                <a:tc>
                  <a:txBody>
                    <a:bodyPr/>
                    <a:lstStyle/>
                    <a:p>
                      <a:r>
                        <a:rPr sz="850" b="1">
                          <a:solidFill>
                            <a:srgbClr val="6B7785"/>
                          </a:solidFill>
                          <a:latin typeface="Consolas"/>
                        </a:rPr>
                        <a:t>prefill s</a:t>
                      </a:r>
                    </a:p>
                  </a:txBody>
                  <a:tcPr marL="36576" marR="36576" marT="18288" marB="18288">
                    <a:solidFill>
                      <a:srgbClr val="FFFFFF"/>
                    </a:solidFill>
                  </a:tcPr>
                </a:tc>
                <a:tc>
                  <a:txBody>
                    <a:bodyPr/>
                    <a:lstStyle/>
                    <a:p>
                      <a:r>
                        <a:rPr sz="850" b="1">
                          <a:solidFill>
                            <a:srgbClr val="6B7785"/>
                          </a:solidFill>
                          <a:latin typeface="Consolas"/>
                        </a:rPr>
                        <a:t>decode mJ/tok</a:t>
                      </a:r>
                    </a:p>
                  </a:txBody>
                  <a:tcPr marL="36576" marR="36576" marT="18288" marB="18288">
                    <a:solidFill>
                      <a:srgbClr val="FFFFFF"/>
                    </a:solidFill>
                  </a:tcPr>
                </a:tc>
                <a:tc>
                  <a:txBody>
                    <a:bodyPr/>
                    <a:lstStyle/>
                    <a:p>
                      <a:r>
                        <a:rPr sz="850" b="1">
                          <a:solidFill>
                            <a:srgbClr val="6B7785"/>
                          </a:solidFill>
                          <a:latin typeface="Consolas"/>
                        </a:rPr>
                        <a:t>decode tok/s</a:t>
                      </a:r>
                    </a:p>
                  </a:txBody>
                  <a:tcPr marL="36576" marR="36576" marT="18288" marB="18288">
                    <a:solidFill>
                      <a:srgbClr val="FFFFFF"/>
                    </a:solidFill>
                  </a:tcPr>
                </a:tc>
                <a:tc>
                  <a:txBody>
                    <a:bodyPr/>
                    <a:lstStyle/>
                    <a:p>
                      <a:r>
                        <a:rPr sz="850" b="1">
                          <a:solidFill>
                            <a:srgbClr val="6B7785"/>
                          </a:solidFill>
                          <a:latin typeface="Consolas"/>
                        </a:rPr>
                        <a:t>total J</a:t>
                      </a:r>
                    </a:p>
                  </a:txBody>
                  <a:tcPr marL="36576" marR="36576" marT="18288" marB="18288">
                    <a:solidFill>
                      <a:srgbClr val="FFFFFF"/>
                    </a:solidFill>
                  </a:tcPr>
                </a:tc>
                <a:tc>
                  <a:txBody>
                    <a:bodyPr/>
                    <a:lstStyle/>
                    <a:p>
                      <a:r>
                        <a:rPr sz="850" b="1">
                          <a:solidFill>
                            <a:srgbClr val="6B7785"/>
                          </a:solidFill>
                          <a:latin typeface="Consolas"/>
                        </a:rPr>
                        <a:t>total s</a:t>
                      </a:r>
                    </a:p>
                  </a:txBody>
                  <a:tcPr marL="36576" marR="36576" marT="18288" marB="18288">
                    <a:solidFill>
                      <a:srgbClr val="FFFFFF"/>
                    </a:solidFill>
                  </a:tcPr>
                </a:tc>
              </a:tr>
              <a:tr h="246888">
                <a:tc>
                  <a:txBody>
                    <a:bodyPr/>
                    <a:lstStyle/>
                    <a:p>
                      <a:pPr algn="l"/>
                      <a:r>
                        <a:rPr sz="950" b="0">
                          <a:solidFill>
                            <a:srgbClr val="0C1116"/>
                          </a:solidFill>
                          <a:latin typeface="Arial"/>
                        </a:rPr>
                        <a:t>full perf. (n=3)</a:t>
                      </a:r>
                    </a:p>
                  </a:txBody>
                  <a:tcPr marL="36576" marR="36576" marT="18288" marB="18288">
                    <a:solidFill>
                      <a:srgbClr val="FFFFFF"/>
                    </a:solidFill>
                  </a:tcPr>
                </a:tc>
                <a:tc>
                  <a:txBody>
                    <a:bodyPr/>
                    <a:lstStyle/>
                    <a:p>
                      <a:pPr algn="l"/>
                      <a:r>
                        <a:rPr sz="950" b="1">
                          <a:solidFill>
                            <a:srgbClr val="2B6CA3"/>
                          </a:solidFill>
                          <a:latin typeface="Arial"/>
                        </a:rPr>
                        <a:t>1200 / 1200</a:t>
                      </a:r>
                    </a:p>
                  </a:txBody>
                  <a:tcPr marL="36576" marR="36576" marT="18288" marB="18288">
                    <a:solidFill>
                      <a:srgbClr val="FFFFFF"/>
                    </a:solidFill>
                  </a:tcPr>
                </a:tc>
                <a:tc>
                  <a:txBody>
                    <a:bodyPr/>
                    <a:lstStyle/>
                    <a:p>
                      <a:pPr algn="r"/>
                      <a:r>
                        <a:rPr sz="950" b="0">
                          <a:solidFill>
                            <a:srgbClr val="0C1116"/>
                          </a:solidFill>
                          <a:latin typeface="Arial"/>
                        </a:rPr>
                        <a:t>58</a:t>
                      </a:r>
                    </a:p>
                  </a:txBody>
                  <a:tcPr marL="36576" marR="36576" marT="18288" marB="18288">
                    <a:solidFill>
                      <a:srgbClr val="FFFFFF"/>
                    </a:solidFill>
                  </a:tcPr>
                </a:tc>
                <a:tc>
                  <a:txBody>
                    <a:bodyPr/>
                    <a:lstStyle/>
                    <a:p>
                      <a:pPr algn="r"/>
                      <a:r>
                        <a:rPr sz="950" b="0">
                          <a:solidFill>
                            <a:srgbClr val="0C1116"/>
                          </a:solidFill>
                          <a:latin typeface="Arial"/>
                        </a:rPr>
                        <a:t>117</a:t>
                      </a:r>
                    </a:p>
                  </a:txBody>
                  <a:tcPr marL="36576" marR="36576" marT="18288" marB="18288">
                    <a:solidFill>
                      <a:srgbClr val="FFFFFF"/>
                    </a:solidFill>
                  </a:tcPr>
                </a:tc>
                <a:tc>
                  <a:txBody>
                    <a:bodyPr/>
                    <a:lstStyle/>
                    <a:p>
                      <a:pPr algn="r"/>
                      <a:r>
                        <a:rPr sz="950" b="0">
                          <a:solidFill>
                            <a:srgbClr val="0C1116"/>
                          </a:solidFill>
                          <a:latin typeface="Arial"/>
                        </a:rPr>
                        <a:t>210</a:t>
                      </a:r>
                    </a:p>
                  </a:txBody>
                  <a:tcPr marL="36576" marR="36576" marT="18288" marB="18288">
                    <a:solidFill>
                      <a:srgbClr val="FFFFFF"/>
                    </a:solidFill>
                  </a:tcPr>
                </a:tc>
                <a:tc>
                  <a:txBody>
                    <a:bodyPr/>
                    <a:lstStyle/>
                    <a:p>
                      <a:pPr algn="r"/>
                      <a:r>
                        <a:rPr sz="950" b="0">
                          <a:solidFill>
                            <a:srgbClr val="0C1116"/>
                          </a:solidFill>
                          <a:latin typeface="Arial"/>
                        </a:rPr>
                        <a:t>40.0</a:t>
                      </a:r>
                    </a:p>
                  </a:txBody>
                  <a:tcPr marL="36576" marR="36576" marT="18288" marB="18288">
                    <a:solidFill>
                      <a:srgbClr val="FFFFFF"/>
                    </a:solidFill>
                  </a:tcPr>
                </a:tc>
                <a:tc>
                  <a:txBody>
                    <a:bodyPr/>
                    <a:lstStyle/>
                    <a:p>
                      <a:pPr algn="r"/>
                      <a:r>
                        <a:rPr sz="950" b="0">
                          <a:solidFill>
                            <a:srgbClr val="0C1116"/>
                          </a:solidFill>
                          <a:latin typeface="Arial"/>
                        </a:rPr>
                        <a:t>1428</a:t>
                      </a:r>
                    </a:p>
                  </a:txBody>
                  <a:tcPr marL="36576" marR="36576" marT="18288" marB="18288">
                    <a:solidFill>
                      <a:srgbClr val="FFFFFF"/>
                    </a:solidFill>
                  </a:tcPr>
                </a:tc>
                <a:tc>
                  <a:txBody>
                    <a:bodyPr/>
                    <a:lstStyle/>
                    <a:p>
                      <a:pPr algn="r"/>
                      <a:r>
                        <a:rPr sz="950" b="0">
                          <a:solidFill>
                            <a:srgbClr val="0C1116"/>
                          </a:solidFill>
                          <a:latin typeface="Arial"/>
                        </a:rPr>
                        <a:t>221</a:t>
                      </a:r>
                    </a:p>
                  </a:txBody>
                  <a:tcPr marL="36576" marR="36576" marT="18288" marB="18288">
                    <a:solidFill>
                      <a:srgbClr val="FFFFFF"/>
                    </a:solidFill>
                  </a:tcPr>
                </a:tc>
              </a:tr>
              <a:tr h="246888">
                <a:tc>
                  <a:txBody>
                    <a:bodyPr/>
                    <a:lstStyle/>
                    <a:p>
                      <a:pPr algn="l"/>
                      <a:r>
                        <a:rPr sz="950" b="0">
                          <a:solidFill>
                            <a:srgbClr val="0C1116"/>
                          </a:solidFill>
                          <a:latin typeface="Arial"/>
                        </a:rPr>
                        <a:t>healthy, mains (n=3)</a:t>
                      </a:r>
                    </a:p>
                  </a:txBody>
                  <a:tcPr marL="36576" marR="36576" marT="18288" marB="18288">
                    <a:solidFill>
                      <a:srgbClr val="FFFFFF"/>
                    </a:solidFill>
                  </a:tcPr>
                </a:tc>
                <a:tc>
                  <a:txBody>
                    <a:bodyPr/>
                    <a:lstStyle/>
                    <a:p>
                      <a:pPr algn="l"/>
                      <a:r>
                        <a:rPr sz="950" b="1">
                          <a:solidFill>
                            <a:srgbClr val="2B6CA3"/>
                          </a:solidFill>
                          <a:latin typeface="Arial"/>
                        </a:rPr>
                        <a:t>1200 / decode 902</a:t>
                      </a:r>
                    </a:p>
                  </a:txBody>
                  <a:tcPr marL="36576" marR="36576" marT="18288" marB="18288">
                    <a:solidFill>
                      <a:srgbClr val="FFFFFF"/>
                    </a:solidFill>
                  </a:tcPr>
                </a:tc>
                <a:tc>
                  <a:txBody>
                    <a:bodyPr/>
                    <a:lstStyle/>
                    <a:p>
                      <a:pPr algn="r"/>
                      <a:r>
                        <a:rPr sz="950" b="0">
                          <a:solidFill>
                            <a:srgbClr val="0C1116"/>
                          </a:solidFill>
                          <a:latin typeface="Arial"/>
                        </a:rPr>
                        <a:t>59</a:t>
                      </a:r>
                    </a:p>
                  </a:txBody>
                  <a:tcPr marL="36576" marR="36576" marT="18288" marB="18288">
                    <a:solidFill>
                      <a:srgbClr val="FFFFFF"/>
                    </a:solidFill>
                  </a:tcPr>
                </a:tc>
                <a:tc>
                  <a:txBody>
                    <a:bodyPr/>
                    <a:lstStyle/>
                    <a:p>
                      <a:pPr algn="r"/>
                      <a:r>
                        <a:rPr sz="950" b="0">
                          <a:solidFill>
                            <a:srgbClr val="0C1116"/>
                          </a:solidFill>
                          <a:latin typeface="Arial"/>
                        </a:rPr>
                        <a:t>117</a:t>
                      </a:r>
                    </a:p>
                  </a:txBody>
                  <a:tcPr marL="36576" marR="36576" marT="18288" marB="18288">
                    <a:solidFill>
                      <a:srgbClr val="FFFFFF"/>
                    </a:solidFill>
                  </a:tcPr>
                </a:tc>
                <a:tc>
                  <a:txBody>
                    <a:bodyPr/>
                    <a:lstStyle/>
                    <a:p>
                      <a:pPr algn="r"/>
                      <a:r>
                        <a:rPr sz="950" b="0">
                          <a:solidFill>
                            <a:srgbClr val="0C1116"/>
                          </a:solidFill>
                          <a:latin typeface="Arial"/>
                        </a:rPr>
                        <a:t>186</a:t>
                      </a:r>
                    </a:p>
                  </a:txBody>
                  <a:tcPr marL="36576" marR="36576" marT="18288" marB="18288">
                    <a:solidFill>
                      <a:srgbClr val="FFFFFF"/>
                    </a:solidFill>
                  </a:tcPr>
                </a:tc>
                <a:tc>
                  <a:txBody>
                    <a:bodyPr/>
                    <a:lstStyle/>
                    <a:p>
                      <a:pPr algn="r"/>
                      <a:r>
                        <a:rPr sz="950" b="0">
                          <a:solidFill>
                            <a:srgbClr val="0C1116"/>
                          </a:solidFill>
                          <a:latin typeface="Arial"/>
                        </a:rPr>
                        <a:t>38.7</a:t>
                      </a:r>
                    </a:p>
                  </a:txBody>
                  <a:tcPr marL="36576" marR="36576" marT="18288" marB="18288">
                    <a:solidFill>
                      <a:srgbClr val="FFFFFF"/>
                    </a:solidFill>
                  </a:tcPr>
                </a:tc>
                <a:tc>
                  <a:txBody>
                    <a:bodyPr/>
                    <a:lstStyle/>
                    <a:p>
                      <a:pPr algn="r"/>
                      <a:r>
                        <a:rPr sz="950" b="0">
                          <a:solidFill>
                            <a:srgbClr val="0C1116"/>
                          </a:solidFill>
                          <a:latin typeface="Arial"/>
                        </a:rPr>
                        <a:t>1336</a:t>
                      </a:r>
                    </a:p>
                  </a:txBody>
                  <a:tcPr marL="36576" marR="36576" marT="18288" marB="18288">
                    <a:solidFill>
                      <a:srgbClr val="FFFFFF"/>
                    </a:solidFill>
                  </a:tcPr>
                </a:tc>
                <a:tc>
                  <a:txBody>
                    <a:bodyPr/>
                    <a:lstStyle/>
                    <a:p>
                      <a:pPr algn="r"/>
                      <a:r>
                        <a:rPr sz="950" b="0">
                          <a:solidFill>
                            <a:srgbClr val="0C1116"/>
                          </a:solidFill>
                          <a:latin typeface="Arial"/>
                        </a:rPr>
                        <a:t>224</a:t>
                      </a:r>
                    </a:p>
                  </a:txBody>
                  <a:tcPr marL="36576" marR="36576" marT="18288" marB="18288">
                    <a:solidFill>
                      <a:srgbClr val="FFFFFF"/>
                    </a:solidFill>
                  </a:tcPr>
                </a:tc>
              </a:tr>
              <a:tr h="246888">
                <a:tc>
                  <a:txBody>
                    <a:bodyPr/>
                    <a:lstStyle/>
                    <a:p>
                      <a:pPr algn="l"/>
                      <a:r>
                        <a:rPr sz="950" b="0">
                          <a:solidFill>
                            <a:srgbClr val="0C1116"/>
                          </a:solidFill>
                          <a:latin typeface="Arial"/>
                        </a:rPr>
                        <a:t>mid (n=3)</a:t>
                      </a:r>
                    </a:p>
                  </a:txBody>
                  <a:tcPr marL="36576" marR="36576" marT="18288" marB="18288">
                    <a:solidFill>
                      <a:srgbClr val="FFFFFF"/>
                    </a:solidFill>
                  </a:tcPr>
                </a:tc>
                <a:tc>
                  <a:txBody>
                    <a:bodyPr/>
                    <a:lstStyle/>
                    <a:p>
                      <a:pPr algn="l"/>
                      <a:r>
                        <a:rPr sz="950" b="1">
                          <a:solidFill>
                            <a:srgbClr val="2B6CA3"/>
                          </a:solidFill>
                          <a:latin typeface="Arial"/>
                        </a:rPr>
                        <a:t>1200 / decode 726</a:t>
                      </a:r>
                    </a:p>
                  </a:txBody>
                  <a:tcPr marL="36576" marR="36576" marT="18288" marB="18288">
                    <a:solidFill>
                      <a:srgbClr val="FFFFFF"/>
                    </a:solidFill>
                  </a:tcPr>
                </a:tc>
                <a:tc>
                  <a:txBody>
                    <a:bodyPr/>
                    <a:lstStyle/>
                    <a:p>
                      <a:pPr algn="r"/>
                      <a:r>
                        <a:rPr sz="950" b="0">
                          <a:solidFill>
                            <a:srgbClr val="0C1116"/>
                          </a:solidFill>
                          <a:latin typeface="Arial"/>
                        </a:rPr>
                        <a:t>61</a:t>
                      </a:r>
                    </a:p>
                  </a:txBody>
                  <a:tcPr marL="36576" marR="36576" marT="18288" marB="18288">
                    <a:solidFill>
                      <a:srgbClr val="FFFFFF"/>
                    </a:solidFill>
                  </a:tcPr>
                </a:tc>
                <a:tc>
                  <a:txBody>
                    <a:bodyPr/>
                    <a:lstStyle/>
                    <a:p>
                      <a:pPr algn="r"/>
                      <a:r>
                        <a:rPr sz="950" b="0">
                          <a:solidFill>
                            <a:srgbClr val="0C1116"/>
                          </a:solidFill>
                          <a:latin typeface="Arial"/>
                        </a:rPr>
                        <a:t>117</a:t>
                      </a:r>
                    </a:p>
                  </a:txBody>
                  <a:tcPr marL="36576" marR="36576" marT="18288" marB="18288">
                    <a:solidFill>
                      <a:srgbClr val="FFFFFF"/>
                    </a:solidFill>
                  </a:tcPr>
                </a:tc>
                <a:tc>
                  <a:txBody>
                    <a:bodyPr/>
                    <a:lstStyle/>
                    <a:p>
                      <a:pPr algn="r"/>
                      <a:r>
                        <a:rPr sz="950" b="0">
                          <a:solidFill>
                            <a:srgbClr val="0C1116"/>
                          </a:solidFill>
                          <a:latin typeface="Arial"/>
                        </a:rPr>
                        <a:t>179</a:t>
                      </a:r>
                    </a:p>
                  </a:txBody>
                  <a:tcPr marL="36576" marR="36576" marT="18288" marB="18288">
                    <a:solidFill>
                      <a:srgbClr val="FFFFFF"/>
                    </a:solidFill>
                  </a:tcPr>
                </a:tc>
                <a:tc>
                  <a:txBody>
                    <a:bodyPr/>
                    <a:lstStyle/>
                    <a:p>
                      <a:pPr algn="r"/>
                      <a:r>
                        <a:rPr sz="950" b="0">
                          <a:solidFill>
                            <a:srgbClr val="0C1116"/>
                          </a:solidFill>
                          <a:latin typeface="Arial"/>
                        </a:rPr>
                        <a:t>37.0</a:t>
                      </a:r>
                    </a:p>
                  </a:txBody>
                  <a:tcPr marL="36576" marR="36576" marT="18288" marB="18288">
                    <a:solidFill>
                      <a:srgbClr val="FFFFFF"/>
                    </a:solidFill>
                  </a:tcPr>
                </a:tc>
                <a:tc>
                  <a:txBody>
                    <a:bodyPr/>
                    <a:lstStyle/>
                    <a:p>
                      <a:pPr algn="r"/>
                      <a:r>
                        <a:rPr sz="950" b="0">
                          <a:solidFill>
                            <a:srgbClr val="0C1116"/>
                          </a:solidFill>
                          <a:latin typeface="Arial"/>
                        </a:rPr>
                        <a:t>1328</a:t>
                      </a:r>
                    </a:p>
                  </a:txBody>
                  <a:tcPr marL="36576" marR="36576" marT="18288" marB="18288">
                    <a:solidFill>
                      <a:srgbClr val="FFFFFF"/>
                    </a:solidFill>
                  </a:tcPr>
                </a:tc>
                <a:tc>
                  <a:txBody>
                    <a:bodyPr/>
                    <a:lstStyle/>
                    <a:p>
                      <a:pPr algn="r"/>
                      <a:r>
                        <a:rPr sz="950" b="0">
                          <a:solidFill>
                            <a:srgbClr val="0C1116"/>
                          </a:solidFill>
                          <a:latin typeface="Arial"/>
                        </a:rPr>
                        <a:t>229</a:t>
                      </a:r>
                    </a:p>
                  </a:txBody>
                  <a:tcPr marL="36576" marR="36576" marT="18288" marB="18288">
                    <a:solidFill>
                      <a:srgbClr val="FFFFFF"/>
                    </a:solidFill>
                  </a:tcPr>
                </a:tc>
              </a:tr>
              <a:tr h="246888">
                <a:tc>
                  <a:txBody>
                    <a:bodyPr/>
                    <a:lstStyle/>
                    <a:p>
                      <a:pPr algn="l"/>
                      <a:r>
                        <a:rPr sz="950" b="0">
                          <a:solidFill>
                            <a:srgbClr val="0C1116"/>
                          </a:solidFill>
                          <a:latin typeface="Arial"/>
                        </a:rPr>
                        <a:t>low (n=3)</a:t>
                      </a:r>
                    </a:p>
                  </a:txBody>
                  <a:tcPr marL="36576" marR="36576" marT="18288" marB="18288">
                    <a:solidFill>
                      <a:srgbClr val="FFFFFF"/>
                    </a:solidFill>
                  </a:tcPr>
                </a:tc>
                <a:tc>
                  <a:txBody>
                    <a:bodyPr/>
                    <a:lstStyle/>
                    <a:p>
                      <a:pPr algn="l"/>
                      <a:r>
                        <a:rPr sz="950" b="1">
                          <a:solidFill>
                            <a:srgbClr val="2B6CA3"/>
                          </a:solidFill>
                          <a:latin typeface="Arial"/>
                        </a:rPr>
                        <a:t>902 / 902</a:t>
                      </a:r>
                    </a:p>
                  </a:txBody>
                  <a:tcPr marL="36576" marR="36576" marT="18288" marB="18288">
                    <a:solidFill>
                      <a:srgbClr val="FFFFFF"/>
                    </a:solidFill>
                  </a:tcPr>
                </a:tc>
                <a:tc>
                  <a:txBody>
                    <a:bodyPr/>
                    <a:lstStyle/>
                    <a:p>
                      <a:pPr algn="r"/>
                      <a:r>
                        <a:rPr sz="950" b="0">
                          <a:solidFill>
                            <a:srgbClr val="0C1116"/>
                          </a:solidFill>
                          <a:latin typeface="Arial"/>
                        </a:rPr>
                        <a:t>40</a:t>
                      </a:r>
                    </a:p>
                  </a:txBody>
                  <a:tcPr marL="36576" marR="36576" marT="18288" marB="18288">
                    <a:solidFill>
                      <a:srgbClr val="FFFFFF"/>
                    </a:solidFill>
                  </a:tcPr>
                </a:tc>
                <a:tc>
                  <a:txBody>
                    <a:bodyPr/>
                    <a:lstStyle/>
                    <a:p>
                      <a:pPr algn="r"/>
                      <a:r>
                        <a:rPr sz="950" b="0">
                          <a:solidFill>
                            <a:srgbClr val="0C1116"/>
                          </a:solidFill>
                          <a:latin typeface="Arial"/>
                        </a:rPr>
                        <a:t>154</a:t>
                      </a:r>
                    </a:p>
                  </a:txBody>
                  <a:tcPr marL="36576" marR="36576" marT="18288" marB="18288">
                    <a:solidFill>
                      <a:srgbClr val="FFFFFF"/>
                    </a:solidFill>
                  </a:tcPr>
                </a:tc>
                <a:tc>
                  <a:txBody>
                    <a:bodyPr/>
                    <a:lstStyle/>
                    <a:p>
                      <a:pPr algn="r"/>
                      <a:r>
                        <a:rPr sz="950" b="0">
                          <a:solidFill>
                            <a:srgbClr val="0C1116"/>
                          </a:solidFill>
                          <a:latin typeface="Arial"/>
                        </a:rPr>
                        <a:t>187</a:t>
                      </a:r>
                    </a:p>
                  </a:txBody>
                  <a:tcPr marL="36576" marR="36576" marT="18288" marB="18288">
                    <a:solidFill>
                      <a:srgbClr val="FFFFFF"/>
                    </a:solidFill>
                  </a:tcPr>
                </a:tc>
                <a:tc>
                  <a:txBody>
                    <a:bodyPr/>
                    <a:lstStyle/>
                    <a:p>
                      <a:pPr algn="r"/>
                      <a:r>
                        <a:rPr sz="950" b="0">
                          <a:solidFill>
                            <a:srgbClr val="0C1116"/>
                          </a:solidFill>
                          <a:latin typeface="Arial"/>
                        </a:rPr>
                        <a:t>38.3</a:t>
                      </a:r>
                    </a:p>
                  </a:txBody>
                  <a:tcPr marL="36576" marR="36576" marT="18288" marB="18288">
                    <a:solidFill>
                      <a:srgbClr val="FFFFFF"/>
                    </a:solidFill>
                  </a:tcPr>
                </a:tc>
                <a:tc>
                  <a:txBody>
                    <a:bodyPr/>
                    <a:lstStyle/>
                    <a:p>
                      <a:pPr algn="r"/>
                      <a:r>
                        <a:rPr sz="950" b="0">
                          <a:solidFill>
                            <a:srgbClr val="0C1116"/>
                          </a:solidFill>
                          <a:latin typeface="Arial"/>
                        </a:rPr>
                        <a:t>1154</a:t>
                      </a:r>
                    </a:p>
                  </a:txBody>
                  <a:tcPr marL="36576" marR="36576" marT="18288" marB="18288">
                    <a:solidFill>
                      <a:srgbClr val="FFFFFF"/>
                    </a:solidFill>
                  </a:tcPr>
                </a:tc>
                <a:tc>
                  <a:txBody>
                    <a:bodyPr/>
                    <a:lstStyle/>
                    <a:p>
                      <a:pPr algn="r"/>
                      <a:r>
                        <a:rPr sz="950" b="0">
                          <a:solidFill>
                            <a:srgbClr val="0C1116"/>
                          </a:solidFill>
                          <a:latin typeface="Arial"/>
                        </a:rPr>
                        <a:t>263</a:t>
                      </a:r>
                    </a:p>
                  </a:txBody>
                  <a:tcPr marL="36576" marR="36576" marT="18288" marB="18288">
                    <a:solidFill>
                      <a:srgbClr val="FFFFFF"/>
                    </a:solidFill>
                  </a:tcPr>
                </a:tc>
              </a:tr>
              <a:tr h="246888">
                <a:tc>
                  <a:txBody>
                    <a:bodyPr/>
                    <a:lstStyle/>
                    <a:p>
                      <a:pPr algn="l"/>
                      <a:r>
                        <a:rPr sz="950" b="0">
                          <a:solidFill>
                            <a:srgbClr val="0C1116"/>
                          </a:solidFill>
                          <a:latin typeface="Arial"/>
                        </a:rPr>
                        <a:t>never (n=3)</a:t>
                      </a:r>
                    </a:p>
                  </a:txBody>
                  <a:tcPr marL="36576" marR="36576" marT="18288" marB="18288">
                    <a:solidFill>
                      <a:srgbClr val="FFFFFF"/>
                    </a:solidFill>
                  </a:tcPr>
                </a:tc>
                <a:tc>
                  <a:txBody>
                    <a:bodyPr/>
                    <a:lstStyle/>
                    <a:p>
                      <a:pPr algn="l"/>
                      <a:r>
                        <a:rPr sz="950" b="1">
                          <a:solidFill>
                            <a:srgbClr val="2B6CA3"/>
                          </a:solidFill>
                          <a:latin typeface="Arial"/>
                        </a:rPr>
                        <a:t>726 / 726</a:t>
                      </a:r>
                    </a:p>
                  </a:txBody>
                  <a:tcPr marL="36576" marR="36576" marT="18288" marB="18288">
                    <a:solidFill>
                      <a:srgbClr val="FFFFFF"/>
                    </a:solidFill>
                  </a:tcPr>
                </a:tc>
                <a:tc>
                  <a:txBody>
                    <a:bodyPr/>
                    <a:lstStyle/>
                    <a:p>
                      <a:pPr algn="r"/>
                      <a:r>
                        <a:rPr sz="950" b="0">
                          <a:solidFill>
                            <a:srgbClr val="0C1116"/>
                          </a:solidFill>
                          <a:latin typeface="Arial"/>
                        </a:rPr>
                        <a:t>40</a:t>
                      </a:r>
                    </a:p>
                  </a:txBody>
                  <a:tcPr marL="36576" marR="36576" marT="18288" marB="18288">
                    <a:solidFill>
                      <a:srgbClr val="FFFFFF"/>
                    </a:solidFill>
                  </a:tcPr>
                </a:tc>
                <a:tc>
                  <a:txBody>
                    <a:bodyPr/>
                    <a:lstStyle/>
                    <a:p>
                      <a:pPr algn="r"/>
                      <a:r>
                        <a:rPr sz="950" b="0">
                          <a:solidFill>
                            <a:srgbClr val="0C1116"/>
                          </a:solidFill>
                          <a:latin typeface="Arial"/>
                        </a:rPr>
                        <a:t>191</a:t>
                      </a:r>
                    </a:p>
                  </a:txBody>
                  <a:tcPr marL="36576" marR="36576" marT="18288" marB="18288">
                    <a:solidFill>
                      <a:srgbClr val="FFFFFF"/>
                    </a:solidFill>
                  </a:tcPr>
                </a:tc>
                <a:tc>
                  <a:txBody>
                    <a:bodyPr/>
                    <a:lstStyle/>
                    <a:p>
                      <a:pPr algn="r"/>
                      <a:r>
                        <a:rPr sz="950" b="0">
                          <a:solidFill>
                            <a:srgbClr val="0C1116"/>
                          </a:solidFill>
                          <a:latin typeface="Arial"/>
                        </a:rPr>
                        <a:t>175</a:t>
                      </a:r>
                    </a:p>
                  </a:txBody>
                  <a:tcPr marL="36576" marR="36576" marT="18288" marB="18288">
                    <a:solidFill>
                      <a:srgbClr val="FFFFFF"/>
                    </a:solidFill>
                  </a:tcPr>
                </a:tc>
                <a:tc>
                  <a:txBody>
                    <a:bodyPr/>
                    <a:lstStyle/>
                    <a:p>
                      <a:pPr algn="r"/>
                      <a:r>
                        <a:rPr sz="950" b="0">
                          <a:solidFill>
                            <a:srgbClr val="0C1116"/>
                          </a:solidFill>
                          <a:latin typeface="Arial"/>
                        </a:rPr>
                        <a:t>36.8</a:t>
                      </a:r>
                    </a:p>
                  </a:txBody>
                  <a:tcPr marL="36576" marR="36576" marT="18288" marB="18288">
                    <a:solidFill>
                      <a:srgbClr val="FFFFFF"/>
                    </a:solidFill>
                  </a:tcPr>
                </a:tc>
                <a:tc>
                  <a:txBody>
                    <a:bodyPr/>
                    <a:lstStyle/>
                    <a:p>
                      <a:pPr algn="r"/>
                      <a:r>
                        <a:rPr sz="950" b="0">
                          <a:solidFill>
                            <a:srgbClr val="0C1116"/>
                          </a:solidFill>
                          <a:latin typeface="Arial"/>
                        </a:rPr>
                        <a:t>1105</a:t>
                      </a:r>
                    </a:p>
                  </a:txBody>
                  <a:tcPr marL="36576" marR="36576" marT="18288" marB="18288">
                    <a:solidFill>
                      <a:srgbClr val="FFFFFF"/>
                    </a:solidFill>
                  </a:tcPr>
                </a:tc>
                <a:tc>
                  <a:txBody>
                    <a:bodyPr/>
                    <a:lstStyle/>
                    <a:p>
                      <a:pPr algn="r"/>
                      <a:r>
                        <a:rPr sz="950" b="0">
                          <a:solidFill>
                            <a:srgbClr val="0C1116"/>
                          </a:solidFill>
                          <a:latin typeface="Arial"/>
                        </a:rPr>
                        <a:t>303</a:t>
                      </a:r>
                    </a:p>
                  </a:txBody>
                  <a:tcPr marL="36576" marR="36576" marT="18288" marB="18288">
                    <a:solidFill>
                      <a:srgbClr val="FFFFFF"/>
                    </a:solidFill>
                  </a:tcPr>
                </a:tc>
              </a:tr>
            </a:tbl>
          </a:graphicData>
        </a:graphic>
      </p:graphicFrame>
      <p:sp>
        <p:nvSpPr>
          <p:cNvPr id="8" name="TextBox 7"/>
          <p:cNvSpPr txBox="1"/>
          <p:nvPr/>
        </p:nvSpPr>
        <p:spPr>
          <a:xfrm>
            <a:off x="566928" y="3611880"/>
            <a:ext cx="6949440" cy="256032"/>
          </a:xfrm>
          <a:prstGeom prst="rect">
            <a:avLst/>
          </a:prstGeom>
          <a:noFill/>
        </p:spPr>
        <p:txBody>
          <a:bodyPr wrap="square" anchor="t" lIns="18288" rIns="18288" tIns="9144" bIns="9144">
            <a:spAutoFit/>
          </a:bodyPr>
          <a:lstStyle/>
          <a:p>
            <a:pPr algn="l"/>
            <a:r>
              <a:rPr sz="1050" b="1">
                <a:solidFill>
                  <a:srgbClr val="2B6CA3"/>
                </a:solidFill>
                <a:latin typeface="Consolas"/>
              </a:rPr>
              <a:t>CPU · the tier sets the cache budget K · clock untouched · 1024 output tokens</a:t>
            </a:r>
          </a:p>
        </p:txBody>
      </p:sp>
      <p:graphicFrame>
        <p:nvGraphicFramePr>
          <p:cNvPr id="9" name="Table 8"/>
          <p:cNvGraphicFramePr>
            <a:graphicFrameLocks noGrp="1"/>
          </p:cNvGraphicFramePr>
          <p:nvPr/>
        </p:nvGraphicFramePr>
        <p:xfrm>
          <a:off x="566928" y="3886200"/>
          <a:ext cx="6729984" cy="1060704"/>
        </p:xfrm>
        <a:graphic>
          <a:graphicData uri="http://schemas.openxmlformats.org/drawingml/2006/table">
            <a:tbl>
              <a:tblPr firstRow="1" bandRow="1">
                <a:tableStyleId>{5C22544A-7EE6-4342-B048-85BDC9FD1C3A}</a:tableStyleId>
              </a:tblPr>
              <a:tblGrid>
                <a:gridCol w="1188720"/>
                <a:gridCol w="1280160"/>
                <a:gridCol w="822960"/>
                <a:gridCol w="658368"/>
                <a:gridCol w="822960"/>
                <a:gridCol w="566928"/>
                <a:gridCol w="731520"/>
                <a:gridCol w="658368"/>
              </a:tblGrid>
              <a:tr h="320040">
                <a:tc>
                  <a:txBody>
                    <a:bodyPr/>
                    <a:lstStyle/>
                    <a:p>
                      <a:r>
                        <a:rPr sz="850" b="1">
                          <a:solidFill>
                            <a:srgbClr val="6B7785"/>
                          </a:solidFill>
                          <a:latin typeface="Consolas"/>
                        </a:rPr>
                        <a:t>lever picks at</a:t>
                      </a:r>
                    </a:p>
                  </a:txBody>
                  <a:tcPr marL="36576" marR="36576" marT="18288" marB="18288">
                    <a:solidFill>
                      <a:srgbClr val="FFFFFF"/>
                    </a:solidFill>
                  </a:tcPr>
                </a:tc>
                <a:tc>
                  <a:txBody>
                    <a:bodyPr/>
                    <a:lstStyle/>
                    <a:p>
                      <a:r>
                        <a:rPr sz="850" b="1">
                          <a:solidFill>
                            <a:srgbClr val="6B7785"/>
                          </a:solidFill>
                          <a:latin typeface="Consolas"/>
                        </a:rPr>
                        <a:t>cache budget</a:t>
                      </a:r>
                    </a:p>
                  </a:txBody>
                  <a:tcPr marL="36576" marR="36576" marT="18288" marB="18288">
                    <a:solidFill>
                      <a:srgbClr val="FFFFFF"/>
                    </a:solidFill>
                  </a:tcPr>
                </a:tc>
                <a:tc>
                  <a:txBody>
                    <a:bodyPr/>
                    <a:lstStyle/>
                    <a:p>
                      <a:r>
                        <a:rPr sz="850" b="1">
                          <a:solidFill>
                            <a:srgbClr val="6B7785"/>
                          </a:solidFill>
                          <a:latin typeface="Consolas"/>
                        </a:rPr>
                        <a:t>prefill mJ/tok</a:t>
                      </a:r>
                    </a:p>
                  </a:txBody>
                  <a:tcPr marL="36576" marR="36576" marT="18288" marB="18288">
                    <a:solidFill>
                      <a:srgbClr val="FFFFFF"/>
                    </a:solidFill>
                  </a:tcPr>
                </a:tc>
                <a:tc>
                  <a:txBody>
                    <a:bodyPr/>
                    <a:lstStyle/>
                    <a:p>
                      <a:r>
                        <a:rPr sz="850" b="1">
                          <a:solidFill>
                            <a:srgbClr val="6B7785"/>
                          </a:solidFill>
                          <a:latin typeface="Consolas"/>
                        </a:rPr>
                        <a:t>prefill s</a:t>
                      </a:r>
                    </a:p>
                  </a:txBody>
                  <a:tcPr marL="36576" marR="36576" marT="18288" marB="18288">
                    <a:solidFill>
                      <a:srgbClr val="FFFFFF"/>
                    </a:solidFill>
                  </a:tcPr>
                </a:tc>
                <a:tc>
                  <a:txBody>
                    <a:bodyPr/>
                    <a:lstStyle/>
                    <a:p>
                      <a:r>
                        <a:rPr sz="850" b="1">
                          <a:solidFill>
                            <a:srgbClr val="6B7785"/>
                          </a:solidFill>
                          <a:latin typeface="Consolas"/>
                        </a:rPr>
                        <a:t>decode mJ/tok</a:t>
                      </a:r>
                    </a:p>
                  </a:txBody>
                  <a:tcPr marL="36576" marR="36576" marT="18288" marB="18288">
                    <a:solidFill>
                      <a:srgbClr val="FFFFFF"/>
                    </a:solidFill>
                  </a:tcPr>
                </a:tc>
                <a:tc>
                  <a:txBody>
                    <a:bodyPr/>
                    <a:lstStyle/>
                    <a:p>
                      <a:r>
                        <a:rPr sz="850" b="1">
                          <a:solidFill>
                            <a:srgbClr val="6B7785"/>
                          </a:solidFill>
                          <a:latin typeface="Consolas"/>
                        </a:rPr>
                        <a:t>decode tok/s</a:t>
                      </a:r>
                    </a:p>
                  </a:txBody>
                  <a:tcPr marL="36576" marR="36576" marT="18288" marB="18288">
                    <a:solidFill>
                      <a:srgbClr val="FFFFFF"/>
                    </a:solidFill>
                  </a:tcPr>
                </a:tc>
                <a:tc>
                  <a:txBody>
                    <a:bodyPr/>
                    <a:lstStyle/>
                    <a:p>
                      <a:r>
                        <a:rPr sz="850" b="1">
                          <a:solidFill>
                            <a:srgbClr val="6B7785"/>
                          </a:solidFill>
                          <a:latin typeface="Consolas"/>
                        </a:rPr>
                        <a:t>total J</a:t>
                      </a:r>
                    </a:p>
                  </a:txBody>
                  <a:tcPr marL="36576" marR="36576" marT="18288" marB="18288">
                    <a:solidFill>
                      <a:srgbClr val="FFFFFF"/>
                    </a:solidFill>
                  </a:tcPr>
                </a:tc>
                <a:tc>
                  <a:txBody>
                    <a:bodyPr/>
                    <a:lstStyle/>
                    <a:p>
                      <a:r>
                        <a:rPr sz="850" b="1">
                          <a:solidFill>
                            <a:srgbClr val="6B7785"/>
                          </a:solidFill>
                          <a:latin typeface="Consolas"/>
                        </a:rPr>
                        <a:t>total s</a:t>
                      </a:r>
                    </a:p>
                  </a:txBody>
                  <a:tcPr marL="36576" marR="36576" marT="18288" marB="18288">
                    <a:solidFill>
                      <a:srgbClr val="FFFFFF"/>
                    </a:solidFill>
                  </a:tcPr>
                </a:tc>
              </a:tr>
              <a:tr h="246888">
                <a:tc>
                  <a:txBody>
                    <a:bodyPr/>
                    <a:lstStyle/>
                    <a:p>
                      <a:pPr algn="l"/>
                      <a:r>
                        <a:rPr sz="950" b="0">
                          <a:solidFill>
                            <a:srgbClr val="0C1116"/>
                          </a:solidFill>
                          <a:latin typeface="Arial"/>
                        </a:rPr>
                        <a:t>every tier (n=3)</a:t>
                      </a:r>
                    </a:p>
                  </a:txBody>
                  <a:tcPr marL="36576" marR="36576" marT="18288" marB="18288">
                    <a:solidFill>
                      <a:srgbClr val="FFFFFF"/>
                    </a:solidFill>
                  </a:tcPr>
                </a:tc>
                <a:tc>
                  <a:txBody>
                    <a:bodyPr/>
                    <a:lstStyle/>
                    <a:p>
                      <a:pPr algn="l"/>
                      <a:r>
                        <a:rPr sz="950" b="1">
                          <a:solidFill>
                            <a:srgbClr val="2B6CA3"/>
                          </a:solidFill>
                          <a:latin typeface="Arial"/>
                        </a:rPr>
                        <a:t>K 1024 (chosen)</a:t>
                      </a:r>
                    </a:p>
                  </a:txBody>
                  <a:tcPr marL="36576" marR="36576" marT="18288" marB="18288">
                    <a:solidFill>
                      <a:srgbClr val="FFFFFF"/>
                    </a:solidFill>
                  </a:tcPr>
                </a:tc>
                <a:tc>
                  <a:txBody>
                    <a:bodyPr/>
                    <a:lstStyle/>
                    <a:p>
                      <a:pPr algn="r"/>
                      <a:r>
                        <a:rPr sz="950" b="0">
                          <a:solidFill>
                            <a:srgbClr val="0C1116"/>
                          </a:solidFill>
                          <a:latin typeface="Arial"/>
                        </a:rPr>
                        <a:t>60</a:t>
                      </a:r>
                    </a:p>
                  </a:txBody>
                  <a:tcPr marL="36576" marR="36576" marT="18288" marB="18288">
                    <a:solidFill>
                      <a:srgbClr val="FFFFFF"/>
                    </a:solidFill>
                  </a:tcPr>
                </a:tc>
                <a:tc>
                  <a:txBody>
                    <a:bodyPr/>
                    <a:lstStyle/>
                    <a:p>
                      <a:pPr algn="r"/>
                      <a:r>
                        <a:rPr sz="950" b="0">
                          <a:solidFill>
                            <a:srgbClr val="0C1116"/>
                          </a:solidFill>
                          <a:latin typeface="Arial"/>
                        </a:rPr>
                        <a:t>258</a:t>
                      </a:r>
                    </a:p>
                  </a:txBody>
                  <a:tcPr marL="36576" marR="36576" marT="18288" marB="18288">
                    <a:solidFill>
                      <a:srgbClr val="FFFFFF"/>
                    </a:solidFill>
                  </a:tcPr>
                </a:tc>
                <a:tc>
                  <a:txBody>
                    <a:bodyPr/>
                    <a:lstStyle/>
                    <a:p>
                      <a:pPr algn="r"/>
                      <a:r>
                        <a:rPr sz="950" b="0">
                          <a:solidFill>
                            <a:srgbClr val="0C1116"/>
                          </a:solidFill>
                          <a:latin typeface="Arial"/>
                        </a:rPr>
                        <a:t>209</a:t>
                      </a:r>
                    </a:p>
                  </a:txBody>
                  <a:tcPr marL="36576" marR="36576" marT="18288" marB="18288">
                    <a:solidFill>
                      <a:srgbClr val="FFFFFF"/>
                    </a:solidFill>
                  </a:tcPr>
                </a:tc>
                <a:tc>
                  <a:txBody>
                    <a:bodyPr/>
                    <a:lstStyle/>
                    <a:p>
                      <a:pPr algn="r"/>
                      <a:r>
                        <a:rPr sz="950" b="0">
                          <a:solidFill>
                            <a:srgbClr val="0C1116"/>
                          </a:solidFill>
                          <a:latin typeface="Arial"/>
                        </a:rPr>
                        <a:t>22.1</a:t>
                      </a:r>
                    </a:p>
                  </a:txBody>
                  <a:tcPr marL="36576" marR="36576" marT="18288" marB="18288">
                    <a:solidFill>
                      <a:srgbClr val="FFFFFF"/>
                    </a:solidFill>
                  </a:tcPr>
                </a:tc>
                <a:tc>
                  <a:txBody>
                    <a:bodyPr/>
                    <a:lstStyle/>
                    <a:p>
                      <a:pPr algn="r"/>
                      <a:r>
                        <a:rPr sz="950" b="0">
                          <a:solidFill>
                            <a:srgbClr val="0C1116"/>
                          </a:solidFill>
                          <a:latin typeface="Arial"/>
                        </a:rPr>
                        <a:t>802</a:t>
                      </a:r>
                    </a:p>
                  </a:txBody>
                  <a:tcPr marL="36576" marR="36576" marT="18288" marB="18288">
                    <a:solidFill>
                      <a:srgbClr val="FFFFFF"/>
                    </a:solidFill>
                  </a:tcPr>
                </a:tc>
                <a:tc>
                  <a:txBody>
                    <a:bodyPr/>
                    <a:lstStyle/>
                    <a:p>
                      <a:pPr algn="r"/>
                      <a:r>
                        <a:rPr sz="950" b="0">
                          <a:solidFill>
                            <a:srgbClr val="0C1116"/>
                          </a:solidFill>
                          <a:latin typeface="Arial"/>
                        </a:rPr>
                        <a:t>305</a:t>
                      </a:r>
                    </a:p>
                  </a:txBody>
                  <a:tcPr marL="36576" marR="36576" marT="18288" marB="18288">
                    <a:solidFill>
                      <a:srgbClr val="FFFFFF"/>
                    </a:solidFill>
                  </a:tcPr>
                </a:tc>
              </a:tr>
              <a:tr h="246888">
                <a:tc>
                  <a:txBody>
                    <a:bodyPr/>
                    <a:lstStyle/>
                    <a:p>
                      <a:pPr algn="l"/>
                      <a:r>
                        <a:rPr sz="950" b="0">
                          <a:solidFill>
                            <a:srgbClr val="0C1116"/>
                          </a:solidFill>
                          <a:latin typeface="Arial"/>
                        </a:rPr>
                        <a:t>never (n=3)</a:t>
                      </a:r>
                    </a:p>
                  </a:txBody>
                  <a:tcPr marL="36576" marR="36576" marT="18288" marB="18288">
                    <a:solidFill>
                      <a:srgbClr val="FFFFFF"/>
                    </a:solidFill>
                  </a:tcPr>
                </a:tc>
                <a:tc>
                  <a:txBody>
                    <a:bodyPr/>
                    <a:lstStyle/>
                    <a:p>
                      <a:pPr algn="l"/>
                      <a:r>
                        <a:rPr sz="950" b="1">
                          <a:solidFill>
                            <a:srgbClr val="2B6CA3"/>
                          </a:solidFill>
                          <a:latin typeface="Arial"/>
                        </a:rPr>
                        <a:t>K 512</a:t>
                      </a:r>
                    </a:p>
                  </a:txBody>
                  <a:tcPr marL="36576" marR="36576" marT="18288" marB="18288">
                    <a:solidFill>
                      <a:srgbClr val="FFFFFF"/>
                    </a:solidFill>
                  </a:tcPr>
                </a:tc>
                <a:tc>
                  <a:txBody>
                    <a:bodyPr/>
                    <a:lstStyle/>
                    <a:p>
                      <a:pPr algn="r"/>
                      <a:r>
                        <a:rPr sz="950" b="0">
                          <a:solidFill>
                            <a:srgbClr val="0C1116"/>
                          </a:solidFill>
                          <a:latin typeface="Arial"/>
                        </a:rPr>
                        <a:t>61</a:t>
                      </a:r>
                    </a:p>
                  </a:txBody>
                  <a:tcPr marL="36576" marR="36576" marT="18288" marB="18288">
                    <a:solidFill>
                      <a:srgbClr val="FFFFFF"/>
                    </a:solidFill>
                  </a:tcPr>
                </a:tc>
                <a:tc>
                  <a:txBody>
                    <a:bodyPr/>
                    <a:lstStyle/>
                    <a:p>
                      <a:pPr algn="r"/>
                      <a:r>
                        <a:rPr sz="950" b="0">
                          <a:solidFill>
                            <a:srgbClr val="0C1116"/>
                          </a:solidFill>
                          <a:latin typeface="Arial"/>
                        </a:rPr>
                        <a:t>257</a:t>
                      </a:r>
                    </a:p>
                  </a:txBody>
                  <a:tcPr marL="36576" marR="36576" marT="18288" marB="18288">
                    <a:solidFill>
                      <a:srgbClr val="FFFFFF"/>
                    </a:solidFill>
                  </a:tcPr>
                </a:tc>
                <a:tc>
                  <a:txBody>
                    <a:bodyPr/>
                    <a:lstStyle/>
                    <a:p>
                      <a:pPr algn="r"/>
                      <a:r>
                        <a:rPr sz="950" b="0">
                          <a:solidFill>
                            <a:srgbClr val="0C1116"/>
                          </a:solidFill>
                          <a:latin typeface="Arial"/>
                        </a:rPr>
                        <a:t>195</a:t>
                      </a:r>
                    </a:p>
                  </a:txBody>
                  <a:tcPr marL="36576" marR="36576" marT="18288" marB="18288">
                    <a:solidFill>
                      <a:srgbClr val="FFFFFF"/>
                    </a:solidFill>
                  </a:tcPr>
                </a:tc>
                <a:tc>
                  <a:txBody>
                    <a:bodyPr/>
                    <a:lstStyle/>
                    <a:p>
                      <a:pPr algn="r"/>
                      <a:r>
                        <a:rPr sz="950" b="0">
                          <a:solidFill>
                            <a:srgbClr val="0C1116"/>
                          </a:solidFill>
                          <a:latin typeface="Arial"/>
                        </a:rPr>
                        <a:t>24.0</a:t>
                      </a:r>
                    </a:p>
                  </a:txBody>
                  <a:tcPr marL="36576" marR="36576" marT="18288" marB="18288">
                    <a:solidFill>
                      <a:srgbClr val="FFFFFF"/>
                    </a:solidFill>
                  </a:tcPr>
                </a:tc>
                <a:tc>
                  <a:txBody>
                    <a:bodyPr/>
                    <a:lstStyle/>
                    <a:p>
                      <a:pPr algn="r"/>
                      <a:r>
                        <a:rPr sz="950" b="0">
                          <a:solidFill>
                            <a:srgbClr val="0C1116"/>
                          </a:solidFill>
                          <a:latin typeface="Arial"/>
                        </a:rPr>
                        <a:t>789</a:t>
                      </a:r>
                    </a:p>
                  </a:txBody>
                  <a:tcPr marL="36576" marR="36576" marT="18288" marB="18288">
                    <a:solidFill>
                      <a:srgbClr val="FFFFFF"/>
                    </a:solidFill>
                  </a:tcPr>
                </a:tc>
                <a:tc>
                  <a:txBody>
                    <a:bodyPr/>
                    <a:lstStyle/>
                    <a:p>
                      <a:pPr algn="r"/>
                      <a:r>
                        <a:rPr sz="950" b="0">
                          <a:solidFill>
                            <a:srgbClr val="0C1116"/>
                          </a:solidFill>
                          <a:latin typeface="Arial"/>
                        </a:rPr>
                        <a:t>300</a:t>
                      </a:r>
                    </a:p>
                  </a:txBody>
                  <a:tcPr marL="36576" marR="36576" marT="18288" marB="18288">
                    <a:solidFill>
                      <a:srgbClr val="FFFFFF"/>
                    </a:solidFill>
                  </a:tcPr>
                </a:tc>
              </a:tr>
              <a:tr h="246888">
                <a:tc>
                  <a:txBody>
                    <a:bodyPr/>
                    <a:lstStyle/>
                    <a:p>
                      <a:pPr algn="l"/>
                      <a:r>
                        <a:rPr sz="950" b="0">
                          <a:solidFill>
                            <a:srgbClr val="0C1116"/>
                          </a:solidFill>
                          <a:latin typeface="Arial"/>
                        </a:rPr>
                        <a:t>never (n=3)</a:t>
                      </a:r>
                    </a:p>
                  </a:txBody>
                  <a:tcPr marL="36576" marR="36576" marT="18288" marB="18288">
                    <a:solidFill>
                      <a:srgbClr val="FFFFFF"/>
                    </a:solidFill>
                  </a:tcPr>
                </a:tc>
                <a:tc>
                  <a:txBody>
                    <a:bodyPr/>
                    <a:lstStyle/>
                    <a:p>
                      <a:pPr algn="l"/>
                      <a:r>
                        <a:rPr sz="950" b="1">
                          <a:solidFill>
                            <a:srgbClr val="2B6CA3"/>
                          </a:solidFill>
                          <a:latin typeface="Arial"/>
                        </a:rPr>
                        <a:t>K 256</a:t>
                      </a:r>
                    </a:p>
                  </a:txBody>
                  <a:tcPr marL="36576" marR="36576" marT="18288" marB="18288">
                    <a:solidFill>
                      <a:srgbClr val="FFFFFF"/>
                    </a:solidFill>
                  </a:tcPr>
                </a:tc>
                <a:tc>
                  <a:txBody>
                    <a:bodyPr/>
                    <a:lstStyle/>
                    <a:p>
                      <a:pPr algn="r"/>
                      <a:r>
                        <a:rPr sz="950" b="0">
                          <a:solidFill>
                            <a:srgbClr val="0C1116"/>
                          </a:solidFill>
                          <a:latin typeface="Arial"/>
                        </a:rPr>
                        <a:t>61</a:t>
                      </a:r>
                    </a:p>
                  </a:txBody>
                  <a:tcPr marL="36576" marR="36576" marT="18288" marB="18288">
                    <a:solidFill>
                      <a:srgbClr val="FFFFFF"/>
                    </a:solidFill>
                  </a:tcPr>
                </a:tc>
                <a:tc>
                  <a:txBody>
                    <a:bodyPr/>
                    <a:lstStyle/>
                    <a:p>
                      <a:pPr algn="r"/>
                      <a:r>
                        <a:rPr sz="950" b="0">
                          <a:solidFill>
                            <a:srgbClr val="0C1116"/>
                          </a:solidFill>
                          <a:latin typeface="Arial"/>
                        </a:rPr>
                        <a:t>256</a:t>
                      </a:r>
                    </a:p>
                  </a:txBody>
                  <a:tcPr marL="36576" marR="36576" marT="18288" marB="18288">
                    <a:solidFill>
                      <a:srgbClr val="FFFFFF"/>
                    </a:solidFill>
                  </a:tcPr>
                </a:tc>
                <a:tc>
                  <a:txBody>
                    <a:bodyPr/>
                    <a:lstStyle/>
                    <a:p>
                      <a:pPr algn="r"/>
                      <a:r>
                        <a:rPr sz="950" b="0">
                          <a:solidFill>
                            <a:srgbClr val="0C1116"/>
                          </a:solidFill>
                          <a:latin typeface="Arial"/>
                        </a:rPr>
                        <a:t>187</a:t>
                      </a:r>
                    </a:p>
                  </a:txBody>
                  <a:tcPr marL="36576" marR="36576" marT="18288" marB="18288">
                    <a:solidFill>
                      <a:srgbClr val="FFFFFF"/>
                    </a:solidFill>
                  </a:tcPr>
                </a:tc>
                <a:tc>
                  <a:txBody>
                    <a:bodyPr/>
                    <a:lstStyle/>
                    <a:p>
                      <a:pPr algn="r"/>
                      <a:r>
                        <a:rPr sz="950" b="0">
                          <a:solidFill>
                            <a:srgbClr val="0C1116"/>
                          </a:solidFill>
                          <a:latin typeface="Arial"/>
                        </a:rPr>
                        <a:t>24.8</a:t>
                      </a:r>
                    </a:p>
                  </a:txBody>
                  <a:tcPr marL="36576" marR="36576" marT="18288" marB="18288">
                    <a:solidFill>
                      <a:srgbClr val="FFFFFF"/>
                    </a:solidFill>
                  </a:tcPr>
                </a:tc>
                <a:tc>
                  <a:txBody>
                    <a:bodyPr/>
                    <a:lstStyle/>
                    <a:p>
                      <a:pPr algn="r"/>
                      <a:r>
                        <a:rPr sz="950" b="0">
                          <a:solidFill>
                            <a:srgbClr val="0C1116"/>
                          </a:solidFill>
                          <a:latin typeface="Arial"/>
                        </a:rPr>
                        <a:t>783</a:t>
                      </a:r>
                    </a:p>
                  </a:txBody>
                  <a:tcPr marL="36576" marR="36576" marT="18288" marB="18288">
                    <a:solidFill>
                      <a:srgbClr val="FFFFFF"/>
                    </a:solidFill>
                  </a:tcPr>
                </a:tc>
                <a:tc>
                  <a:txBody>
                    <a:bodyPr/>
                    <a:lstStyle/>
                    <a:p>
                      <a:pPr algn="r"/>
                      <a:r>
                        <a:rPr sz="950" b="0">
                          <a:solidFill>
                            <a:srgbClr val="0C1116"/>
                          </a:solidFill>
                          <a:latin typeface="Arial"/>
                        </a:rPr>
                        <a:t>298</a:t>
                      </a:r>
                    </a:p>
                  </a:txBody>
                  <a:tcPr marL="36576" marR="36576" marT="18288" marB="18288">
                    <a:solidFill>
                      <a:srgbClr val="FFFFFF"/>
                    </a:solidFill>
                  </a:tcPr>
                </a:tc>
              </a:tr>
            </a:tbl>
          </a:graphicData>
        </a:graphic>
      </p:graphicFrame>
      <p:sp>
        <p:nvSpPr>
          <p:cNvPr id="10" name="TextBox 9"/>
          <p:cNvSpPr txBox="1"/>
          <p:nvPr/>
        </p:nvSpPr>
        <p:spPr>
          <a:xfrm>
            <a:off x="566928" y="5029200"/>
            <a:ext cx="6766560" cy="1188720"/>
          </a:xfrm>
          <a:prstGeom prst="rect">
            <a:avLst/>
          </a:prstGeom>
          <a:noFill/>
        </p:spPr>
        <p:txBody>
          <a:bodyPr wrap="square" anchor="t" lIns="18288" rIns="18288" tIns="9144" bIns="9144">
            <a:spAutoFit/>
          </a:bodyPr>
          <a:lstStyle/>
          <a:p>
            <a:pPr algn="l"/>
            <a:r>
              <a:rPr sz="1000" b="0">
                <a:solidFill>
                  <a:srgbClr val="38424E"/>
                </a:solidFill>
                <a:latin typeface="Arial"/>
              </a:rPr>
              <a:t>A cap on decode alone is nearly free: 6% less energy for 1.5% more time and a DDR peak 19 C lower, the best energy x time of all plans. Capping prefill too saves 19% for 19% more time; below 902 the wait grows faster than the saving.</a:t>
            </a:r>
          </a:p>
          <a:p>
            <a:pPr algn="l"/>
            <a:r>
              <a:rPr sz="1000" b="0">
                <a:solidFill>
                  <a:srgbClr val="38424E"/>
                </a:solidFill>
                <a:latin typeface="Arial"/>
              </a:rPr>
              <a:t>On the CPU three quarters of a request is prefill, which the cache cannot touch: the tiers land within 3%, so 1024 is the CPU balance point. The cache is the CPU lever against the full cache (62% less energy), not between tiers.</a:t>
            </a:r>
          </a:p>
        </p:txBody>
      </p:sp>
      <p:sp>
        <p:nvSpPr>
          <p:cNvPr id="11" name="Rectangle 10"/>
          <p:cNvSpPr/>
          <p:nvPr/>
        </p:nvSpPr>
        <p:spPr>
          <a:xfrm>
            <a:off x="7589520" y="1828800"/>
            <a:ext cx="4041648" cy="11338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1883664"/>
            <a:ext cx="36576" cy="1024128"/>
          </a:xfrm>
          <a:prstGeom prst="rect">
            <a:avLst/>
          </a:prstGeom>
          <a:solidFill>
            <a:srgbClr val="C45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90688" y="1920240"/>
            <a:ext cx="3721608" cy="457200"/>
          </a:xfrm>
          <a:prstGeom prst="rect">
            <a:avLst/>
          </a:prstGeom>
          <a:noFill/>
        </p:spPr>
        <p:txBody>
          <a:bodyPr wrap="square" anchor="t" lIns="18288" rIns="18288" tIns="9144" bIns="9144">
            <a:spAutoFit/>
          </a:bodyPr>
          <a:lstStyle/>
          <a:p>
            <a:pPr algn="l"/>
            <a:r>
              <a:rPr sz="2600" b="1">
                <a:solidFill>
                  <a:srgbClr val="C4581A"/>
                </a:solidFill>
                <a:latin typeface="Consolas"/>
              </a:rPr>
              <a:t>-6% energy</a:t>
            </a:r>
          </a:p>
        </p:txBody>
      </p:sp>
      <p:sp>
        <p:nvSpPr>
          <p:cNvPr id="14" name="TextBox 13"/>
          <p:cNvSpPr txBox="1"/>
          <p:nvPr/>
        </p:nvSpPr>
        <p:spPr>
          <a:xfrm>
            <a:off x="7790688" y="2414016"/>
            <a:ext cx="3721608" cy="502920"/>
          </a:xfrm>
          <a:prstGeom prst="rect">
            <a:avLst/>
          </a:prstGeom>
          <a:noFill/>
        </p:spPr>
        <p:txBody>
          <a:bodyPr wrap="square" anchor="t" lIns="18288" rIns="18288" tIns="9144" bIns="9144">
            <a:spAutoFit/>
          </a:bodyPr>
          <a:lstStyle/>
          <a:p>
            <a:pPr algn="l"/>
            <a:r>
              <a:rPr sz="1000" b="0">
                <a:solidFill>
                  <a:srgbClr val="6B7785"/>
                </a:solidFill>
                <a:latin typeface="Arial"/>
              </a:rPr>
              <a:t>GPU, decode capped at 902 MHz, prefill untouched: +1.4% total time, energy x time -5%. The lever's choice at full charge.</a:t>
            </a:r>
          </a:p>
        </p:txBody>
      </p:sp>
      <p:sp>
        <p:nvSpPr>
          <p:cNvPr id="15" name="Rectangle 14"/>
          <p:cNvSpPr/>
          <p:nvPr/>
        </p:nvSpPr>
        <p:spPr>
          <a:xfrm>
            <a:off x="7589520" y="3154680"/>
            <a:ext cx="4041648" cy="11338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20" y="3209544"/>
            <a:ext cx="36576" cy="1024128"/>
          </a:xfrm>
          <a:prstGeom prst="rect">
            <a:avLst/>
          </a:prstGeom>
          <a:solidFill>
            <a:srgbClr val="2B6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90688" y="3246120"/>
            <a:ext cx="3721608" cy="457200"/>
          </a:xfrm>
          <a:prstGeom prst="rect">
            <a:avLst/>
          </a:prstGeom>
          <a:noFill/>
        </p:spPr>
        <p:txBody>
          <a:bodyPr wrap="square" anchor="t" lIns="18288" rIns="18288" tIns="9144" bIns="9144">
            <a:spAutoFit/>
          </a:bodyPr>
          <a:lstStyle/>
          <a:p>
            <a:pPr algn="l"/>
            <a:r>
              <a:rPr sz="2600" b="1">
                <a:solidFill>
                  <a:srgbClr val="2B6CA3"/>
                </a:solidFill>
                <a:latin typeface="Consolas"/>
              </a:rPr>
              <a:t>-19% energy</a:t>
            </a:r>
          </a:p>
        </p:txBody>
      </p:sp>
      <p:sp>
        <p:nvSpPr>
          <p:cNvPr id="18" name="TextBox 17"/>
          <p:cNvSpPr txBox="1"/>
          <p:nvPr/>
        </p:nvSpPr>
        <p:spPr>
          <a:xfrm>
            <a:off x="7790688" y="3739896"/>
            <a:ext cx="3721608" cy="502920"/>
          </a:xfrm>
          <a:prstGeom prst="rect">
            <a:avLst/>
          </a:prstGeom>
          <a:noFill/>
        </p:spPr>
        <p:txBody>
          <a:bodyPr wrap="square" anchor="t" lIns="18288" rIns="18288" tIns="9144" bIns="9144">
            <a:spAutoFit/>
          </a:bodyPr>
          <a:lstStyle/>
          <a:p>
            <a:pPr algn="l"/>
            <a:r>
              <a:rPr sz="1000" b="0">
                <a:solidFill>
                  <a:srgbClr val="6B7785"/>
                </a:solidFill>
                <a:latin typeface="Arial"/>
              </a:rPr>
              <a:t>GPU, 902 MHz on both phases: +19% total time, energy x time -4%. The lever's choice at low charge; 726 is never taken.</a:t>
            </a:r>
          </a:p>
        </p:txBody>
      </p:sp>
      <p:sp>
        <p:nvSpPr>
          <p:cNvPr id="19" name="Rectangle 18"/>
          <p:cNvSpPr/>
          <p:nvPr/>
        </p:nvSpPr>
        <p:spPr>
          <a:xfrm>
            <a:off x="7589520" y="4480560"/>
            <a:ext cx="4041648" cy="11338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89520" y="4535424"/>
            <a:ext cx="36576" cy="1024128"/>
          </a:xfrm>
          <a:prstGeom prst="rect">
            <a:avLst/>
          </a:prstGeom>
          <a:solidFill>
            <a:srgbClr val="1A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4572000"/>
            <a:ext cx="3721608" cy="457200"/>
          </a:xfrm>
          <a:prstGeom prst="rect">
            <a:avLst/>
          </a:prstGeom>
          <a:noFill/>
        </p:spPr>
        <p:txBody>
          <a:bodyPr wrap="square" anchor="t" lIns="18288" rIns="18288" tIns="9144" bIns="9144">
            <a:spAutoFit/>
          </a:bodyPr>
          <a:lstStyle/>
          <a:p>
            <a:pPr algn="l"/>
            <a:r>
              <a:rPr sz="2600" b="1">
                <a:solidFill>
                  <a:srgbClr val="1A7A58"/>
                </a:solidFill>
                <a:latin typeface="Consolas"/>
              </a:rPr>
              <a:t>-2% energy</a:t>
            </a:r>
          </a:p>
        </p:txBody>
      </p:sp>
      <p:sp>
        <p:nvSpPr>
          <p:cNvPr id="22" name="TextBox 21"/>
          <p:cNvSpPr txBox="1"/>
          <p:nvPr/>
        </p:nvSpPr>
        <p:spPr>
          <a:xfrm>
            <a:off x="7790688" y="5065776"/>
            <a:ext cx="3721608" cy="502920"/>
          </a:xfrm>
          <a:prstGeom prst="rect">
            <a:avLst/>
          </a:prstGeom>
          <a:noFill/>
        </p:spPr>
        <p:txBody>
          <a:bodyPr wrap="square" anchor="t" lIns="18288" rIns="18288" tIns="9144" bIns="9144">
            <a:spAutoFit/>
          </a:bodyPr>
          <a:lstStyle/>
          <a:p>
            <a:pPr algn="l"/>
            <a:r>
              <a:rPr sz="1000" b="0">
                <a:solidFill>
                  <a:srgbClr val="6B7785"/>
                </a:solidFill>
                <a:latin typeface="Arial"/>
              </a:rPr>
              <a:t>CPU, K 512 instead of 1024: 37% of qasper F1 for 2% of the request. The lever holds K=1024; the cache pays against the full cache, not between tiers.</a:t>
            </a:r>
          </a:p>
        </p:txBody>
      </p:sp>
      <p:sp>
        <p:nvSpPr>
          <p:cNvPr id="23" name="TextBox 22"/>
          <p:cNvSpPr txBox="1"/>
          <p:nvPr/>
        </p:nvSpPr>
        <p:spPr>
          <a:xfrm>
            <a:off x="11137392" y="6327648"/>
            <a:ext cx="548640" cy="274320"/>
          </a:xfrm>
          <a:prstGeom prst="rect">
            <a:avLst/>
          </a:prstGeom>
          <a:noFill/>
        </p:spPr>
        <p:txBody>
          <a:bodyPr wrap="none">
            <a:spAutoFit/>
          </a:bodyPr>
          <a:lstStyle/>
          <a:p>
            <a:pPr algn="r"/>
            <a:r>
              <a:rPr sz="900">
                <a:solidFill>
                  <a:srgbClr val="6B7785"/>
                </a:solidFill>
                <a:latin typeface="Consolas"/>
              </a:rPr>
              <a:t>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6400800" cy="274320"/>
          </a:xfrm>
          <a:prstGeom prst="rect">
            <a:avLst/>
          </a:prstGeom>
          <a:noFill/>
        </p:spPr>
        <p:txBody>
          <a:bodyPr wrap="square" anchor="t" lIns="18288" rIns="18288" tIns="9144" bIns="9144">
            <a:spAutoFit/>
          </a:bodyPr>
          <a:lstStyle/>
          <a:p>
            <a:pPr algn="l"/>
            <a:r>
              <a:rPr sz="900" b="1">
                <a:solidFill>
                  <a:srgbClr val="6B7785"/>
                </a:solidFill>
                <a:latin typeface="Consolas"/>
              </a:rPr>
              <a:t>RESULTS · ENERGY-AWARE · LLAMA-3.2-1B · ONEPLUS 15 · 9737-TOKEN PROMPT</a:t>
            </a:r>
          </a:p>
        </p:txBody>
      </p:sp>
      <p:sp>
        <p:nvSpPr>
          <p:cNvPr id="4" name="TextBox 3"/>
          <p:cNvSpPr txBox="1"/>
          <p:nvPr/>
        </p:nvSpPr>
        <p:spPr>
          <a:xfrm>
            <a:off x="566928" y="502920"/>
            <a:ext cx="10058400" cy="365760"/>
          </a:xfrm>
          <a:prstGeom prst="rect">
            <a:avLst/>
          </a:prstGeom>
          <a:noFill/>
        </p:spPr>
        <p:txBody>
          <a:bodyPr wrap="square" anchor="t" lIns="18288" rIns="18288" tIns="9144" bIns="9144">
            <a:spAutoFit/>
          </a:bodyPr>
          <a:lstStyle/>
          <a:p>
            <a:pPr algn="l"/>
            <a:r>
              <a:rPr sz="1100" b="1">
                <a:solidFill>
                  <a:srgbClr val="C4581A"/>
                </a:solidFill>
                <a:latin typeface="Consolas"/>
              </a:rPr>
              <a:t>RESULT · ENERGY-AWARE CONTROL, THE PICTURE</a:t>
            </a:r>
          </a:p>
        </p:txBody>
      </p:sp>
      <p:sp>
        <p:nvSpPr>
          <p:cNvPr id="5" name="TextBox 4"/>
          <p:cNvSpPr txBox="1"/>
          <p:nvPr/>
        </p:nvSpPr>
        <p:spPr>
          <a:xfrm>
            <a:off x="566928" y="914400"/>
            <a:ext cx="10607040" cy="685800"/>
          </a:xfrm>
          <a:prstGeom prst="rect">
            <a:avLst/>
          </a:prstGeom>
          <a:noFill/>
        </p:spPr>
        <p:txBody>
          <a:bodyPr wrap="square" anchor="t" lIns="18288" rIns="18288" tIns="9144" bIns="9144">
            <a:spAutoFit/>
          </a:bodyPr>
          <a:lstStyle/>
          <a:p>
            <a:pPr algn="l"/>
            <a:r>
              <a:rPr sz="2600" b="1">
                <a:solidFill>
                  <a:srgbClr val="0C1116"/>
                </a:solidFill>
                <a:latin typeface="Arial"/>
              </a:rPr>
              <a:t>Energy falls with the tier; the price is time, not decode speed</a:t>
            </a:r>
          </a:p>
        </p:txBody>
      </p:sp>
      <p:sp>
        <p:nvSpPr>
          <p:cNvPr id="6" name="TextBox 5"/>
          <p:cNvSpPr txBox="1"/>
          <p:nvPr/>
        </p:nvSpPr>
        <p:spPr>
          <a:xfrm>
            <a:off x="566928" y="1371600"/>
            <a:ext cx="10607040" cy="256032"/>
          </a:xfrm>
          <a:prstGeom prst="rect">
            <a:avLst/>
          </a:prstGeom>
          <a:noFill/>
        </p:spPr>
        <p:txBody>
          <a:bodyPr wrap="square" anchor="t" lIns="18288" rIns="18288" tIns="9144" bIns="9144">
            <a:spAutoFit/>
          </a:bodyPr>
          <a:lstStyle/>
          <a:p>
            <a:pPr algn="l"/>
            <a:r>
              <a:rPr sz="1050" b="1">
                <a:solidFill>
                  <a:srgbClr val="2B6CA3"/>
                </a:solidFill>
                <a:latin typeface="Consolas"/>
              </a:rPr>
              <a:t>Same command line every arm, n=3. GPU row: the tier caps the clock. CPU row: the tier sets K. Rows differ in output length.</a:t>
            </a:r>
          </a:p>
        </p:txBody>
      </p:sp>
      <p:pic>
        <p:nvPicPr>
          <p:cNvPr id="7" name="Picture 6" descr="fig_controller_proof.png"/>
          <p:cNvPicPr>
            <a:picLocks noChangeAspect="1"/>
          </p:cNvPicPr>
          <p:nvPr/>
        </p:nvPicPr>
        <p:blipFill>
          <a:blip r:embed="rId2"/>
          <a:stretch>
            <a:fillRect/>
          </a:stretch>
        </p:blipFill>
        <p:spPr>
          <a:xfrm>
            <a:off x="2880360" y="1645920"/>
            <a:ext cx="6400800" cy="4622800"/>
          </a:xfrm>
          <a:prstGeom prst="rect">
            <a:avLst/>
          </a:prstGeom>
        </p:spPr>
      </p:pic>
      <p:sp>
        <p:nvSpPr>
          <p:cNvPr id="8" name="TextBox 7"/>
          <p:cNvSpPr txBox="1"/>
          <p:nvPr/>
        </p:nvSpPr>
        <p:spPr>
          <a:xfrm>
            <a:off x="11137392" y="6327648"/>
            <a:ext cx="548640" cy="274320"/>
          </a:xfrm>
          <a:prstGeom prst="rect">
            <a:avLst/>
          </a:prstGeom>
          <a:noFill/>
        </p:spPr>
        <p:txBody>
          <a:bodyPr wrap="none">
            <a:spAutoFit/>
          </a:bodyPr>
          <a:lstStyle/>
          <a:p>
            <a:pPr algn="r"/>
            <a:r>
              <a:rPr sz="900">
                <a:solidFill>
                  <a:srgbClr val="6B7785"/>
                </a:solidFill>
                <a:latin typeface="Consolas"/>
              </a:rPr>
              <a: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6400800" cy="274320"/>
          </a:xfrm>
          <a:prstGeom prst="rect">
            <a:avLst/>
          </a:prstGeom>
          <a:noFill/>
        </p:spPr>
        <p:txBody>
          <a:bodyPr wrap="square" anchor="t" lIns="18288" rIns="18288" tIns="9144" bIns="9144">
            <a:spAutoFit/>
          </a:bodyPr>
          <a:lstStyle/>
          <a:p>
            <a:pPr algn="l"/>
            <a:r>
              <a:rPr sz="900" b="1">
                <a:solidFill>
                  <a:srgbClr val="6B7785"/>
                </a:solidFill>
                <a:latin typeface="Consolas"/>
              </a:rPr>
              <a:t>RESULTS · ENERGY-AWARE · SCHEDULER PROOF · N=2 PER ARM</a:t>
            </a:r>
          </a:p>
        </p:txBody>
      </p:sp>
      <p:sp>
        <p:nvSpPr>
          <p:cNvPr id="4" name="TextBox 3"/>
          <p:cNvSpPr txBox="1"/>
          <p:nvPr/>
        </p:nvSpPr>
        <p:spPr>
          <a:xfrm>
            <a:off x="566928" y="502920"/>
            <a:ext cx="10058400" cy="365760"/>
          </a:xfrm>
          <a:prstGeom prst="rect">
            <a:avLst/>
          </a:prstGeom>
          <a:noFill/>
        </p:spPr>
        <p:txBody>
          <a:bodyPr wrap="square" anchor="t" lIns="18288" rIns="18288" tIns="9144" bIns="9144">
            <a:spAutoFit/>
          </a:bodyPr>
          <a:lstStyle/>
          <a:p>
            <a:pPr algn="l"/>
            <a:r>
              <a:rPr sz="1100" b="1">
                <a:solidFill>
                  <a:srgbClr val="C4581A"/>
                </a:solidFill>
                <a:latin typeface="Consolas"/>
              </a:rPr>
              <a:t>RESULT · THE SCHEDULER, MEASURED</a:t>
            </a:r>
          </a:p>
        </p:txBody>
      </p:sp>
      <p:sp>
        <p:nvSpPr>
          <p:cNvPr id="5" name="TextBox 4"/>
          <p:cNvSpPr txBox="1"/>
          <p:nvPr/>
        </p:nvSpPr>
        <p:spPr>
          <a:xfrm>
            <a:off x="566928" y="914400"/>
            <a:ext cx="10607040" cy="685800"/>
          </a:xfrm>
          <a:prstGeom prst="rect">
            <a:avLst/>
          </a:prstGeom>
          <a:noFill/>
        </p:spPr>
        <p:txBody>
          <a:bodyPr wrap="square" anchor="t" lIns="18288" rIns="18288" tIns="9144" bIns="9144">
            <a:spAutoFit/>
          </a:bodyPr>
          <a:lstStyle/>
          <a:p>
            <a:pPr algn="l"/>
            <a:r>
              <a:rPr sz="2600" b="1">
                <a:solidFill>
                  <a:srgbClr val="0C1116"/>
                </a:solidFill>
                <a:latin typeface="Arial"/>
              </a:rPr>
              <a:t>The scheduler chose every plan; the phone measured what it cost</a:t>
            </a:r>
          </a:p>
        </p:txBody>
      </p:sp>
      <p:sp>
        <p:nvSpPr>
          <p:cNvPr id="6" name="TextBox 5"/>
          <p:cNvSpPr txBox="1"/>
          <p:nvPr/>
        </p:nvSpPr>
        <p:spPr>
          <a:xfrm>
            <a:off x="566928" y="1627632"/>
            <a:ext cx="10607040" cy="256032"/>
          </a:xfrm>
          <a:prstGeom prst="rect">
            <a:avLst/>
          </a:prstGeom>
          <a:noFill/>
        </p:spPr>
        <p:txBody>
          <a:bodyPr wrap="square" anchor="t" lIns="18288" rIns="18288" tIns="9144" bIns="9144">
            <a:spAutoFit/>
          </a:bodyPr>
          <a:lstStyle/>
          <a:p>
            <a:pPr algn="l"/>
            <a:r>
              <a:rPr sz="1050" b="1">
                <a:solidFill>
                  <a:srgbClr val="2B6CA3"/>
                </a:solidFill>
                <a:latin typeface="Consolas"/>
              </a:rPr>
              <a:t>Same prompt through ukv_sched.sh under forced battery states; control = told mains. Predictions from its table land within 1 to 7% of the meter.</a:t>
            </a:r>
          </a:p>
        </p:txBody>
      </p:sp>
      <p:pic>
        <p:nvPicPr>
          <p:cNvPr id="7" name="Picture 6" descr="fig_sched_proof.png"/>
          <p:cNvPicPr>
            <a:picLocks noChangeAspect="1"/>
          </p:cNvPicPr>
          <p:nvPr/>
        </p:nvPicPr>
        <p:blipFill>
          <a:blip r:embed="rId2"/>
          <a:stretch>
            <a:fillRect/>
          </a:stretch>
        </p:blipFill>
        <p:spPr>
          <a:xfrm>
            <a:off x="2331720" y="1920240"/>
            <a:ext cx="7498079" cy="3749040"/>
          </a:xfrm>
          <a:prstGeom prst="rect">
            <a:avLst/>
          </a:prstGeom>
        </p:spPr>
      </p:pic>
      <p:sp>
        <p:nvSpPr>
          <p:cNvPr id="8" name="TextBox 7"/>
          <p:cNvSpPr txBox="1"/>
          <p:nvPr/>
        </p:nvSpPr>
        <p:spPr>
          <a:xfrm>
            <a:off x="566928" y="5714999"/>
            <a:ext cx="11064240" cy="457200"/>
          </a:xfrm>
          <a:prstGeom prst="rect">
            <a:avLst/>
          </a:prstGeom>
          <a:noFill/>
        </p:spPr>
        <p:txBody>
          <a:bodyPr wrap="square" anchor="t" lIns="18288" rIns="18288" tIns="9144" bIns="9144">
            <a:spAutoFit/>
          </a:bodyPr>
          <a:lstStyle/>
          <a:p>
            <a:pPr algn="l"/>
            <a:r>
              <a:rPr sz="1000" b="0">
                <a:solidFill>
                  <a:srgbClr val="38424E"/>
                </a:solidFill>
                <a:latin typeface="Arial"/>
              </a:rPr>
              <a:t>At 40% and 15% the request costs 57% and 62% less than the control, mostly through the output cap; with the output fixed by the caller (15%, 4096 fix) the clock cap alone saves 13% at equal tokens. At 80% and on mains the scheduler runs the full-performance plan.</a:t>
            </a:r>
          </a:p>
        </p:txBody>
      </p:sp>
      <p:sp>
        <p:nvSpPr>
          <p:cNvPr id="9" name="TextBox 8"/>
          <p:cNvSpPr txBox="1"/>
          <p:nvPr/>
        </p:nvSpPr>
        <p:spPr>
          <a:xfrm>
            <a:off x="11137392" y="6327648"/>
            <a:ext cx="548640" cy="274320"/>
          </a:xfrm>
          <a:prstGeom prst="rect">
            <a:avLst/>
          </a:prstGeom>
          <a:noFill/>
        </p:spPr>
        <p:txBody>
          <a:bodyPr wrap="none">
            <a:spAutoFit/>
          </a:bodyPr>
          <a:lstStyle/>
          <a:p>
            <a:pPr algn="r"/>
            <a:r>
              <a:rPr sz="900">
                <a:solidFill>
                  <a:srgbClr val="6B7785"/>
                </a:solidFill>
                <a:latin typeface="Consolas"/>
              </a:rPr>
              <a:t>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6400800" cy="274320"/>
          </a:xfrm>
          <a:prstGeom prst="rect">
            <a:avLst/>
          </a:prstGeom>
          <a:noFill/>
        </p:spPr>
        <p:txBody>
          <a:bodyPr wrap="square" anchor="t" lIns="18288" rIns="18288" tIns="9144" bIns="9144">
            <a:spAutoFit/>
          </a:bodyPr>
          <a:lstStyle/>
          <a:p>
            <a:pPr algn="l"/>
            <a:r>
              <a:rPr sz="900" b="1">
                <a:solidFill>
                  <a:srgbClr val="6B7785"/>
                </a:solidFill>
                <a:latin typeface="Consolas"/>
              </a:rPr>
              <a:t>RESULTS · ENERGY-AWARE · DECISION MAP</a:t>
            </a:r>
          </a:p>
        </p:txBody>
      </p:sp>
      <p:sp>
        <p:nvSpPr>
          <p:cNvPr id="4" name="TextBox 3"/>
          <p:cNvSpPr txBox="1"/>
          <p:nvPr/>
        </p:nvSpPr>
        <p:spPr>
          <a:xfrm>
            <a:off x="566928" y="502920"/>
            <a:ext cx="10058400" cy="365760"/>
          </a:xfrm>
          <a:prstGeom prst="rect">
            <a:avLst/>
          </a:prstGeom>
          <a:noFill/>
        </p:spPr>
        <p:txBody>
          <a:bodyPr wrap="square" anchor="t" lIns="18288" rIns="18288" tIns="9144" bIns="9144">
            <a:spAutoFit/>
          </a:bodyPr>
          <a:lstStyle/>
          <a:p>
            <a:pPr algn="l"/>
            <a:r>
              <a:rPr sz="1100" b="1">
                <a:solidFill>
                  <a:srgbClr val="C4581A"/>
                </a:solidFill>
                <a:latin typeface="Consolas"/>
              </a:rPr>
              <a:t>RESULT · WHAT IT DECIDES, BY BATTERY STATE</a:t>
            </a:r>
          </a:p>
        </p:txBody>
      </p:sp>
      <p:sp>
        <p:nvSpPr>
          <p:cNvPr id="5" name="TextBox 4"/>
          <p:cNvSpPr txBox="1"/>
          <p:nvPr/>
        </p:nvSpPr>
        <p:spPr>
          <a:xfrm>
            <a:off x="566928" y="914400"/>
            <a:ext cx="10607040" cy="685800"/>
          </a:xfrm>
          <a:prstGeom prst="rect">
            <a:avLst/>
          </a:prstGeom>
          <a:noFill/>
        </p:spPr>
        <p:txBody>
          <a:bodyPr wrap="square" anchor="t" lIns="18288" rIns="18288" tIns="9144" bIns="9144">
            <a:spAutoFit/>
          </a:bodyPr>
          <a:lstStyle/>
          <a:p>
            <a:pPr algn="l"/>
            <a:r>
              <a:rPr sz="2600" b="1">
                <a:solidFill>
                  <a:srgbClr val="0C1116"/>
                </a:solidFill>
                <a:latin typeface="Arial"/>
              </a:rPr>
              <a:t>When the GPU clock, when the cache, when the output cap</a:t>
            </a:r>
          </a:p>
        </p:txBody>
      </p:sp>
      <p:sp>
        <p:nvSpPr>
          <p:cNvPr id="6" name="TextBox 5"/>
          <p:cNvSpPr txBox="1"/>
          <p:nvPr/>
        </p:nvSpPr>
        <p:spPr>
          <a:xfrm>
            <a:off x="566928" y="1627632"/>
            <a:ext cx="10607040" cy="256032"/>
          </a:xfrm>
          <a:prstGeom prst="rect">
            <a:avLst/>
          </a:prstGeom>
          <a:noFill/>
        </p:spPr>
        <p:txBody>
          <a:bodyPr wrap="square" anchor="t" lIns="18288" rIns="18288" tIns="9144" bIns="9144">
            <a:spAutoFit/>
          </a:bodyPr>
          <a:lstStyle/>
          <a:p>
            <a:pPr algn="l"/>
            <a:r>
              <a:rPr sz="1050" b="1">
                <a:solidFill>
                  <a:srgbClr val="2B6CA3"/>
                </a:solidFill>
                <a:latin typeface="Consolas"/>
              </a:rPr>
              <a:t>The policy at every state of charge, five request situations. CPU only when the GPU is unavailable; the CPU clock is never a decision.</a:t>
            </a:r>
          </a:p>
        </p:txBody>
      </p:sp>
      <p:pic>
        <p:nvPicPr>
          <p:cNvPr id="7" name="Picture 6" descr="fig_decision_map.png"/>
          <p:cNvPicPr>
            <a:picLocks noChangeAspect="1"/>
          </p:cNvPicPr>
          <p:nvPr/>
        </p:nvPicPr>
        <p:blipFill>
          <a:blip r:embed="rId2"/>
          <a:stretch>
            <a:fillRect/>
          </a:stretch>
        </p:blipFill>
        <p:spPr>
          <a:xfrm>
            <a:off x="2194560" y="1920240"/>
            <a:ext cx="7772400" cy="4318000"/>
          </a:xfrm>
          <a:prstGeom prst="rect">
            <a:avLst/>
          </a:prstGeom>
        </p:spPr>
      </p:pic>
      <p:sp>
        <p:nvSpPr>
          <p:cNvPr id="8" name="TextBox 7"/>
          <p:cNvSpPr txBox="1"/>
          <p:nvPr/>
        </p:nvSpPr>
        <p:spPr>
          <a:xfrm>
            <a:off x="11137392" y="6327648"/>
            <a:ext cx="548640" cy="274320"/>
          </a:xfrm>
          <a:prstGeom prst="rect">
            <a:avLst/>
          </a:prstGeom>
          <a:noFill/>
        </p:spPr>
        <p:txBody>
          <a:bodyPr wrap="none">
            <a:spAutoFit/>
          </a:bodyPr>
          <a:lstStyle/>
          <a:p>
            <a:pPr algn="r"/>
            <a:r>
              <a:rPr sz="900">
                <a:solidFill>
                  <a:srgbClr val="6B7785"/>
                </a:solidFill>
                <a:latin typeface="Consolas"/>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229600" cy="274320"/>
          </a:xfrm>
          <a:prstGeom prst="rect">
            <a:avLst/>
          </a:prstGeom>
          <a:noFill/>
        </p:spPr>
        <p:txBody>
          <a:bodyPr wrap="square">
            <a:spAutoFit/>
          </a:bodyPr>
          <a:lstStyle/>
          <a:p>
            <a:r>
              <a:rPr sz="900" b="0">
                <a:solidFill>
                  <a:srgbClr val="898781"/>
                </a:solidFill>
                <a:latin typeface="Arial"/>
              </a:rPr>
              <a:t>RESULTS · ENERGY-AWARE · THE REAL DISCHARGE · 123 REQUESTS, 91% TO 11%</a:t>
            </a:r>
          </a:p>
        </p:txBody>
      </p:sp>
      <p:sp>
        <p:nvSpPr>
          <p:cNvPr id="3" name="TextBox 2"/>
          <p:cNvSpPr txBox="1"/>
          <p:nvPr/>
        </p:nvSpPr>
        <p:spPr>
          <a:xfrm>
            <a:off x="365760" y="457200"/>
            <a:ext cx="8229600" cy="457200"/>
          </a:xfrm>
          <a:prstGeom prst="rect">
            <a:avLst/>
          </a:prstGeom>
          <a:noFill/>
        </p:spPr>
        <p:txBody>
          <a:bodyPr wrap="square">
            <a:spAutoFit/>
          </a:bodyPr>
          <a:lstStyle/>
          <a:p>
            <a:r>
              <a:rPr sz="2000" b="1">
                <a:solidFill>
                  <a:srgbClr val="0B0B0B"/>
                </a:solidFill>
                <a:latin typeface="Arial"/>
              </a:rPr>
              <a:t>RESULT · IT SWITCHES ON THE REAL BATTERY, AND SAVES</a:t>
            </a:r>
          </a:p>
        </p:txBody>
      </p:sp>
      <p:pic>
        <p:nvPicPr>
          <p:cNvPr id="4" name="Picture 3" descr="fig_discharge_timeline.png"/>
          <p:cNvPicPr>
            <a:picLocks noChangeAspect="1"/>
          </p:cNvPicPr>
          <p:nvPr/>
        </p:nvPicPr>
        <p:blipFill>
          <a:blip r:embed="rId2"/>
          <a:stretch>
            <a:fillRect/>
          </a:stretch>
        </p:blipFill>
        <p:spPr>
          <a:xfrm>
            <a:off x="320040" y="960120"/>
            <a:ext cx="7680960" cy="5227320"/>
          </a:xfrm>
          <a:prstGeom prst="rect">
            <a:avLst/>
          </a:prstGeom>
        </p:spPr>
      </p:pic>
      <p:sp>
        <p:nvSpPr>
          <p:cNvPr id="5" name="TextBox 4"/>
          <p:cNvSpPr txBox="1"/>
          <p:nvPr/>
        </p:nvSpPr>
        <p:spPr>
          <a:xfrm>
            <a:off x="8138160" y="1051560"/>
            <a:ext cx="3840480" cy="4114800"/>
          </a:xfrm>
          <a:prstGeom prst="rect">
            <a:avLst/>
          </a:prstGeom>
          <a:noFill/>
        </p:spPr>
        <p:txBody>
          <a:bodyPr wrap="square">
            <a:spAutoFit/>
          </a:bodyPr>
          <a:lstStyle/>
          <a:p>
            <a:r>
              <a:rPr sz="1050" b="0">
                <a:solidFill>
                  <a:srgbClr val="0B0B0B"/>
                </a:solidFill>
                <a:latin typeface="Arial"/>
              </a:rPr>
              <a:t>No forced state: the scheduler read the real level</a:t>
            </a:r>
          </a:p>
          <a:p>
            <a:r>
              <a:rPr sz="1050" b="0">
                <a:solidFill>
                  <a:srgbClr val="0B0B0B"/>
                </a:solidFill>
                <a:latin typeface="Arial"/>
              </a:rPr>
              <a:t>before every request. Charging off, cable out</a:t>
            </a:r>
          </a:p>
          <a:p>
            <a:r>
              <a:rPr sz="1050" b="0">
                <a:solidFill>
                  <a:srgbClr val="0B0B0B"/>
                </a:solidFill>
                <a:latin typeface="Arial"/>
              </a:rPr>
              <a:t>for the last 46 requests.</a:t>
            </a:r>
          </a:p>
          <a:p>
            <a:r>
              <a:rPr sz="1050" b="0">
                <a:solidFill>
                  <a:srgbClr val="0B0B0B"/>
                </a:solidFill>
                <a:latin typeface="Arial"/>
              </a:rPr>
              <a:t/>
            </a:r>
          </a:p>
          <a:p>
            <a:r>
              <a:rPr sz="1050" b="0">
                <a:solidFill>
                  <a:srgbClr val="0B0B0B"/>
                </a:solidFill>
                <a:latin typeface="Arial"/>
              </a:rPr>
              <a:t>Healthy, above 50%: 4096 tokens, 885 J, 280 s</a:t>
            </a:r>
          </a:p>
          <a:p>
            <a:r>
              <a:rPr sz="1050" b="0">
                <a:solidFill>
                  <a:srgbClr val="0B0B0B"/>
                </a:solidFill>
                <a:latin typeface="Arial"/>
              </a:rPr>
              <a:t>Mid, 50 to 21%: cap 1024, 748 J, 210 s (−15%)</a:t>
            </a:r>
          </a:p>
          <a:p>
            <a:r>
              <a:rPr sz="1050" b="0">
                <a:solidFill>
                  <a:srgbClr val="0B0B0B"/>
                </a:solidFill>
                <a:latin typeface="Arial"/>
              </a:rPr>
              <a:t>Low, 20% and below: 902 MHz, cap 512, 506 J,</a:t>
            </a:r>
          </a:p>
          <a:p>
            <a:r>
              <a:rPr sz="1050" b="0">
                <a:solidFill>
                  <a:srgbClr val="0B0B0B"/>
                </a:solidFill>
                <a:latin typeface="Arial"/>
              </a:rPr>
              <a:t>177 s (−43%)</a:t>
            </a:r>
          </a:p>
          <a:p>
            <a:r>
              <a:rPr sz="1050" b="0">
                <a:solidFill>
                  <a:srgbClr val="0B0B0B"/>
                </a:solidFill>
                <a:latin typeface="Arial"/>
              </a:rPr>
              <a:t/>
            </a:r>
          </a:p>
          <a:p>
            <a:r>
              <a:rPr sz="1050" b="0">
                <a:solidFill>
                  <a:srgbClr val="0B0B0B"/>
                </a:solidFill>
                <a:latin typeface="Arial"/>
              </a:rPr>
              <a:t>Switches on the first request past 50 and 20.</a:t>
            </a:r>
          </a:p>
          <a:p>
            <a:r>
              <a:rPr sz="1050" b="0">
                <a:solidFill>
                  <a:srgbClr val="0B0B0B"/>
                </a:solidFill>
                <a:latin typeface="Arial"/>
              </a:rPr>
              <a:t/>
            </a:r>
          </a:p>
          <a:p>
            <a:r>
              <a:rPr sz="1050" b="0">
                <a:solidFill>
                  <a:srgbClr val="0B0B0B"/>
                </a:solidFill>
                <a:latin typeface="Arial"/>
              </a:rPr>
              <a:t>On battery the OEM already runs the GPU cooler</a:t>
            </a:r>
          </a:p>
          <a:p>
            <a:r>
              <a:rPr sz="1050" b="0">
                <a:solidFill>
                  <a:srgbClr val="0B0B0B"/>
                </a:solidFill>
                <a:latin typeface="Arial"/>
              </a:rPr>
              <a:t>and caps prefill at 726 MHz within a minute, so</a:t>
            </a:r>
          </a:p>
          <a:p>
            <a:r>
              <a:rPr sz="1050" b="0">
                <a:solidFill>
                  <a:srgbClr val="0B0B0B"/>
                </a:solidFill>
                <a:latin typeface="Arial"/>
              </a:rPr>
              <a:t>the answer cap and the prefill cap carry the</a:t>
            </a:r>
          </a:p>
          <a:p>
            <a:r>
              <a:rPr sz="1050" b="0">
                <a:solidFill>
                  <a:srgbClr val="0B0B0B"/>
                </a:solidFill>
                <a:latin typeface="Arial"/>
              </a:rPr>
              <a:t>saving; the decode-clock lever (6% on the cable)</a:t>
            </a:r>
          </a:p>
          <a:p>
            <a:r>
              <a:rPr sz="1050" b="0">
                <a:solidFill>
                  <a:srgbClr val="0B0B0B"/>
                </a:solidFill>
                <a:latin typeface="Arial"/>
              </a:rPr>
              <a:t>is pre-empted by the vendor.</a:t>
            </a:r>
          </a:p>
          <a:p>
            <a:r>
              <a:rPr sz="1050" b="0">
                <a:solidFill>
                  <a:srgbClr val="0B0B0B"/>
                </a:solidFill>
                <a:latin typeface="Arial"/>
              </a:rPr>
              <a:t/>
            </a:r>
          </a:p>
          <a:p>
            <a:r>
              <a:rPr sz="1050" b="0">
                <a:solidFill>
                  <a:srgbClr val="0B0B0B"/>
                </a:solidFill>
                <a:latin typeface="Arial"/>
              </a:rPr>
              <a:t>Table re-learned the battery regime in 3 requests.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CONTRIBUTIONS</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18</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WHAT WE CLAIM, AND WHAT BACKS IT</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Four contributions, each with the evidence beside it</a:t>
            </a:r>
          </a:p>
        </p:txBody>
      </p:sp>
      <p:sp>
        <p:nvSpPr>
          <p:cNvPr id="7" name="Rounded Rectangle 6"/>
          <p:cNvSpPr/>
          <p:nvPr/>
        </p:nvSpPr>
        <p:spPr>
          <a:xfrm>
            <a:off x="566928" y="1783080"/>
            <a:ext cx="11064240" cy="96012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37943"/>
            <a:ext cx="41148" cy="85039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01952"/>
            <a:ext cx="365760" cy="274320"/>
          </a:xfrm>
          <a:prstGeom prst="rect">
            <a:avLst/>
          </a:prstGeom>
          <a:noFill/>
        </p:spPr>
        <p:txBody>
          <a:bodyPr wrap="square" lIns="0" rIns="0" tIns="0" bIns="0" anchor="t">
            <a:spAutoFit/>
          </a:bodyPr>
          <a:lstStyle/>
          <a:p>
            <a:pPr algn="l"/>
            <a:r>
              <a:rPr sz="1500" b="1" i="0">
                <a:solidFill>
                  <a:srgbClr val="C4581A"/>
                </a:solidFill>
                <a:latin typeface="Consolas"/>
              </a:rPr>
              <a:t>1</a:t>
            </a:r>
          </a:p>
        </p:txBody>
      </p:sp>
      <p:sp>
        <p:nvSpPr>
          <p:cNvPr id="10" name="TextBox 9"/>
          <p:cNvSpPr txBox="1"/>
          <p:nvPr/>
        </p:nvSpPr>
        <p:spPr>
          <a:xfrm>
            <a:off x="1234440" y="1883664"/>
            <a:ext cx="6766560" cy="274320"/>
          </a:xfrm>
          <a:prstGeom prst="rect">
            <a:avLst/>
          </a:prstGeom>
          <a:noFill/>
        </p:spPr>
        <p:txBody>
          <a:bodyPr wrap="square" lIns="0" rIns="0" tIns="0" bIns="0" anchor="t">
            <a:spAutoFit/>
          </a:bodyPr>
          <a:lstStyle/>
          <a:p>
            <a:pPr algn="l"/>
            <a:r>
              <a:rPr sz="1250" b="1" i="0">
                <a:solidFill>
                  <a:srgbClr val="0C1116"/>
                </a:solidFill>
                <a:latin typeface="Arial"/>
              </a:rPr>
              <a:t>First end-to-end measurement of published eviction on a phone</a:t>
            </a:r>
          </a:p>
        </p:txBody>
      </p:sp>
      <p:sp>
        <p:nvSpPr>
          <p:cNvPr id="11" name="TextBox 10"/>
          <p:cNvSpPr txBox="1"/>
          <p:nvPr/>
        </p:nvSpPr>
        <p:spPr>
          <a:xfrm>
            <a:off x="1234440" y="2185416"/>
            <a:ext cx="6766560" cy="502920"/>
          </a:xfrm>
          <a:prstGeom prst="rect">
            <a:avLst/>
          </a:prstGeom>
          <a:noFill/>
        </p:spPr>
        <p:txBody>
          <a:bodyPr wrap="square" lIns="0" rIns="0" tIns="0" bIns="0" anchor="t">
            <a:spAutoFit/>
          </a:bodyPr>
          <a:lstStyle/>
          <a:p>
            <a:pPr algn="l">
              <a:lnSpc>
                <a:spcPct val="128000"/>
              </a:lnSpc>
            </a:pPr>
            <a:r>
              <a:rPr sz="1050" b="0" i="0">
                <a:solidFill>
                  <a:srgbClr val="38424E"/>
                </a:solidFill>
                <a:latin typeface="Arial"/>
              </a:rPr>
              <a:t>Nine policies, each at its own published setting, on four models and two processors, measured on speed, energy, temperature and cells actually freed.</a:t>
            </a:r>
          </a:p>
        </p:txBody>
      </p:sp>
      <p:sp>
        <p:nvSpPr>
          <p:cNvPr id="12" name="TextBox 11"/>
          <p:cNvSpPr txBox="1"/>
          <p:nvPr/>
        </p:nvSpPr>
        <p:spPr>
          <a:xfrm>
            <a:off x="8229600" y="1965960"/>
            <a:ext cx="3200400" cy="640080"/>
          </a:xfrm>
          <a:prstGeom prst="rect">
            <a:avLst/>
          </a:prstGeom>
          <a:noFill/>
        </p:spPr>
        <p:txBody>
          <a:bodyPr wrap="square" lIns="0" rIns="0" tIns="0" bIns="0" anchor="t">
            <a:spAutoFit/>
          </a:bodyPr>
          <a:lstStyle/>
          <a:p>
            <a:pPr algn="l">
              <a:lnSpc>
                <a:spcPct val="130000"/>
              </a:lnSpc>
            </a:pPr>
            <a:r>
              <a:rPr sz="1000" b="0" i="0">
                <a:solidFill>
                  <a:srgbClr val="6B7785"/>
                </a:solidFill>
                <a:latin typeface="Arial"/>
              </a:rPr>
              <a:t>Tables 1 and 2, every row re-derived from raw logs</a:t>
            </a:r>
          </a:p>
        </p:txBody>
      </p:sp>
      <p:sp>
        <p:nvSpPr>
          <p:cNvPr id="13" name="Rounded Rectangle 12"/>
          <p:cNvSpPr/>
          <p:nvPr/>
        </p:nvSpPr>
        <p:spPr>
          <a:xfrm>
            <a:off x="566928" y="2834639"/>
            <a:ext cx="11064240" cy="96012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889503"/>
            <a:ext cx="41148" cy="85039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953511"/>
            <a:ext cx="365760" cy="274320"/>
          </a:xfrm>
          <a:prstGeom prst="rect">
            <a:avLst/>
          </a:prstGeom>
          <a:noFill/>
        </p:spPr>
        <p:txBody>
          <a:bodyPr wrap="square" lIns="0" rIns="0" tIns="0" bIns="0" anchor="t">
            <a:spAutoFit/>
          </a:bodyPr>
          <a:lstStyle/>
          <a:p>
            <a:pPr algn="l"/>
            <a:r>
              <a:rPr sz="1500" b="1" i="0">
                <a:solidFill>
                  <a:srgbClr val="C4581A"/>
                </a:solidFill>
                <a:latin typeface="Consolas"/>
              </a:rPr>
              <a:t>2</a:t>
            </a:r>
          </a:p>
        </p:txBody>
      </p:sp>
      <p:sp>
        <p:nvSpPr>
          <p:cNvPr id="16" name="TextBox 15"/>
          <p:cNvSpPr txBox="1"/>
          <p:nvPr/>
        </p:nvSpPr>
        <p:spPr>
          <a:xfrm>
            <a:off x="1234440" y="2935223"/>
            <a:ext cx="6766560" cy="274320"/>
          </a:xfrm>
          <a:prstGeom prst="rect">
            <a:avLst/>
          </a:prstGeom>
          <a:noFill/>
        </p:spPr>
        <p:txBody>
          <a:bodyPr wrap="square" lIns="0" rIns="0" tIns="0" bIns="0" anchor="t">
            <a:spAutoFit/>
          </a:bodyPr>
          <a:lstStyle/>
          <a:p>
            <a:pPr algn="l"/>
            <a:r>
              <a:rPr sz="1250" b="1" i="0">
                <a:solidFill>
                  <a:srgbClr val="0C1116"/>
                </a:solidFill>
                <a:latin typeface="Arial"/>
              </a:rPr>
              <a:t>Three failure modes that belong to the device, not to any policy</a:t>
            </a:r>
          </a:p>
        </p:txBody>
      </p:sp>
      <p:sp>
        <p:nvSpPr>
          <p:cNvPr id="17" name="TextBox 16"/>
          <p:cNvSpPr txBox="1"/>
          <p:nvPr/>
        </p:nvSpPr>
        <p:spPr>
          <a:xfrm>
            <a:off x="1234440" y="3236975"/>
            <a:ext cx="6766560" cy="502920"/>
          </a:xfrm>
          <a:prstGeom prst="rect">
            <a:avLst/>
          </a:prstGeom>
          <a:noFill/>
        </p:spPr>
        <p:txBody>
          <a:bodyPr wrap="square" lIns="0" rIns="0" tIns="0" bIns="0" anchor="t">
            <a:spAutoFit/>
          </a:bodyPr>
          <a:lstStyle/>
          <a:p>
            <a:pPr algn="l">
              <a:lnSpc>
                <a:spcPct val="128000"/>
              </a:lnSpc>
            </a:pPr>
            <a:r>
              <a:rPr sz="1050" b="0" i="0">
                <a:solidFill>
                  <a:srgbClr val="38424E"/>
                </a:solidFill>
                <a:latin typeface="Arial"/>
              </a:rPr>
              <a:t>Budgets that do not materialize, a scoring route that corrupts on Adreno, and a hardware ceiling. Each is shown on published baselines, not only on ours: a problem hurting only our design would be our bug, not a finding.</a:t>
            </a:r>
          </a:p>
        </p:txBody>
      </p:sp>
      <p:sp>
        <p:nvSpPr>
          <p:cNvPr id="18" name="TextBox 17"/>
          <p:cNvSpPr txBox="1"/>
          <p:nvPr/>
        </p:nvSpPr>
        <p:spPr>
          <a:xfrm>
            <a:off x="8229600" y="3017520"/>
            <a:ext cx="3200400" cy="640080"/>
          </a:xfrm>
          <a:prstGeom prst="rect">
            <a:avLst/>
          </a:prstGeom>
          <a:noFill/>
        </p:spPr>
        <p:txBody>
          <a:bodyPr wrap="square" lIns="0" rIns="0" tIns="0" bIns="0" anchor="t">
            <a:spAutoFit/>
          </a:bodyPr>
          <a:lstStyle/>
          <a:p>
            <a:pPr algn="l">
              <a:lnSpc>
                <a:spcPct val="130000"/>
              </a:lnSpc>
            </a:pPr>
            <a:r>
              <a:rPr sz="1000" b="0" i="0">
                <a:solidFill>
                  <a:srgbClr val="6B7785"/>
                </a:solidFill>
                <a:latin typeface="Arial"/>
              </a:rPr>
              <a:t>Three-way control; CPU vs GPU control</a:t>
            </a:r>
          </a:p>
        </p:txBody>
      </p:sp>
      <p:sp>
        <p:nvSpPr>
          <p:cNvPr id="19" name="Rounded Rectangle 18"/>
          <p:cNvSpPr/>
          <p:nvPr/>
        </p:nvSpPr>
        <p:spPr>
          <a:xfrm>
            <a:off x="566928" y="3886200"/>
            <a:ext cx="11064240" cy="96012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941063"/>
            <a:ext cx="41148" cy="850392"/>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005072"/>
            <a:ext cx="365760" cy="274320"/>
          </a:xfrm>
          <a:prstGeom prst="rect">
            <a:avLst/>
          </a:prstGeom>
          <a:noFill/>
        </p:spPr>
        <p:txBody>
          <a:bodyPr wrap="square" lIns="0" rIns="0" tIns="0" bIns="0" anchor="t">
            <a:spAutoFit/>
          </a:bodyPr>
          <a:lstStyle/>
          <a:p>
            <a:pPr algn="l"/>
            <a:r>
              <a:rPr sz="1500" b="1" i="0">
                <a:solidFill>
                  <a:srgbClr val="C4581A"/>
                </a:solidFill>
                <a:latin typeface="Consolas"/>
              </a:rPr>
              <a:t>3</a:t>
            </a:r>
          </a:p>
        </p:txBody>
      </p:sp>
      <p:sp>
        <p:nvSpPr>
          <p:cNvPr id="22" name="TextBox 21"/>
          <p:cNvSpPr txBox="1"/>
          <p:nvPr/>
        </p:nvSpPr>
        <p:spPr>
          <a:xfrm>
            <a:off x="1234440" y="3986784"/>
            <a:ext cx="6766560" cy="274320"/>
          </a:xfrm>
          <a:prstGeom prst="rect">
            <a:avLst/>
          </a:prstGeom>
          <a:noFill/>
        </p:spPr>
        <p:txBody>
          <a:bodyPr wrap="square" lIns="0" rIns="0" tIns="0" bIns="0" anchor="t">
            <a:spAutoFit/>
          </a:bodyPr>
          <a:lstStyle/>
          <a:p>
            <a:pPr algn="l"/>
            <a:r>
              <a:rPr sz="1250" b="1" i="0">
                <a:solidFill>
                  <a:srgbClr val="0C1116"/>
                </a:solidFill>
                <a:latin typeface="Arial"/>
              </a:rPr>
              <a:t>μKV: sequence-level, in-graph, with a characterised thermal dial</a:t>
            </a:r>
          </a:p>
        </p:txBody>
      </p:sp>
      <p:sp>
        <p:nvSpPr>
          <p:cNvPr id="23" name="TextBox 22"/>
          <p:cNvSpPr txBox="1"/>
          <p:nvPr/>
        </p:nvSpPr>
        <p:spPr>
          <a:xfrm>
            <a:off x="1234440" y="4288536"/>
            <a:ext cx="6766560" cy="502920"/>
          </a:xfrm>
          <a:prstGeom prst="rect">
            <a:avLst/>
          </a:prstGeom>
          <a:noFill/>
        </p:spPr>
        <p:txBody>
          <a:bodyPr wrap="square" lIns="0" rIns="0" tIns="0" bIns="0" anchor="t">
            <a:spAutoFit/>
          </a:bodyPr>
          <a:lstStyle/>
          <a:p>
            <a:pPr algn="l">
              <a:lnSpc>
                <a:spcPct val="128000"/>
              </a:lnSpc>
            </a:pPr>
            <a:r>
              <a:rPr sz="1050" b="0" i="0">
                <a:solidFill>
                  <a:srgbClr val="38424E"/>
                </a:solidFill>
                <a:latin typeface="Arial"/>
              </a:rPr>
              <a:t>Score in-graph, one keep-set, compact in place, freeze during decode, plus a watchdog that steps the clock before the vendor cliff. 4.80x on CPU on 7.4% of the cache, at 58% less energy.</a:t>
            </a:r>
          </a:p>
        </p:txBody>
      </p:sp>
      <p:sp>
        <p:nvSpPr>
          <p:cNvPr id="24" name="TextBox 23"/>
          <p:cNvSpPr txBox="1"/>
          <p:nvPr/>
        </p:nvSpPr>
        <p:spPr>
          <a:xfrm>
            <a:off x="8229600" y="4069080"/>
            <a:ext cx="3200400" cy="640080"/>
          </a:xfrm>
          <a:prstGeom prst="rect">
            <a:avLst/>
          </a:prstGeom>
          <a:noFill/>
        </p:spPr>
        <p:txBody>
          <a:bodyPr wrap="square" lIns="0" rIns="0" tIns="0" bIns="0" anchor="t">
            <a:spAutoFit/>
          </a:bodyPr>
          <a:lstStyle/>
          <a:p>
            <a:pPr algn="l">
              <a:lnSpc>
                <a:spcPct val="130000"/>
              </a:lnSpc>
            </a:pPr>
            <a:r>
              <a:rPr sz="1000" b="0" i="0">
                <a:solidFill>
                  <a:srgbClr val="6B7785"/>
                </a:solidFill>
                <a:latin typeface="Arial"/>
              </a:rPr>
              <a:t>n=3 rotated; compaction 23/25 identical</a:t>
            </a:r>
          </a:p>
        </p:txBody>
      </p:sp>
      <p:sp>
        <p:nvSpPr>
          <p:cNvPr id="25" name="Rounded Rectangle 24"/>
          <p:cNvSpPr/>
          <p:nvPr/>
        </p:nvSpPr>
        <p:spPr>
          <a:xfrm>
            <a:off x="566928" y="4937759"/>
            <a:ext cx="11064240" cy="96012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92623"/>
            <a:ext cx="41148" cy="850392"/>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056631"/>
            <a:ext cx="365760" cy="274320"/>
          </a:xfrm>
          <a:prstGeom prst="rect">
            <a:avLst/>
          </a:prstGeom>
          <a:noFill/>
        </p:spPr>
        <p:txBody>
          <a:bodyPr wrap="square" lIns="0" rIns="0" tIns="0" bIns="0" anchor="t">
            <a:spAutoFit/>
          </a:bodyPr>
          <a:lstStyle/>
          <a:p>
            <a:pPr algn="l"/>
            <a:r>
              <a:rPr sz="1500" b="1" i="0">
                <a:solidFill>
                  <a:srgbClr val="2B6CA3"/>
                </a:solidFill>
                <a:latin typeface="Consolas"/>
              </a:rPr>
              <a:t>4</a:t>
            </a:r>
          </a:p>
        </p:txBody>
      </p:sp>
      <p:sp>
        <p:nvSpPr>
          <p:cNvPr id="28" name="TextBox 27"/>
          <p:cNvSpPr txBox="1"/>
          <p:nvPr/>
        </p:nvSpPr>
        <p:spPr>
          <a:xfrm>
            <a:off x="1234440" y="5038344"/>
            <a:ext cx="6766560" cy="274320"/>
          </a:xfrm>
          <a:prstGeom prst="rect">
            <a:avLst/>
          </a:prstGeom>
          <a:noFill/>
        </p:spPr>
        <p:txBody>
          <a:bodyPr wrap="square" lIns="0" rIns="0" tIns="0" bIns="0" anchor="t">
            <a:spAutoFit/>
          </a:bodyPr>
          <a:lstStyle/>
          <a:p>
            <a:pPr algn="l"/>
            <a:r>
              <a:rPr sz="1250" b="1" i="0">
                <a:solidFill>
                  <a:srgbClr val="0C1116"/>
                </a:solidFill>
                <a:latin typeface="Arial"/>
              </a:rPr>
              <a:t>The measurement traps that make phone numbers wrong</a:t>
            </a:r>
          </a:p>
        </p:txBody>
      </p:sp>
      <p:sp>
        <p:nvSpPr>
          <p:cNvPr id="29" name="TextBox 28"/>
          <p:cNvSpPr txBox="1"/>
          <p:nvPr/>
        </p:nvSpPr>
        <p:spPr>
          <a:xfrm>
            <a:off x="1234440" y="5340096"/>
            <a:ext cx="6766560" cy="502920"/>
          </a:xfrm>
          <a:prstGeom prst="rect">
            <a:avLst/>
          </a:prstGeom>
          <a:noFill/>
        </p:spPr>
        <p:txBody>
          <a:bodyPr wrap="square" lIns="0" rIns="0" tIns="0" bIns="0" anchor="t">
            <a:spAutoFit/>
          </a:bodyPr>
          <a:lstStyle/>
          <a:p>
            <a:pPr algn="l">
              <a:lnSpc>
                <a:spcPct val="128000"/>
              </a:lnSpc>
            </a:pPr>
            <a:r>
              <a:rPr sz="1050" b="0" i="0">
                <a:solidFill>
                  <a:srgbClr val="38424E"/>
                </a:solidFill>
                <a:latin typeface="Arial"/>
              </a:rPr>
              <a:t>A baseline at the wrong budget reads 5.75 instead of 29.07 tok/s. An unpinned scheduler spreads identical runs by 39%, so any GPU ratio under 1.39x is noise.</a:t>
            </a:r>
          </a:p>
        </p:txBody>
      </p:sp>
      <p:sp>
        <p:nvSpPr>
          <p:cNvPr id="30" name="TextBox 29"/>
          <p:cNvSpPr txBox="1"/>
          <p:nvPr/>
        </p:nvSpPr>
        <p:spPr>
          <a:xfrm>
            <a:off x="8229600" y="5120640"/>
            <a:ext cx="3200400" cy="640080"/>
          </a:xfrm>
          <a:prstGeom prst="rect">
            <a:avLst/>
          </a:prstGeom>
          <a:noFill/>
        </p:spPr>
        <p:txBody>
          <a:bodyPr wrap="square" lIns="0" rIns="0" tIns="0" bIns="0" anchor="t">
            <a:spAutoFit/>
          </a:bodyPr>
          <a:lstStyle/>
          <a:p>
            <a:pPr algn="l">
              <a:lnSpc>
                <a:spcPct val="130000"/>
              </a:lnSpc>
            </a:pPr>
            <a:r>
              <a:rPr sz="1000" b="0" i="0">
                <a:solidFill>
                  <a:srgbClr val="6B7785"/>
                </a:solidFill>
                <a:latin typeface="Arial"/>
              </a:rPr>
              <a:t>Quantified so others can avoid them</a:t>
            </a:r>
          </a:p>
        </p:txBody>
      </p:sp>
      <p:sp>
        <p:nvSpPr>
          <p:cNvPr id="31" name="TextBox 30"/>
          <p:cNvSpPr txBox="1"/>
          <p:nvPr/>
        </p:nvSpPr>
        <p:spPr>
          <a:xfrm>
            <a:off x="566928" y="6035040"/>
            <a:ext cx="11064240" cy="320040"/>
          </a:xfrm>
          <a:prstGeom prst="rect">
            <a:avLst/>
          </a:prstGeom>
          <a:noFill/>
        </p:spPr>
        <p:txBody>
          <a:bodyPr wrap="square" lIns="0" rIns="0" tIns="0" bIns="0" anchor="t">
            <a:spAutoFit/>
          </a:bodyPr>
          <a:lstStyle/>
          <a:p>
            <a:pPr algn="l"/>
            <a:r>
              <a:rPr sz="1050" b="0" i="0">
                <a:solidFill>
                  <a:srgbClr val="6B7785"/>
                </a:solidFill>
                <a:latin typeface="Arial"/>
              </a:rPr>
              <a:t>Every table in the paper was re-derived from the raw campaign data during preparation: Tables 1, 2 and 4 exact on all rows, Table 3 exact on 12/12 retention and 14/14 F1.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NOVELTY</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19</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NOVELTY, CHECKED AGAINST THE CLOSEST PRIOR WORK</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What is ours, and what we explicitly do not claim</a:t>
            </a:r>
          </a:p>
        </p:txBody>
      </p:sp>
      <p:graphicFrame>
        <p:nvGraphicFramePr>
          <p:cNvPr id="7" name="Table 6"/>
          <p:cNvGraphicFramePr>
            <a:graphicFrameLocks noGrp="1"/>
          </p:cNvGraphicFramePr>
          <p:nvPr/>
        </p:nvGraphicFramePr>
        <p:xfrm>
          <a:off x="566928" y="1783080"/>
          <a:ext cx="11064240" cy="1755648"/>
        </p:xfrm>
        <a:graphic>
          <a:graphicData uri="http://schemas.openxmlformats.org/drawingml/2006/table">
            <a:tbl>
              <a:tblPr firstRow="1" bandRow="1">
                <a:tableStyleId>{5C22544A-7EE6-4342-B048-85BDC9FD1C3A}</a:tableStyleId>
              </a:tblPr>
              <a:tblGrid>
                <a:gridCol w="2743200"/>
                <a:gridCol w="3566160"/>
                <a:gridCol w="4754880"/>
              </a:tblGrid>
              <a:tr h="292608">
                <a:tc>
                  <a:txBody>
                    <a:bodyPr/>
                    <a:lstStyle/>
                    <a:p>
                      <a:pPr algn="l"/>
                      <a:r>
                        <a:rPr sz="950" b="1">
                          <a:solidFill>
                            <a:srgbClr val="6B7785"/>
                          </a:solidFill>
                          <a:latin typeface="Consolas"/>
                        </a:rPr>
                        <a:t>The claim</a:t>
                      </a:r>
                    </a:p>
                  </a:txBody>
                  <a:tcPr marL="45720" marR="45720" marT="0" marB="0">
                    <a:solidFill>
                      <a:srgbClr val="FFFFFF"/>
                    </a:solidFill>
                  </a:tcPr>
                </a:tc>
                <a:tc>
                  <a:txBody>
                    <a:bodyPr/>
                    <a:lstStyle/>
                    <a:p>
                      <a:pPr algn="l"/>
                      <a:r>
                        <a:rPr sz="950" b="1">
                          <a:solidFill>
                            <a:srgbClr val="6B7785"/>
                          </a:solidFill>
                          <a:latin typeface="Consolas"/>
                        </a:rPr>
                        <a:t>Closest prior work</a:t>
                      </a:r>
                    </a:p>
                  </a:txBody>
                  <a:tcPr marL="45720" marR="45720" marT="0" marB="0">
                    <a:solidFill>
                      <a:srgbClr val="FFFFFF"/>
                    </a:solidFill>
                  </a:tcPr>
                </a:tc>
                <a:tc>
                  <a:txBody>
                    <a:bodyPr/>
                    <a:lstStyle/>
                    <a:p>
                      <a:pPr algn="l"/>
                      <a:r>
                        <a:rPr sz="950" b="1">
                          <a:solidFill>
                            <a:srgbClr val="6B7785"/>
                          </a:solidFill>
                          <a:latin typeface="Consolas"/>
                        </a:rPr>
                        <a:t>Our position</a:t>
                      </a:r>
                    </a:p>
                  </a:txBody>
                  <a:tcPr marL="45720" marR="45720" marT="0" marB="0">
                    <a:solidFill>
                      <a:srgbClr val="FFFFFF"/>
                    </a:solidFill>
                  </a:tcPr>
                </a:tc>
              </a:tr>
              <a:tr h="292608">
                <a:tc>
                  <a:txBody>
                    <a:bodyPr/>
                    <a:lstStyle/>
                    <a:p>
                      <a:pPr algn="l"/>
                      <a:r>
                        <a:rPr sz="1050" b="0">
                          <a:solidFill>
                            <a:srgbClr val="0C1116"/>
                          </a:solidFill>
                          <a:latin typeface="Arial"/>
                        </a:rPr>
                        <a:t>Evicting while FlashAttention stays on</a:t>
                      </a:r>
                    </a:p>
                  </a:txBody>
                  <a:tcPr marL="45720" marR="45720" marT="18000" marB="18000">
                    <a:solidFill>
                      <a:srgbClr val="FFFFFF"/>
                    </a:solidFill>
                  </a:tcPr>
                </a:tc>
                <a:tc>
                  <a:txBody>
                    <a:bodyPr/>
                    <a:lstStyle/>
                    <a:p>
                      <a:pPr algn="l"/>
                      <a:r>
                        <a:rPr sz="1050" b="0">
                          <a:solidFill>
                            <a:srgbClr val="0C1116"/>
                          </a:solidFill>
                          <a:latin typeface="Arial"/>
                        </a:rPr>
                        <a:t>KeyDiff does this too</a:t>
                      </a:r>
                    </a:p>
                  </a:txBody>
                  <a:tcPr marL="45720" marR="45720" marT="18000" marB="18000">
                    <a:solidFill>
                      <a:srgbClr val="FFFFFF"/>
                    </a:solidFill>
                  </a:tcPr>
                </a:tc>
                <a:tc>
                  <a:txBody>
                    <a:bodyPr/>
                    <a:lstStyle/>
                    <a:p>
                      <a:pPr algn="l"/>
                      <a:r>
                        <a:rPr sz="1050" b="0">
                          <a:solidFill>
                            <a:srgbClr val="0C1116"/>
                          </a:solidFill>
                          <a:latin typeface="Arial"/>
                        </a:rPr>
                        <a:t>No priority claimed. Our difference is per-token cost: 2,510 decode evictions vs 59,238, a 24x gap</a:t>
                      </a:r>
                    </a:p>
                  </a:txBody>
                  <a:tcPr marL="45720" marR="45720" marT="18000" marB="18000">
                    <a:solidFill>
                      <a:srgbClr val="FFFFFF"/>
                    </a:solidFill>
                  </a:tcPr>
                </a:tc>
              </a:tr>
              <a:tr h="292608">
                <a:tc>
                  <a:txBody>
                    <a:bodyPr/>
                    <a:lstStyle/>
                    <a:p>
                      <a:pPr algn="l"/>
                      <a:r>
                        <a:rPr sz="1050" b="0">
                          <a:solidFill>
                            <a:srgbClr val="0C1116"/>
                          </a:solidFill>
                          <a:latin typeface="Arial"/>
                        </a:rPr>
                        <a:t>Per-head budgets do not materialize</a:t>
                      </a:r>
                    </a:p>
                  </a:txBody>
                  <a:tcPr marL="45720" marR="45720" marT="18000" marB="18000">
                    <a:solidFill>
                      <a:srgbClr val="FFFFFF"/>
                    </a:solidFill>
                  </a:tcPr>
                </a:tc>
                <a:tc>
                  <a:txBody>
                    <a:bodyPr/>
                    <a:lstStyle/>
                    <a:p>
                      <a:pPr algn="l"/>
                      <a:r>
                        <a:rPr sz="1050" b="0">
                          <a:solidFill>
                            <a:srgbClr val="0C1116"/>
                          </a:solidFill>
                          <a:latin typeface="Arial"/>
                        </a:rPr>
                        <a:t>KV-Compress notes it qualitatively, for server tensor layouts</a:t>
                      </a:r>
                    </a:p>
                  </a:txBody>
                  <a:tcPr marL="45720" marR="45720" marT="18000" marB="18000">
                    <a:solidFill>
                      <a:srgbClr val="FFFFFF"/>
                    </a:solidFill>
                  </a:tcPr>
                </a:tc>
                <a:tc>
                  <a:txBody>
                    <a:bodyPr/>
                    <a:lstStyle/>
                    <a:p>
                      <a:pPr algn="l"/>
                      <a:r>
                        <a:rPr sz="1050" b="0">
                          <a:solidFill>
                            <a:srgbClr val="0C1116"/>
                          </a:solidFill>
                          <a:latin typeface="Arial"/>
                        </a:rPr>
                        <a:t>We quantify it on-device and show it scales with head count: 8 heads spread 36 to 91%, 32 heads collapse to 85 to 100%</a:t>
                      </a:r>
                    </a:p>
                  </a:txBody>
                  <a:tcPr marL="45720" marR="45720" marT="18000" marB="18000">
                    <a:solidFill>
                      <a:srgbClr val="FFFFFF"/>
                    </a:solidFill>
                  </a:tcPr>
                </a:tc>
              </a:tr>
              <a:tr h="292608">
                <a:tc>
                  <a:txBody>
                    <a:bodyPr/>
                    <a:lstStyle/>
                    <a:p>
                      <a:pPr algn="l"/>
                      <a:r>
                        <a:rPr sz="1050" b="0">
                          <a:solidFill>
                            <a:srgbClr val="0C1116"/>
                          </a:solidFill>
                          <a:latin typeface="Arial"/>
                        </a:rPr>
                        <a:t>Eviction measured on a phone</a:t>
                      </a:r>
                    </a:p>
                  </a:txBody>
                  <a:tcPr marL="45720" marR="45720" marT="18000" marB="18000">
                    <a:solidFill>
                      <a:srgbClr val="FFFFFF"/>
                    </a:solidFill>
                  </a:tcPr>
                </a:tc>
                <a:tc>
                  <a:txBody>
                    <a:bodyPr/>
                    <a:lstStyle/>
                    <a:p>
                      <a:pPr algn="l"/>
                      <a:r>
                        <a:rPr sz="1050" b="0">
                          <a:solidFill>
                            <a:srgbClr val="0C1116"/>
                          </a:solidFill>
                          <a:latin typeface="Arial"/>
                        </a:rPr>
                        <a:t>KeyDiff reports scoring-kernel latency only</a:t>
                      </a:r>
                    </a:p>
                  </a:txBody>
                  <a:tcPr marL="45720" marR="45720" marT="18000" marB="18000">
                    <a:solidFill>
                      <a:srgbClr val="FFFFFF"/>
                    </a:solidFill>
                  </a:tcPr>
                </a:tc>
                <a:tc>
                  <a:txBody>
                    <a:bodyPr/>
                    <a:lstStyle/>
                    <a:p>
                      <a:pPr algn="l"/>
                      <a:r>
                        <a:rPr sz="1050" b="0">
                          <a:solidFill>
                            <a:srgbClr val="0C1116"/>
                          </a:solidFill>
                          <a:latin typeface="Arial"/>
                        </a:rPr>
                        <a:t>First end-to-end account: speed, energy, temperature, and cells actually freed</a:t>
                      </a:r>
                    </a:p>
                  </a:txBody>
                  <a:tcPr marL="45720" marR="45720" marT="18000" marB="18000">
                    <a:solidFill>
                      <a:srgbClr val="FFFFFF"/>
                    </a:solidFill>
                  </a:tcPr>
                </a:tc>
              </a:tr>
              <a:tr h="292608">
                <a:tc>
                  <a:txBody>
                    <a:bodyPr/>
                    <a:lstStyle/>
                    <a:p>
                      <a:pPr algn="l"/>
                      <a:r>
                        <a:rPr sz="1050" b="0">
                          <a:solidFill>
                            <a:srgbClr val="0C1116"/>
                          </a:solidFill>
                          <a:latin typeface="Arial"/>
                        </a:rPr>
                        <a:t>Energy and thermals on mobile</a:t>
                      </a:r>
                    </a:p>
                  </a:txBody>
                  <a:tcPr marL="45720" marR="45720" marT="18000" marB="18000">
                    <a:solidFill>
                      <a:srgbClr val="FFFFFF"/>
                    </a:solidFill>
                  </a:tcPr>
                </a:tc>
                <a:tc>
                  <a:txBody>
                    <a:bodyPr/>
                    <a:lstStyle/>
                    <a:p>
                      <a:pPr algn="l"/>
                      <a:r>
                        <a:rPr sz="1050" b="0">
                          <a:solidFill>
                            <a:srgbClr val="0C1116"/>
                          </a:solidFill>
                          <a:latin typeface="Arial"/>
                        </a:rPr>
                        <a:t>Characterization studies measure them but never vary the eviction policy</a:t>
                      </a:r>
                    </a:p>
                  </a:txBody>
                  <a:tcPr marL="45720" marR="45720" marT="18000" marB="18000">
                    <a:solidFill>
                      <a:srgbClr val="FFFFFF"/>
                    </a:solidFill>
                  </a:tcPr>
                </a:tc>
                <a:tc>
                  <a:txBody>
                    <a:bodyPr/>
                    <a:lstStyle/>
                    <a:p>
                      <a:pPr algn="l"/>
                      <a:r>
                        <a:rPr sz="1050" b="0">
                          <a:solidFill>
                            <a:srgbClr val="0C1116"/>
                          </a:solidFill>
                          <a:latin typeface="Arial"/>
                        </a:rPr>
                        <a:t>We vary the policy and measure both, and add a governor characterised as a measured dial</a:t>
                      </a:r>
                    </a:p>
                  </a:txBody>
                  <a:tcPr marL="45720" marR="45720" marT="18000" marB="18000">
                    <a:solidFill>
                      <a:srgbClr val="FFFFFF"/>
                    </a:solidFill>
                  </a:tcPr>
                </a:tc>
              </a:tr>
              <a:tr h="292608">
                <a:tc>
                  <a:txBody>
                    <a:bodyPr/>
                    <a:lstStyle/>
                    <a:p>
                      <a:pPr algn="l"/>
                      <a:r>
                        <a:rPr sz="1050" b="0">
                          <a:solidFill>
                            <a:srgbClr val="0C1116"/>
                          </a:solidFill>
                          <a:latin typeface="Arial"/>
                        </a:rPr>
                        <a:t>KV systems that ship on phones</a:t>
                      </a:r>
                    </a:p>
                  </a:txBody>
                  <a:tcPr marL="45720" marR="45720" marT="18000" marB="18000">
                    <a:solidFill>
                      <a:srgbClr val="FFFFFF"/>
                    </a:solidFill>
                  </a:tcPr>
                </a:tc>
                <a:tc>
                  <a:txBody>
                    <a:bodyPr/>
                    <a:lstStyle/>
                    <a:p>
                      <a:pPr algn="l"/>
                      <a:r>
                        <a:rPr sz="1050" b="0">
                          <a:solidFill>
                            <a:srgbClr val="0C1116"/>
                          </a:solidFill>
                          <a:latin typeface="Arial"/>
                        </a:rPr>
                        <a:t>KVSwap, DynaKV, MobiLoRA move bytes to disk or across adapters</a:t>
                      </a:r>
                    </a:p>
                  </a:txBody>
                  <a:tcPr marL="45720" marR="45720" marT="18000" marB="18000">
                    <a:solidFill>
                      <a:srgbClr val="FFFFFF"/>
                    </a:solidFill>
                  </a:tcPr>
                </a:tc>
                <a:tc>
                  <a:txBody>
                    <a:bodyPr/>
                    <a:lstStyle/>
                    <a:p>
                      <a:pPr algn="l"/>
                      <a:r>
                        <a:rPr sz="1050" b="0">
                          <a:solidFill>
                            <a:srgbClr val="0C1116"/>
                          </a:solidFill>
                          <a:latin typeface="Arial"/>
                        </a:rPr>
                        <a:t>None of them evicts, and none reads the battery</a:t>
                      </a:r>
                    </a:p>
                  </a:txBody>
                  <a:tcPr marL="45720" marR="45720" marT="18000" marB="18000">
                    <a:solidFill>
                      <a:srgbClr val="FFFFFF"/>
                    </a:solidFill>
                  </a:tcPr>
                </a:tc>
              </a:tr>
            </a:tbl>
          </a:graphicData>
        </a:graphic>
      </p:graphicFrame>
      <p:sp>
        <p:nvSpPr>
          <p:cNvPr id="8" name="Rounded Rectangle 7"/>
          <p:cNvSpPr/>
          <p:nvPr/>
        </p:nvSpPr>
        <p:spPr>
          <a:xfrm>
            <a:off x="566928" y="4709160"/>
            <a:ext cx="11064240" cy="1143000"/>
          </a:xfrm>
          <a:prstGeom prst="roundRect">
            <a:avLst>
              <a:gd name="adj" fmla="val 4000"/>
            </a:avLst>
          </a:prstGeom>
          <a:solidFill>
            <a:srgbClr val="FDF0E6"/>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764024"/>
            <a:ext cx="41148" cy="1033271"/>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64608"/>
            <a:ext cx="10515600" cy="274320"/>
          </a:xfrm>
          <a:prstGeom prst="rect">
            <a:avLst/>
          </a:prstGeom>
          <a:noFill/>
        </p:spPr>
        <p:txBody>
          <a:bodyPr wrap="square" lIns="0" rIns="0" tIns="0" bIns="0" anchor="t">
            <a:spAutoFit/>
          </a:bodyPr>
          <a:lstStyle/>
          <a:p>
            <a:pPr algn="l"/>
            <a:r>
              <a:rPr sz="950" b="1" i="0" spc="120">
                <a:solidFill>
                  <a:srgbClr val="C4581A"/>
                </a:solidFill>
                <a:latin typeface="Consolas"/>
              </a:rPr>
              <a:t>WHERE THE NOVELTY ACTUALLY SITS</a:t>
            </a:r>
          </a:p>
        </p:txBody>
      </p:sp>
      <p:sp>
        <p:nvSpPr>
          <p:cNvPr id="11" name="TextBox 10"/>
          <p:cNvSpPr txBox="1"/>
          <p:nvPr/>
        </p:nvSpPr>
        <p:spPr>
          <a:xfrm>
            <a:off x="868680" y="5175504"/>
            <a:ext cx="10515600" cy="548640"/>
          </a:xfrm>
          <a:prstGeom prst="rect">
            <a:avLst/>
          </a:prstGeom>
          <a:noFill/>
        </p:spPr>
        <p:txBody>
          <a:bodyPr wrap="square" lIns="0" rIns="0" tIns="0" bIns="0" anchor="t">
            <a:spAutoFit/>
          </a:bodyPr>
          <a:lstStyle/>
          <a:p>
            <a:pPr algn="l">
              <a:lnSpc>
                <a:spcPct val="132000"/>
              </a:lnSpc>
            </a:pPr>
            <a:r>
              <a:rPr sz="1250" b="0" i="0">
                <a:solidFill>
                  <a:srgbClr val="0C1116"/>
                </a:solidFill>
                <a:latin typeface="Arial"/>
              </a:rPr>
              <a:t>Not in the eviction rule. It sits in the measurement, in naming three failures that belong to the device rather than to any policy, and in composing eviction with a thermal governor, which no KV paper does.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NEGATIVES</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20</a:t>
            </a:r>
          </a:p>
        </p:txBody>
      </p:sp>
      <p:sp>
        <p:nvSpPr>
          <p:cNvPr id="5" name="TextBox 4"/>
          <p:cNvSpPr txBox="1"/>
          <p:nvPr/>
        </p:nvSpPr>
        <p:spPr>
          <a:xfrm>
            <a:off x="566928" y="5029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WHAT DID NOT WORK</a:t>
            </a:r>
          </a:p>
        </p:txBody>
      </p:sp>
      <p:sp>
        <p:nvSpPr>
          <p:cNvPr id="6" name="TextBox 5"/>
          <p:cNvSpPr txBox="1"/>
          <p:nvPr/>
        </p:nvSpPr>
        <p:spPr>
          <a:xfrm>
            <a:off x="566928" y="914400"/>
            <a:ext cx="10607040" cy="685800"/>
          </a:xfrm>
          <a:prstGeom prst="rect">
            <a:avLst/>
          </a:prstGeom>
          <a:noFill/>
        </p:spPr>
        <p:txBody>
          <a:bodyPr wrap="square" lIns="0" rIns="0" tIns="0" bIns="0" anchor="t">
            <a:spAutoFit/>
          </a:bodyPr>
          <a:lstStyle/>
          <a:p>
            <a:pPr algn="l">
              <a:lnSpc>
                <a:spcPct val="108000"/>
              </a:lnSpc>
            </a:pPr>
            <a:r>
              <a:rPr sz="2600" b="1" i="0">
                <a:solidFill>
                  <a:srgbClr val="0C1116"/>
                </a:solidFill>
                <a:latin typeface="Arial"/>
              </a:rPr>
              <a:t>Reported rather than quietly fixed</a:t>
            </a:r>
          </a:p>
        </p:txBody>
      </p:sp>
      <p:sp>
        <p:nvSpPr>
          <p:cNvPr id="7" name="Rounded Rectangle 6"/>
          <p:cNvSpPr/>
          <p:nvPr/>
        </p:nvSpPr>
        <p:spPr>
          <a:xfrm>
            <a:off x="566928" y="1783080"/>
            <a:ext cx="3493008" cy="237744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37943"/>
            <a:ext cx="41148" cy="2267712"/>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965960"/>
            <a:ext cx="2971800" cy="548640"/>
          </a:xfrm>
          <a:prstGeom prst="rect">
            <a:avLst/>
          </a:prstGeom>
          <a:noFill/>
        </p:spPr>
        <p:txBody>
          <a:bodyPr wrap="square" lIns="0" rIns="0" tIns="0" bIns="0" anchor="t">
            <a:spAutoFit/>
          </a:bodyPr>
          <a:lstStyle/>
          <a:p>
            <a:pPr algn="l">
              <a:lnSpc>
                <a:spcPct val="115000"/>
              </a:lnSpc>
            </a:pPr>
            <a:r>
              <a:rPr sz="1250" b="1" i="0">
                <a:solidFill>
                  <a:srgbClr val="0C1116"/>
                </a:solidFill>
                <a:latin typeface="Arial"/>
              </a:rPr>
              <a:t>Cache moves heat only where it moves traffic</a:t>
            </a:r>
          </a:p>
        </p:txBody>
      </p:sp>
      <p:sp>
        <p:nvSpPr>
          <p:cNvPr id="10" name="TextBox 9"/>
          <p:cNvSpPr txBox="1"/>
          <p:nvPr/>
        </p:nvSpPr>
        <p:spPr>
          <a:xfrm>
            <a:off x="841247" y="2651760"/>
            <a:ext cx="2971800" cy="1371600"/>
          </a:xfrm>
          <a:prstGeom prst="rect">
            <a:avLst/>
          </a:prstGeom>
          <a:noFill/>
        </p:spPr>
        <p:txBody>
          <a:bodyPr wrap="square" lIns="0" rIns="0" tIns="0" bIns="0" anchor="t">
            <a:spAutoFit/>
          </a:bodyPr>
          <a:lstStyle/>
          <a:p>
            <a:pPr algn="l">
              <a:lnSpc>
                <a:spcPct val="135000"/>
              </a:lnSpc>
            </a:pPr>
            <a:r>
              <a:rPr sz="1050" b="0" i="0">
                <a:solidFill>
                  <a:srgbClr val="38424E"/>
                </a:solidFill>
                <a:latin typeface="Arial"/>
              </a:rPr>
              <a:t>Halving the cache at a held GPU clock raises peak DDR 5.8 °C (mean 2.3), because the freed bandwidth becomes work. But on the CPU, where both arms settle at the same clock (1374 vs 1378 MHz), μKV is 2.4 °C COOLER on DDR at 4.6x the throughput. The sign is set by the backend, not by the cache.</a:t>
            </a:r>
          </a:p>
        </p:txBody>
      </p:sp>
      <p:sp>
        <p:nvSpPr>
          <p:cNvPr id="11" name="Rounded Rectangle 10"/>
          <p:cNvSpPr/>
          <p:nvPr/>
        </p:nvSpPr>
        <p:spPr>
          <a:xfrm>
            <a:off x="4279392" y="1783080"/>
            <a:ext cx="3493008" cy="237744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837943"/>
            <a:ext cx="41148" cy="2267712"/>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965960"/>
            <a:ext cx="2971800" cy="548640"/>
          </a:xfrm>
          <a:prstGeom prst="rect">
            <a:avLst/>
          </a:prstGeom>
          <a:noFill/>
        </p:spPr>
        <p:txBody>
          <a:bodyPr wrap="square" lIns="0" rIns="0" tIns="0" bIns="0" anchor="t">
            <a:spAutoFit/>
          </a:bodyPr>
          <a:lstStyle/>
          <a:p>
            <a:pPr algn="l">
              <a:lnSpc>
                <a:spcPct val="115000"/>
              </a:lnSpc>
            </a:pPr>
            <a:r>
              <a:rPr sz="1250" b="1" i="0">
                <a:solidFill>
                  <a:srgbClr val="0C1116"/>
                </a:solidFill>
                <a:latin typeface="Arial"/>
              </a:rPr>
              <a:t>Peak memory does not fall</a:t>
            </a:r>
          </a:p>
        </p:txBody>
      </p:sp>
      <p:sp>
        <p:nvSpPr>
          <p:cNvPr id="14" name="TextBox 13"/>
          <p:cNvSpPr txBox="1"/>
          <p:nvPr/>
        </p:nvSpPr>
        <p:spPr>
          <a:xfrm>
            <a:off x="4553712" y="2651760"/>
            <a:ext cx="2971800" cy="1371600"/>
          </a:xfrm>
          <a:prstGeom prst="rect">
            <a:avLst/>
          </a:prstGeom>
          <a:noFill/>
        </p:spPr>
        <p:txBody>
          <a:bodyPr wrap="square" lIns="0" rIns="0" tIns="0" bIns="0" anchor="t">
            <a:spAutoFit/>
          </a:bodyPr>
          <a:lstStyle/>
          <a:p>
            <a:pPr algn="l">
              <a:lnSpc>
                <a:spcPct val="135000"/>
              </a:lnSpc>
            </a:pPr>
            <a:r>
              <a:rPr sz="1050" b="0" i="0">
                <a:solidFill>
                  <a:srgbClr val="38424E"/>
                </a:solidFill>
                <a:latin typeface="Arial"/>
              </a:rPr>
              <a:t>The engine reserves the full context up front and we select only at the end of prefill, so peak allocation drops 9% while bytes read per token drop 93%. The win is bandwidth, not footprint.</a:t>
            </a:r>
          </a:p>
        </p:txBody>
      </p:sp>
      <p:sp>
        <p:nvSpPr>
          <p:cNvPr id="15" name="Rounded Rectangle 14"/>
          <p:cNvSpPr/>
          <p:nvPr/>
        </p:nvSpPr>
        <p:spPr>
          <a:xfrm>
            <a:off x="7991855" y="1783080"/>
            <a:ext cx="3493008" cy="237744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5" y="1837943"/>
            <a:ext cx="41148" cy="2267712"/>
          </a:xfrm>
          <a:prstGeom prst="rect">
            <a:avLst/>
          </a:prstGeom>
          <a:solidFill>
            <a:srgbClr val="A8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5" y="1965960"/>
            <a:ext cx="2971800" cy="548640"/>
          </a:xfrm>
          <a:prstGeom prst="rect">
            <a:avLst/>
          </a:prstGeom>
          <a:noFill/>
        </p:spPr>
        <p:txBody>
          <a:bodyPr wrap="square" lIns="0" rIns="0" tIns="0" bIns="0" anchor="t">
            <a:spAutoFit/>
          </a:bodyPr>
          <a:lstStyle/>
          <a:p>
            <a:pPr algn="l">
              <a:lnSpc>
                <a:spcPct val="115000"/>
              </a:lnSpc>
            </a:pPr>
            <a:r>
              <a:rPr sz="1250" b="1" i="0">
                <a:solidFill>
                  <a:srgbClr val="0C1116"/>
                </a:solidFill>
                <a:latin typeface="Arial"/>
              </a:rPr>
              <a:t>Two of four models cannot run this on the GPU</a:t>
            </a:r>
          </a:p>
        </p:txBody>
      </p:sp>
      <p:sp>
        <p:nvSpPr>
          <p:cNvPr id="18" name="TextBox 17"/>
          <p:cNvSpPr txBox="1"/>
          <p:nvPr/>
        </p:nvSpPr>
        <p:spPr>
          <a:xfrm>
            <a:off x="8266175" y="2651760"/>
            <a:ext cx="2971800" cy="1371600"/>
          </a:xfrm>
          <a:prstGeom prst="rect">
            <a:avLst/>
          </a:prstGeom>
          <a:noFill/>
        </p:spPr>
        <p:txBody>
          <a:bodyPr wrap="square" lIns="0" rIns="0" tIns="0" bIns="0" anchor="t">
            <a:spAutoFit/>
          </a:bodyPr>
          <a:lstStyle/>
          <a:p>
            <a:pPr algn="l">
              <a:lnSpc>
                <a:spcPct val="135000"/>
              </a:lnSpc>
            </a:pPr>
            <a:r>
              <a:rPr sz="1050" b="0" i="0">
                <a:solidFill>
                  <a:srgbClr val="38424E"/>
                </a:solidFill>
                <a:latin typeface="Arial"/>
              </a:rPr>
              <a:t>Bonsai-8B and gemma-2 crash the Adreno driver at 16K with ErrorDeviceLost, vanilla included. Bonsai is also killed for memory. This is a device limit, not a μKV limit.</a:t>
            </a:r>
          </a:p>
        </p:txBody>
      </p:sp>
      <p:sp>
        <p:nvSpPr>
          <p:cNvPr id="19" name="Rounded Rectangle 18"/>
          <p:cNvSpPr/>
          <p:nvPr/>
        </p:nvSpPr>
        <p:spPr>
          <a:xfrm>
            <a:off x="566928" y="4343400"/>
            <a:ext cx="11064240" cy="1463040"/>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398264"/>
            <a:ext cx="41148" cy="1353312"/>
          </a:xfrm>
          <a:prstGeom prst="rect">
            <a:avLst/>
          </a:prstGeom>
          <a:solidFill>
            <a:srgbClr val="2B6C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26280"/>
            <a:ext cx="10515600" cy="320040"/>
          </a:xfrm>
          <a:prstGeom prst="rect">
            <a:avLst/>
          </a:prstGeom>
          <a:noFill/>
        </p:spPr>
        <p:txBody>
          <a:bodyPr wrap="square" lIns="0" rIns="0" tIns="0" bIns="0" anchor="t">
            <a:spAutoFit/>
          </a:bodyPr>
          <a:lstStyle/>
          <a:p>
            <a:pPr algn="l"/>
            <a:r>
              <a:rPr sz="1250" b="1" i="0">
                <a:solidFill>
                  <a:srgbClr val="0C1116"/>
                </a:solidFill>
                <a:latin typeface="Arial"/>
              </a:rPr>
              <a:t>And the one a reviewer will find: our quality table cannot pick a winner</a:t>
            </a:r>
          </a:p>
        </p:txBody>
      </p:sp>
      <p:sp>
        <p:nvSpPr>
          <p:cNvPr id="22" name="TextBox 21"/>
          <p:cNvSpPr txBox="1"/>
          <p:nvPr/>
        </p:nvSpPr>
        <p:spPr>
          <a:xfrm>
            <a:off x="868680" y="4892040"/>
            <a:ext cx="10515600" cy="777240"/>
          </a:xfrm>
          <a:prstGeom prst="rect">
            <a:avLst/>
          </a:prstGeom>
          <a:noFill/>
        </p:spPr>
        <p:txBody>
          <a:bodyPr wrap="square" lIns="0" rIns="0" tIns="0" bIns="0" anchor="t">
            <a:spAutoFit/>
          </a:bodyPr>
          <a:lstStyle/>
          <a:p>
            <a:pPr algn="l">
              <a:lnSpc>
                <a:spcPct val="135000"/>
              </a:lnSpc>
            </a:pPr>
            <a:r>
              <a:rPr sz="1150" b="0" i="0">
                <a:solidFill>
                  <a:srgbClr val="38424E"/>
                </a:solidFill>
                <a:latin typeface="Arial"/>
              </a:rPr>
              <a:t>On 15 questions, μKV and the full cache answer 13 identically, with one win and one loss each way. A sign test gives p = 1.00, meaning no difference at all was demonstrated. The uncertainty on every score is larger than every gap in the table. Retention separates these policies. F1 at this sample size does not, and we say so rather than letting the ranking imply otherwise.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327648"/>
            <a:ext cx="3657600" cy="274320"/>
          </a:xfrm>
          <a:prstGeom prst="rect">
            <a:avLst/>
          </a:prstGeom>
          <a:noFill/>
        </p:spPr>
        <p:txBody>
          <a:bodyPr wrap="square" lIns="0" rIns="0" tIns="0" bIns="0" anchor="t">
            <a:spAutoFit/>
          </a:bodyPr>
          <a:lstStyle/>
          <a:p>
            <a:pPr algn="l"/>
            <a:r>
              <a:rPr sz="900" b="1" i="0" spc="120">
                <a:solidFill>
                  <a:srgbClr val="6B7785"/>
                </a:solidFill>
                <a:latin typeface="Consolas"/>
              </a:rPr>
              <a:t>CLOSE</a:t>
            </a:r>
          </a:p>
        </p:txBody>
      </p:sp>
      <p:sp>
        <p:nvSpPr>
          <p:cNvPr id="4" name="TextBox 3"/>
          <p:cNvSpPr txBox="1"/>
          <p:nvPr/>
        </p:nvSpPr>
        <p:spPr>
          <a:xfrm>
            <a:off x="11140135" y="6327648"/>
            <a:ext cx="548640" cy="274320"/>
          </a:xfrm>
          <a:prstGeom prst="rect">
            <a:avLst/>
          </a:prstGeom>
          <a:noFill/>
        </p:spPr>
        <p:txBody>
          <a:bodyPr wrap="square" lIns="0" rIns="0" tIns="0" bIns="0" anchor="t">
            <a:spAutoFit/>
          </a:bodyPr>
          <a:lstStyle/>
          <a:p>
            <a:pPr algn="r"/>
            <a:r>
              <a:rPr sz="900" b="0" i="0">
                <a:solidFill>
                  <a:srgbClr val="6B7785"/>
                </a:solidFill>
                <a:latin typeface="Consolas"/>
              </a:rPr>
              <a:t>21</a:t>
            </a:r>
          </a:p>
        </p:txBody>
      </p:sp>
      <p:sp>
        <p:nvSpPr>
          <p:cNvPr id="5" name="TextBox 4"/>
          <p:cNvSpPr txBox="1"/>
          <p:nvPr/>
        </p:nvSpPr>
        <p:spPr>
          <a:xfrm>
            <a:off x="566928" y="731520"/>
            <a:ext cx="10058400" cy="365760"/>
          </a:xfrm>
          <a:prstGeom prst="rect">
            <a:avLst/>
          </a:prstGeom>
          <a:noFill/>
        </p:spPr>
        <p:txBody>
          <a:bodyPr wrap="square" lIns="0" rIns="0" tIns="0" bIns="0" anchor="t">
            <a:spAutoFit/>
          </a:bodyPr>
          <a:lstStyle/>
          <a:p>
            <a:pPr algn="l"/>
            <a:r>
              <a:rPr sz="1100" b="1" i="0" spc="120">
                <a:solidFill>
                  <a:srgbClr val="C4581A"/>
                </a:solidFill>
                <a:latin typeface="Consolas"/>
              </a:rPr>
              <a:t>THE ONE-SENTENCE VERSION</a:t>
            </a:r>
          </a:p>
        </p:txBody>
      </p:sp>
      <p:sp>
        <p:nvSpPr>
          <p:cNvPr id="6" name="TextBox 5"/>
          <p:cNvSpPr txBox="1"/>
          <p:nvPr/>
        </p:nvSpPr>
        <p:spPr>
          <a:xfrm>
            <a:off x="566928" y="1188720"/>
            <a:ext cx="10789920" cy="1371600"/>
          </a:xfrm>
          <a:prstGeom prst="rect">
            <a:avLst/>
          </a:prstGeom>
          <a:noFill/>
        </p:spPr>
        <p:txBody>
          <a:bodyPr wrap="square" lIns="0" rIns="0" tIns="0" bIns="0" anchor="t">
            <a:spAutoFit/>
          </a:bodyPr>
          <a:lstStyle/>
          <a:p>
            <a:pPr algn="l">
              <a:lnSpc>
                <a:spcPct val="112000"/>
              </a:lnSpc>
            </a:pPr>
            <a:r>
              <a:rPr sz="3000" b="1" i="0">
                <a:solidFill>
                  <a:srgbClr val="0C1116"/>
                </a:solidFill>
                <a:latin typeface="Arial"/>
              </a:rPr>
              <a:t>The hardware sets the ceiling on what eviction can pay. The policy decides how much of that ceiling you capture, or whether you go backwards.</a:t>
            </a:r>
          </a:p>
        </p:txBody>
      </p:sp>
      <p:sp>
        <p:nvSpPr>
          <p:cNvPr id="7" name="Rounded Rectangle 6"/>
          <p:cNvSpPr/>
          <p:nvPr/>
        </p:nvSpPr>
        <p:spPr>
          <a:xfrm>
            <a:off x="566928" y="2788920"/>
            <a:ext cx="11064240" cy="1051560"/>
          </a:xfrm>
          <a:prstGeom prst="roundRect">
            <a:avLst>
              <a:gd name="adj" fmla="val 4000"/>
            </a:avLst>
          </a:prstGeom>
          <a:solidFill>
            <a:srgbClr val="FDF0E6"/>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843784"/>
            <a:ext cx="41148" cy="941831"/>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26080"/>
            <a:ext cx="10515600" cy="822960"/>
          </a:xfrm>
          <a:prstGeom prst="rect">
            <a:avLst/>
          </a:prstGeom>
          <a:noFill/>
        </p:spPr>
        <p:txBody>
          <a:bodyPr wrap="square" lIns="0" rIns="0" tIns="0" bIns="0" anchor="t">
            <a:spAutoFit/>
          </a:bodyPr>
          <a:lstStyle/>
          <a:p>
            <a:pPr algn="l">
              <a:lnSpc>
                <a:spcPct val="135000"/>
              </a:lnSpc>
            </a:pPr>
            <a:r>
              <a:rPr sz="1300" b="0" i="0">
                <a:solidFill>
                  <a:srgbClr val="0C1116"/>
                </a:solidFill>
                <a:latin typeface="Arial"/>
              </a:rPr>
              <a:t>On one processor the policy spans 4.5x (1.07 to 4.80), so the policy matters. For one policy on one model, changing only the processor moves KeyDiff from 3.29x to about 0.06x, so the device matters just as much. A speedup quoted without naming both is not describing a phone.</a:t>
            </a:r>
          </a:p>
        </p:txBody>
      </p:sp>
      <p:sp>
        <p:nvSpPr>
          <p:cNvPr id="10" name="Rounded Rectangle 9"/>
          <p:cNvSpPr/>
          <p:nvPr/>
        </p:nvSpPr>
        <p:spPr>
          <a:xfrm>
            <a:off x="566928" y="4069080"/>
            <a:ext cx="349300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412394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4215384"/>
            <a:ext cx="3172968" cy="457200"/>
          </a:xfrm>
          <a:prstGeom prst="rect">
            <a:avLst/>
          </a:prstGeom>
          <a:noFill/>
        </p:spPr>
        <p:txBody>
          <a:bodyPr wrap="square" lIns="0" rIns="0" tIns="0" bIns="0" anchor="t">
            <a:spAutoFit/>
          </a:bodyPr>
          <a:lstStyle/>
          <a:p>
            <a:pPr algn="l"/>
            <a:r>
              <a:rPr sz="2600" b="1" i="0">
                <a:solidFill>
                  <a:srgbClr val="C4581A"/>
                </a:solidFill>
                <a:latin typeface="Consolas"/>
              </a:rPr>
              <a:t>4.80×</a:t>
            </a:r>
          </a:p>
        </p:txBody>
      </p:sp>
      <p:sp>
        <p:nvSpPr>
          <p:cNvPr id="13" name="TextBox 12"/>
          <p:cNvSpPr txBox="1"/>
          <p:nvPr/>
        </p:nvSpPr>
        <p:spPr>
          <a:xfrm>
            <a:off x="768096" y="4709160"/>
            <a:ext cx="317296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phone CPU, sustained decode, three runs each</a:t>
            </a:r>
          </a:p>
        </p:txBody>
      </p:sp>
      <p:sp>
        <p:nvSpPr>
          <p:cNvPr id="14" name="Rounded Rectangle 13"/>
          <p:cNvSpPr/>
          <p:nvPr/>
        </p:nvSpPr>
        <p:spPr>
          <a:xfrm>
            <a:off x="4352544" y="4069080"/>
            <a:ext cx="349300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52544" y="412394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4215384"/>
            <a:ext cx="3172968" cy="457200"/>
          </a:xfrm>
          <a:prstGeom prst="rect">
            <a:avLst/>
          </a:prstGeom>
          <a:noFill/>
        </p:spPr>
        <p:txBody>
          <a:bodyPr wrap="square" lIns="0" rIns="0" tIns="0" bIns="0" anchor="t">
            <a:spAutoFit/>
          </a:bodyPr>
          <a:lstStyle/>
          <a:p>
            <a:pPr algn="l"/>
            <a:r>
              <a:rPr sz="2600" b="1" i="0">
                <a:solidFill>
                  <a:srgbClr val="C4581A"/>
                </a:solidFill>
                <a:latin typeface="Consolas"/>
              </a:rPr>
              <a:t>7.4%</a:t>
            </a:r>
          </a:p>
        </p:txBody>
      </p:sp>
      <p:sp>
        <p:nvSpPr>
          <p:cNvPr id="17" name="TextBox 16"/>
          <p:cNvSpPr txBox="1"/>
          <p:nvPr/>
        </p:nvSpPr>
        <p:spPr>
          <a:xfrm>
            <a:off x="4553712" y="4709160"/>
            <a:ext cx="317296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of the cache still live, and genuinely freed</a:t>
            </a:r>
          </a:p>
        </p:txBody>
      </p:sp>
      <p:sp>
        <p:nvSpPr>
          <p:cNvPr id="18" name="Rounded Rectangle 17"/>
          <p:cNvSpPr/>
          <p:nvPr/>
        </p:nvSpPr>
        <p:spPr>
          <a:xfrm>
            <a:off x="8138160" y="4069080"/>
            <a:ext cx="3493008" cy="1133856"/>
          </a:xfrm>
          <a:prstGeom prst="roundRect">
            <a:avLst>
              <a:gd name="adj" fmla="val 4000"/>
            </a:avLst>
          </a:prstGeom>
          <a:solidFill>
            <a:srgbClr val="FFFFFF"/>
          </a:solidFill>
          <a:ln w="9525">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4123944"/>
            <a:ext cx="41148" cy="1024128"/>
          </a:xfrm>
          <a:prstGeom prst="rect">
            <a:avLst/>
          </a:prstGeom>
          <a:solidFill>
            <a:srgbClr val="C45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4215384"/>
            <a:ext cx="3172968" cy="457200"/>
          </a:xfrm>
          <a:prstGeom prst="rect">
            <a:avLst/>
          </a:prstGeom>
          <a:noFill/>
        </p:spPr>
        <p:txBody>
          <a:bodyPr wrap="square" lIns="0" rIns="0" tIns="0" bIns="0" anchor="t">
            <a:spAutoFit/>
          </a:bodyPr>
          <a:lstStyle/>
          <a:p>
            <a:pPr algn="l"/>
            <a:r>
              <a:rPr sz="2600" b="1" i="0">
                <a:solidFill>
                  <a:srgbClr val="C4581A"/>
                </a:solidFill>
                <a:latin typeface="Consolas"/>
              </a:rPr>
              <a:t>+0.7%</a:t>
            </a:r>
          </a:p>
        </p:txBody>
      </p:sp>
      <p:sp>
        <p:nvSpPr>
          <p:cNvPr id="21" name="TextBox 20"/>
          <p:cNvSpPr txBox="1"/>
          <p:nvPr/>
        </p:nvSpPr>
        <p:spPr>
          <a:xfrm>
            <a:off x="8339328" y="4709160"/>
            <a:ext cx="3172968" cy="457200"/>
          </a:xfrm>
          <a:prstGeom prst="rect">
            <a:avLst/>
          </a:prstGeom>
          <a:noFill/>
        </p:spPr>
        <p:txBody>
          <a:bodyPr wrap="square" lIns="0" rIns="0" tIns="0" bIns="0" anchor="t">
            <a:spAutoFit/>
          </a:bodyPr>
          <a:lstStyle/>
          <a:p>
            <a:pPr algn="l">
              <a:lnSpc>
                <a:spcPct val="120000"/>
              </a:lnSpc>
            </a:pPr>
            <a:r>
              <a:rPr sz="1000" b="0" i="0">
                <a:solidFill>
                  <a:srgbClr val="6B7785"/>
                </a:solidFill>
                <a:latin typeface="Arial"/>
              </a:rPr>
              <a:t>prefill vs no eviction at a fixed clock</a:t>
            </a:r>
          </a:p>
        </p:txBody>
      </p:sp>
      <p:sp>
        <p:nvSpPr>
          <p:cNvPr id="22" name="TextBox 21"/>
          <p:cNvSpPr txBox="1"/>
          <p:nvPr/>
        </p:nvSpPr>
        <p:spPr>
          <a:xfrm>
            <a:off x="566928" y="5440680"/>
            <a:ext cx="11064240" cy="731520"/>
          </a:xfrm>
          <a:prstGeom prst="rect">
            <a:avLst/>
          </a:prstGeom>
          <a:noFill/>
        </p:spPr>
        <p:txBody>
          <a:bodyPr wrap="square" lIns="0" rIns="0" tIns="0" bIns="0" anchor="t">
            <a:spAutoFit/>
          </a:bodyPr>
          <a:lstStyle/>
          <a:p>
            <a:pPr algn="l">
              <a:lnSpc>
                <a:spcPct val="140000"/>
              </a:lnSpc>
            </a:pPr>
            <a:r>
              <a:rPr sz="1300" b="0" i="0">
                <a:solidFill>
                  <a:srgbClr val="38424E"/>
                </a:solidFill>
                <a:latin typeface="Arial"/>
              </a:rPr>
              <a:t>μKV is what the device's constraints leave you with: score inside the FlashAttention graph, select one keep-set at sequence level, pack the survivors in place, and keep the thermal loop away from the cache entirely.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