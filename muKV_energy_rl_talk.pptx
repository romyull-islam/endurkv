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FB3C8"/>
                </a:solidFill>
                <a:latin typeface="Arial"/>
              </a:rPr>
              <a:t>μKV  ·  ENERGY-AWARE CONTROL, AND THE REINFORCEMENT-LEARNING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2194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FFFFFF"/>
                </a:solidFill>
                <a:latin typeface="Arial"/>
              </a:rPr>
              <a:t>One lever, two loops.</a:t>
            </a:r>
          </a:p>
          <a:p>
            <a:pPr algn="l">
              <a:lnSpc>
                <a:spcPct val="110000"/>
              </a:lnSpc>
            </a:pPr>
            <a:r>
              <a:rPr sz="3600" b="1">
                <a:solidFill>
                  <a:srgbClr val="FFFFFF"/>
                </a:solidFill>
                <a:latin typeface="Arial"/>
              </a:rPr>
              <a:t>How a phone spends its battery on an LLM request, and what a learned policy adds.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480560"/>
            <a:ext cx="100584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9D3DD"/>
                </a:solidFill>
                <a:latin typeface="Arial"/>
              </a:rPr>
              <a:t>OnePlus 15 · Llama-3.2-1B · every number metered on the device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C9D3DD"/>
                </a:solidFill>
                <a:latin typeface="Arial"/>
              </a:rPr>
              <a:t>Md Romyull Islam · Kennesaw State University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A request arrives. The phone has four knobs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194560" cy="1188720"/>
          </a:xfrm>
          <a:prstGeom prst="roundRect">
            <a:avLst>
              <a:gd name="adj" fmla="val 6000"/>
            </a:avLst>
          </a:prstGeom>
          <a:solidFill>
            <a:srgbClr val="E6F0F8"/>
          </a:solidFill>
          <a:ln w="15875">
            <a:solidFill>
              <a:srgbClr val="2B6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Request</a:t>
            </a:r>
          </a:p>
          <a:p>
            <a:pPr algn="ctr"/>
            <a:r>
              <a:rPr sz="1300">
                <a:solidFill>
                  <a:srgbClr val="38424E"/>
                </a:solidFill>
                <a:latin typeface="Arial"/>
              </a:rPr>
              <a:t>9737-token prompt, answer of open length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331720"/>
            <a:ext cx="640080" cy="0"/>
          </a:xfrm>
          <a:prstGeom prst="line">
            <a:avLst/>
          </a:prstGeom>
          <a:ln w="19050">
            <a:solidFill>
              <a:srgbClr val="0C11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74720" y="1737360"/>
            <a:ext cx="2011680" cy="1188720"/>
          </a:xfrm>
          <a:prstGeom prst="roundRect">
            <a:avLst>
              <a:gd name="adj" fmla="val 6000"/>
            </a:avLst>
          </a:prstGeom>
          <a:solidFill>
            <a:srgbClr val="E4F3EC"/>
          </a:solidFill>
          <a:ln w="15875">
            <a:solidFill>
              <a:srgbClr val="1A7A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GPU clock</a:t>
            </a:r>
          </a:p>
          <a:p>
            <a:pPr algn="ctr"/>
            <a:r>
              <a:rPr sz="1100">
                <a:solidFill>
                  <a:srgbClr val="38424E"/>
                </a:solidFill>
                <a:latin typeface="Arial"/>
              </a:rPr>
              <a:t>1200 → 902 MHz saves 19% energy, costs 19%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017520"/>
            <a:ext cx="2011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A7A58"/>
                </a:solidFill>
                <a:latin typeface="Arial"/>
              </a:rPr>
              <a:t>a lever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737360"/>
            <a:ext cx="2011680" cy="1188720"/>
          </a:xfrm>
          <a:prstGeom prst="roundRect">
            <a:avLst>
              <a:gd name="adj" fmla="val 6000"/>
            </a:avLst>
          </a:prstGeom>
          <a:solidFill>
            <a:srgbClr val="E4F3EC"/>
          </a:solidFill>
          <a:ln w="15875">
            <a:solidFill>
              <a:srgbClr val="1A7A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Answer length</a:t>
            </a:r>
          </a:p>
          <a:p>
            <a:pPr algn="ctr"/>
            <a:r>
              <a:rPr sz="1100">
                <a:solidFill>
                  <a:srgbClr val="38424E"/>
                </a:solidFill>
                <a:latin typeface="Arial"/>
              </a:rPr>
              <a:t>0.17 to 0.21 J per token; the largest lever when the length is open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3017520"/>
            <a:ext cx="2011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A7A58"/>
                </a:solidFill>
                <a:latin typeface="Arial"/>
              </a:rPr>
              <a:t>a lever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737360"/>
            <a:ext cx="2011680" cy="11887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6B77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Cache K</a:t>
            </a:r>
          </a:p>
          <a:p>
            <a:pPr algn="ctr"/>
            <a:r>
              <a:rPr sz="1100">
                <a:solidFill>
                  <a:srgbClr val="38424E"/>
                </a:solidFill>
                <a:latin typeface="Arial"/>
              </a:rPr>
              <a:t>below 1024 saves 3 to 4%, quality falls to 0.63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017520"/>
            <a:ext cx="2011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6B7785"/>
                </a:solidFill>
                <a:latin typeface="Arial"/>
              </a:rPr>
              <a:t>held at 1024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21240" y="1737360"/>
            <a:ext cx="2011680" cy="11887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6B77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CPU clock</a:t>
            </a:r>
          </a:p>
          <a:p>
            <a:pPr algn="ctr"/>
            <a:r>
              <a:rPr sz="1100">
                <a:solidFill>
                  <a:srgbClr val="38424E"/>
                </a:solidFill>
                <a:latin typeface="Arial"/>
              </a:rPr>
              <a:t>energy per token flat within 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3017520"/>
            <a:ext cx="2011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6B7785"/>
                </a:solidFill>
                <a:latin typeface="Arial"/>
              </a:rPr>
              <a:t>thermal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40480"/>
            <a:ext cx="1106424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38424E"/>
                </a:solidFill>
                <a:latin typeface="Arial"/>
              </a:rPr>
              <a:t>Two knobs carry the saving. Two do not. The phone's own governor reads none of them for an LLM request.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38424E"/>
                </a:solidFill>
                <a:latin typeface="Arial"/>
              </a:rPr>
              <a:t>No shipped phone changes an LLM's clock, context or answer length by battery state.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Cooled cells, charging off, OnePlus 15 GPU. Details on the next two slides.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THE TWO LEVERS,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GPU clock trades energy for time; answer length is linear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3</a:t>
            </a:r>
          </a:p>
        </p:txBody>
      </p:sp>
      <p:pic>
        <p:nvPicPr>
          <p:cNvPr id="6" name="Picture 5" descr="crop_energy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394960" cy="3635734"/>
          </a:xfrm>
          <a:prstGeom prst="rect">
            <a:avLst/>
          </a:prstGeom>
        </p:spPr>
      </p:pic>
      <p:pic>
        <p:nvPicPr>
          <p:cNvPr id="7" name="Picture 6" descr="crop_energy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394960" cy="36357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0"/>
            <a:ext cx="53949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8424E"/>
                </a:solidFill>
                <a:latin typeface="Arial"/>
              </a:rPr>
              <a:t>1200 to 902 MHz: 1428 to 1154 J for 221 to 263 s. The last step to 726 buys 3% for 21% more time, so it is never taken.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5486400"/>
            <a:ext cx="53949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8424E"/>
                </a:solidFill>
                <a:latin typeface="Arial"/>
              </a:rPr>
              <a:t>Every output token costs 0.17 to 0.21 J on top of a fixed prefill. Capping the answer at 1024 or 512 tokens is the biggest saving available.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fig_energy_curves.py, panels (a) and (c). n=3 at 4096 tokens, n=5 to 11 at 1024.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GPU OR CPU?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The GPU whenever it exists; the CPU is the fallback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67665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554480"/>
                <a:gridCol w="155448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C1116"/>
                          </a:solidFill>
                          <a:latin typeface="Arial"/>
                        </a:rPr>
                        <a:t>plan, 9737-token prompt + 1024 tokens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C1116"/>
                          </a:solidFill>
                          <a:latin typeface="Arial"/>
                        </a:rPr>
                        <a:t>energy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C1116"/>
                          </a:solidFill>
                          <a:latin typeface="Arial"/>
                        </a:rPr>
                        <a:t>time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8424E"/>
                          </a:solidFill>
                          <a:latin typeface="Arial"/>
                        </a:rPr>
                        <a:t>GPU 1200 MHz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8424E"/>
                          </a:solidFill>
                          <a:latin typeface="Arial"/>
                        </a:rPr>
                        <a:t>782 J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8424E"/>
                          </a:solidFill>
                          <a:latin typeface="Arial"/>
                        </a:rPr>
                        <a:t>142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8424E"/>
                          </a:solidFill>
                          <a:latin typeface="Arial"/>
                        </a:rPr>
                        <a:t>GPU 902 MHz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8424E"/>
                          </a:solidFill>
                          <a:latin typeface="Arial"/>
                        </a:rPr>
                        <a:t>589 J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8424E"/>
                          </a:solidFill>
                          <a:latin typeface="Arial"/>
                        </a:rPr>
                        <a:t>181 s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8424E"/>
                          </a:solidFill>
                          <a:latin typeface="Arial"/>
                        </a:rPr>
                        <a:t>GPU 726 MHz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8424E"/>
                          </a:solidFill>
                          <a:latin typeface="Arial"/>
                        </a:rPr>
                        <a:t>571 J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8424E"/>
                          </a:solidFill>
                          <a:latin typeface="Arial"/>
                        </a:rPr>
                        <a:t>219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C1116"/>
                          </a:solidFill>
                          <a:latin typeface="Arial"/>
                        </a:rPr>
                        <a:t>CPU, K = 1024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C1116"/>
                          </a:solidFill>
                          <a:latin typeface="Arial"/>
                        </a:rPr>
                        <a:t>822 J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C1116"/>
                          </a:solidFill>
                          <a:latin typeface="Arial"/>
                        </a:rPr>
                        <a:t>304 s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645920"/>
            <a:ext cx="4114800" cy="4114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The cost table holds CPU plans too. They lose to every GPU plan on both energy and time, so the walk never picks them.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The scheduler uses the CPU only when the GPU is unavailable: no Vulkan library, or the caller forced CPU.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A hot phone (battery ≥ 40 °C or DDR ≥ 60 °C) does not switch to the CPU. It removes the 1200 MHz plan without a decode cap.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The CPU clock is never an energy decision. It belongs to the thermal watchdog.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Predicted from the measured cost table (ukv_sched_table, per-token costs) for this request; GPU_OK and HOT rules in ukv_sched.sh.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THE WHOLE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Where the scheduler sits: below an unchanged inference pass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5</a:t>
            </a:r>
          </a:p>
        </p:txBody>
      </p:sp>
      <p:pic>
        <p:nvPicPr>
          <p:cNvPr id="6" name="Picture 5" descr="archw30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10424160" cy="45505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8424E"/>
                </a:solidFill>
                <a:latin typeface="Arial"/>
              </a:rPr>
              <a:t>Top: the pass; steps 1 to 3 are the only changes. Bottom: the thermal, energy and learning columns, 4 to 9. Dashed control, dotted heat, dash-dot measurement.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fig_architecture_tikz, the same figure as Figure 1 of the paper.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THE SCHEDULER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Once per request, in 0.3 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6</a:t>
            </a:r>
          </a:p>
        </p:txBody>
      </p:sp>
      <p:pic>
        <p:nvPicPr>
          <p:cNvPr id="6" name="Picture 5" descr="cp30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7863840" cy="264206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78240" y="1645920"/>
            <a:ext cx="2926080" cy="10972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Sense</a:t>
            </a:r>
          </a:p>
          <a:p>
            <a:pPr algn="ctr"/>
            <a:r>
              <a:rPr sz="1200">
                <a:solidFill>
                  <a:srgbClr val="38424E"/>
                </a:solidFill>
                <a:latin typeface="Arial"/>
              </a:rPr>
              <a:t>battery, charging, prompt, length asked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2834640"/>
            <a:ext cx="2926080" cy="1097280"/>
          </a:xfrm>
          <a:prstGeom prst="roundRect">
            <a:avLst>
              <a:gd name="adj" fmla="val 6000"/>
            </a:avLst>
          </a:prstGeom>
          <a:solidFill>
            <a:srgbClr val="FBEDE3"/>
          </a:solidFill>
          <a:ln w="15875">
            <a:solidFill>
              <a:srgbClr val="C45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Decide</a:t>
            </a:r>
          </a:p>
          <a:p>
            <a:pPr algn="ctr"/>
            <a:r>
              <a:rPr sz="1200">
                <a:solidFill>
                  <a:srgbClr val="38424E"/>
                </a:solidFill>
                <a:latin typeface="Arial"/>
              </a:rPr>
              <a:t>tier → lever → walk the cost 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4023360"/>
            <a:ext cx="2926080" cy="1097280"/>
          </a:xfrm>
          <a:prstGeom prst="roundRect">
            <a:avLst>
              <a:gd name="adj" fmla="val 6000"/>
            </a:avLst>
          </a:prstGeom>
          <a:solidFill>
            <a:srgbClr val="E4F3EC"/>
          </a:solidFill>
          <a:ln w="15875">
            <a:solidFill>
              <a:srgbClr val="1A7A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Act</a:t>
            </a:r>
          </a:p>
          <a:p>
            <a:pPr algn="ctr"/>
            <a:r>
              <a:rPr sz="1200">
                <a:solidFill>
                  <a:srgbClr val="38424E"/>
                </a:solidFill>
                <a:latin typeface="Arial"/>
              </a:rPr>
              <a:t>GPU clocks, cache K, answer cap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521208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Measure, learn</a:t>
            </a:r>
          </a:p>
          <a:p>
            <a:pPr algn="ctr"/>
            <a:r>
              <a:rPr sz="1200">
                <a:solidFill>
                  <a:srgbClr val="38424E"/>
                </a:solidFill>
                <a:latin typeface="Arial"/>
              </a:rPr>
              <a:t>meter → table and lever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ukv_sched.sh v2.3 on the phone. The thermal guard acts on the clock beside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THE LEVER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The battery tier sets one number; it sets everything else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66160" cy="1005840"/>
          </a:xfrm>
          <a:prstGeom prst="roundRect">
            <a:avLst>
              <a:gd name="adj" fmla="val 6000"/>
            </a:avLst>
          </a:prstGeom>
          <a:solidFill>
            <a:srgbClr val="E4F3EC"/>
          </a:solidFill>
          <a:ln w="15875">
            <a:solidFill>
              <a:srgbClr val="1A7A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C1116"/>
                </a:solidFill>
                <a:latin typeface="Arial"/>
              </a:rPr>
              <a:t>mains or above 50%</a:t>
            </a:r>
          </a:p>
          <a:p>
            <a:pPr algn="ctr"/>
            <a:r>
              <a:rPr sz="2000">
                <a:solidFill>
                  <a:srgbClr val="38424E"/>
                </a:solidFill>
                <a:latin typeface="Arial"/>
              </a:rPr>
              <a:t>L =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645920"/>
            <a:ext cx="3566160" cy="1005840"/>
          </a:xfrm>
          <a:prstGeom prst="roundRect">
            <a:avLst>
              <a:gd name="adj" fmla="val 6000"/>
            </a:avLst>
          </a:prstGeom>
          <a:solidFill>
            <a:srgbClr val="E6F0F8"/>
          </a:solidFill>
          <a:ln w="15875">
            <a:solidFill>
              <a:srgbClr val="2B6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C1116"/>
                </a:solidFill>
                <a:latin typeface="Arial"/>
              </a:rPr>
              <a:t>21 to 50%</a:t>
            </a:r>
          </a:p>
          <a:p>
            <a:pPr algn="ctr"/>
            <a:r>
              <a:rPr sz="2000">
                <a:solidFill>
                  <a:srgbClr val="38424E"/>
                </a:solidFill>
                <a:latin typeface="Arial"/>
              </a:rPr>
              <a:t>L = 0.5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1645920"/>
            <a:ext cx="3566160" cy="1005840"/>
          </a:xfrm>
          <a:prstGeom prst="roundRect">
            <a:avLst>
              <a:gd name="adj" fmla="val 6000"/>
            </a:avLst>
          </a:prstGeom>
          <a:solidFill>
            <a:srgbClr val="FBEDE3"/>
          </a:solidFill>
          <a:ln w="15875">
            <a:solidFill>
              <a:srgbClr val="C45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C1116"/>
                </a:solidFill>
                <a:latin typeface="Arial"/>
              </a:rPr>
              <a:t>20% or below</a:t>
            </a:r>
          </a:p>
          <a:p>
            <a:pPr algn="ctr"/>
            <a:r>
              <a:rPr sz="2000">
                <a:solidFill>
                  <a:srgbClr val="38424E"/>
                </a:solidFill>
                <a:latin typeface="Arial"/>
              </a:rPr>
              <a:t>L = 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92608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1828800"/>
                <a:gridCol w="1828800"/>
                <a:gridCol w="18288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C1116"/>
                          </a:solidFill>
                          <a:latin typeface="Arial"/>
                        </a:rPr>
                        <a:t>what L sets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C1116"/>
                          </a:solidFill>
                          <a:latin typeface="Arial"/>
                        </a:rPr>
                        <a:t>L = 1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C1116"/>
                          </a:solidFill>
                          <a:latin typeface="Arial"/>
                        </a:rPr>
                        <a:t>L = 0.5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C1116"/>
                          </a:solidFill>
                          <a:latin typeface="Arial"/>
                        </a:rPr>
                        <a:t>L = 0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exchange rate: joules a step must save per second it costs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0.8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0.5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quality floor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0.90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time slack over the fastest plan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21.5%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answer cap when the length is open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4096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1024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512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38424E"/>
                </a:solidFill>
                <a:latin typeface="Arial"/>
              </a:rPr>
              <a:t>Full battery: a step down must pay well and may cost little time. Empty battery: almost any saving is taken.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ukv_sched.sh: LAM=pl(0.5,0.8,1.5), QF=pl(0.75,0.90,1.00), TSLACK=0.03+0.37(1−L) floored at 0.05, CAPL by 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THE WALK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Predict, step down while it pays, run, compare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651760" cy="2194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1  Predict</a:t>
            </a:r>
          </a:p>
          <a:p>
            <a:pPr algn="ctr"/>
            <a:r>
              <a:rPr sz="1300">
                <a:solidFill>
                  <a:srgbClr val="38424E"/>
                </a:solidFill>
                <a:latin typeface="Arial"/>
              </a:rPr>
              <a:t>every plan's energy and time from the table: per prompt token and per output token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0" y="2834640"/>
            <a:ext cx="182880" cy="0"/>
          </a:xfrm>
          <a:prstGeom prst="line">
            <a:avLst/>
          </a:prstGeom>
          <a:ln w="19050">
            <a:solidFill>
              <a:srgbClr val="0C11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83280" y="1737360"/>
            <a:ext cx="2651760" cy="2194560"/>
          </a:xfrm>
          <a:prstGeom prst="roundRect">
            <a:avLst>
              <a:gd name="adj" fmla="val 6000"/>
            </a:avLst>
          </a:prstGeom>
          <a:solidFill>
            <a:srgbClr val="FBEDE3"/>
          </a:solidFill>
          <a:ln w="15875">
            <a:solidFill>
              <a:srgbClr val="C45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2  Step down</a:t>
            </a:r>
          </a:p>
          <a:p>
            <a:pPr algn="ctr"/>
            <a:r>
              <a:rPr sz="1300">
                <a:solidFill>
                  <a:srgbClr val="38424E"/>
                </a:solidFill>
                <a:latin typeface="Arial"/>
              </a:rPr>
              <a:t>from GPU 1200 while a step saves ≥ λ J per second it costs, quality stays above the floor, and time fits the budget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35040" y="2834640"/>
            <a:ext cx="182880" cy="0"/>
          </a:xfrm>
          <a:prstGeom prst="line">
            <a:avLst/>
          </a:prstGeom>
          <a:ln w="19050">
            <a:solidFill>
              <a:srgbClr val="0C11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17920" y="1737360"/>
            <a:ext cx="2651760" cy="2194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3  Run and meter</a:t>
            </a:r>
          </a:p>
          <a:p>
            <a:pPr algn="ctr"/>
            <a:r>
              <a:rPr sz="1300">
                <a:solidFill>
                  <a:srgbClr val="38424E"/>
                </a:solidFill>
                <a:latin typeface="Arial"/>
              </a:rPr>
              <a:t>USB rail + coulomb counter, split at prefill / decode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869680" y="2834640"/>
            <a:ext cx="182880" cy="0"/>
          </a:xfrm>
          <a:prstGeom prst="line">
            <a:avLst/>
          </a:prstGeom>
          <a:ln w="19050">
            <a:solidFill>
              <a:srgbClr val="0C11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052560" y="1737360"/>
            <a:ext cx="2651760" cy="2194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4  Compare</a:t>
            </a:r>
          </a:p>
          <a:p>
            <a:pPr algn="ctr"/>
            <a:r>
              <a:rPr sz="1300">
                <a:solidFill>
                  <a:srgbClr val="38424E"/>
                </a:solidFill>
                <a:latin typeface="Arial"/>
              </a:rPr>
              <a:t>metered against predicted; correct the lever and the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1106424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38424E"/>
                </a:solidFill>
                <a:latin typeface="Arial"/>
              </a:rPr>
              <a:t>The plans are the split clock (prefill 1200, decode 902), then 902, then 726, with K fixed at 1024 and the answer cap from the tier.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38424E"/>
                </a:solidFill>
                <a:latin typeface="Arial"/>
              </a:rPr>
              <a:t>The split plan is the two-configuration schedule that is optimal under a deadline (Kim, Imes, Hoffmann 2015). It saves 6% for 1.5% of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TWO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They act on the model's error, not on the raw meter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474720" cy="1463040"/>
          </a:xfrm>
          <a:prstGeom prst="roundRect">
            <a:avLst>
              <a:gd name="adj" fmla="val 6000"/>
            </a:avLst>
          </a:prstGeom>
          <a:solidFill>
            <a:srgbClr val="FBEDE3"/>
          </a:solidFill>
          <a:ln w="15875">
            <a:solidFill>
              <a:srgbClr val="C45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C1116"/>
                </a:solidFill>
                <a:latin typeface="Arial"/>
              </a:rPr>
              <a:t>Time over budget by &gt; 5%</a:t>
            </a:r>
          </a:p>
          <a:p>
            <a:pPr algn="ctr"/>
            <a:r>
              <a:rPr sz="1400">
                <a:solidFill>
                  <a:srgbClr val="38424E"/>
                </a:solidFill>
                <a:latin typeface="Arial"/>
              </a:rPr>
              <a:t>performance loop: lever + 0.1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83280"/>
            <a:ext cx="3474720" cy="1463040"/>
          </a:xfrm>
          <a:prstGeom prst="roundRect">
            <a:avLst>
              <a:gd name="adj" fmla="val 6000"/>
            </a:avLst>
          </a:prstGeom>
          <a:solidFill>
            <a:srgbClr val="E4F3EC"/>
          </a:solidFill>
          <a:ln w="15875">
            <a:solidFill>
              <a:srgbClr val="1A7A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C1116"/>
                </a:solidFill>
                <a:latin typeface="Arial"/>
              </a:rPr>
              <a:t>Energy over prediction by &gt; 5%</a:t>
            </a:r>
          </a:p>
          <a:p>
            <a:pPr algn="ctr"/>
            <a:r>
              <a:rPr sz="1400">
                <a:solidFill>
                  <a:srgbClr val="38424E"/>
                </a:solidFill>
                <a:latin typeface="Arial"/>
              </a:rPr>
              <a:t>energy loop: lever − 0.1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29200"/>
            <a:ext cx="3474720" cy="1005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C1116"/>
                </a:solidFill>
                <a:latin typeface="Arial"/>
              </a:rPr>
              <a:t>Both met</a:t>
            </a:r>
          </a:p>
          <a:p>
            <a:pPr algn="ctr"/>
            <a:r>
              <a:rPr sz="1300">
                <a:solidFill>
                  <a:srgbClr val="38424E"/>
                </a:solidFill>
                <a:latin typeface="Arial"/>
              </a:rPr>
              <a:t>bias decays by 0.05 toward the tier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23360" y="2468880"/>
            <a:ext cx="731520" cy="0"/>
          </a:xfrm>
          <a:prstGeom prst="line">
            <a:avLst/>
          </a:prstGeom>
          <a:ln w="19050">
            <a:solidFill>
              <a:srgbClr val="C458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23360" y="4114800"/>
            <a:ext cx="731520" cy="0"/>
          </a:xfrm>
          <a:prstGeom prst="line">
            <a:avLst/>
          </a:prstGeom>
          <a:ln w="19050">
            <a:solidFill>
              <a:srgbClr val="1A7A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846320" y="2377440"/>
            <a:ext cx="2377440" cy="2194560"/>
          </a:xfrm>
          <a:prstGeom prst="roundRect">
            <a:avLst>
              <a:gd name="adj" fmla="val 6000"/>
            </a:avLst>
          </a:prstGeom>
          <a:solidFill>
            <a:srgbClr val="E6F0F8"/>
          </a:solidFill>
          <a:ln w="15875">
            <a:solidFill>
              <a:srgbClr val="2B6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C1116"/>
                </a:solidFill>
                <a:latin typeface="Arial"/>
              </a:rPr>
              <a:t>bias</a:t>
            </a:r>
          </a:p>
          <a:p>
            <a:pPr algn="ctr"/>
            <a:r>
              <a:rPr sz="1300">
                <a:solidFill>
                  <a:srgbClr val="38424E"/>
                </a:solidFill>
                <a:latin typeface="Arial"/>
              </a:rPr>
              <a:t>clamped to ± 0.3, kept per tier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23760" y="3474720"/>
            <a:ext cx="731519" cy="0"/>
          </a:xfrm>
          <a:prstGeom prst="line">
            <a:avLst/>
          </a:prstGeom>
          <a:ln w="19050">
            <a:solidFill>
              <a:srgbClr val="2B6C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46720" y="2377440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E6F0F8"/>
          </a:solidFill>
          <a:ln w="15875">
            <a:solidFill>
              <a:srgbClr val="2B6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C1116"/>
                </a:solidFill>
                <a:latin typeface="Arial"/>
              </a:rPr>
              <a:t>next request's lever</a:t>
            </a:r>
          </a:p>
          <a:p>
            <a:pPr algn="ctr"/>
            <a:r>
              <a:rPr sz="1300">
                <a:solidFill>
                  <a:srgbClr val="38424E"/>
                </a:solidFill>
                <a:latin typeface="Arial"/>
              </a:rPr>
              <a:t>L = tier + bias; the walk trades at the new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846320"/>
            <a:ext cx="6858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8424E"/>
                </a:solidFill>
                <a:latin typeface="Arial"/>
              </a:rPr>
              <a:t>A disturbance moves the lever; a quiet request moves it back. Knobs only one loop feels belong to that loop: decode clock and answer cap to energy, CPU clock to the watchdog. Only the prefill clock is shared.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The JouleGuard coupling (Hoffmann, SOSP 2015). The cost table learns separately: EMA α 0.3, clipped to 10% per request.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THE LOOPS, PROVOKED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Thirteen cooled requests with real disturbances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10</a:t>
            </a:r>
          </a:p>
        </p:txBody>
      </p:sp>
      <p:pic>
        <p:nvPicPr>
          <p:cNvPr id="6" name="Picture 5" descr="crop_loop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7498079" cy="1820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645920"/>
            <a:ext cx="3566160" cy="45720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38424E"/>
                </a:solidFill>
                <a:latin typeface="Arial"/>
              </a:rPr>
              <a:t>•  Four idle cores spinning: energy 30% over budget. The energy loop moved the lever down twice; two clean requests decayed it back.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38424E"/>
                </a:solidFill>
                <a:latin typeface="Arial"/>
              </a:rPr>
              <a:t>•  An external 726 MHz cap 12 s into the request, what the vendor limiter does: time 10 to 12% over. The performance loop moved the lever up to its clamp, and back once the cap was gone.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38424E"/>
                </a:solidFill>
                <a:latin typeface="Arial"/>
              </a:rPr>
              <a:t>•  Dark bars are misses. Every miss was answered by the loop that owns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/tmp/loop_proof, 2026-09-05. Time budget and predicted energy, both + 5%.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THE REAL DISCHARGE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123 requests from 91% to 11%, nothing forced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11</a:t>
            </a:r>
          </a:p>
        </p:txBody>
      </p:sp>
      <p:pic>
        <p:nvPicPr>
          <p:cNvPr id="6" name="Picture 5" descr="crop_discharge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7315200" cy="16302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645920"/>
            <a:ext cx="12801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2B6CA3"/>
                </a:solidFill>
                <a:latin typeface="Arial"/>
              </a:rPr>
              <a:t>885 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423160"/>
            <a:ext cx="12801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8424E"/>
                </a:solidFill>
                <a:latin typeface="Arial"/>
              </a:rPr>
              <a:t>healthy, cap 4096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645920"/>
            <a:ext cx="12801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2B6CA3"/>
                </a:solidFill>
                <a:latin typeface="Arial"/>
              </a:rPr>
              <a:t>748 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423160"/>
            <a:ext cx="12801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8424E"/>
                </a:solidFill>
                <a:latin typeface="Arial"/>
              </a:rPr>
              <a:t>mid, cap 1024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1645920"/>
            <a:ext cx="12801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2B6CA3"/>
                </a:solidFill>
                <a:latin typeface="Arial"/>
              </a:rPr>
              <a:t>506 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2423160"/>
            <a:ext cx="12801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8424E"/>
                </a:solidFill>
                <a:latin typeface="Arial"/>
              </a:rPr>
              <a:t>low, cap 512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91840"/>
            <a:ext cx="17373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1A7A58"/>
                </a:solidFill>
                <a:latin typeface="Arial"/>
              </a:rPr>
              <a:t>−15%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069080"/>
            <a:ext cx="17373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8424E"/>
                </a:solidFill>
                <a:latin typeface="Arial"/>
              </a:rPr>
              <a:t>mid vs healthy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3291840"/>
            <a:ext cx="17373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1A7A58"/>
                </a:solidFill>
                <a:latin typeface="Arial"/>
              </a:rPr>
              <a:t>−43%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4069080"/>
            <a:ext cx="17373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8424E"/>
                </a:solidFill>
                <a:latin typeface="Arial"/>
              </a:rPr>
              <a:t>low vs healthy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937760"/>
            <a:ext cx="36576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8424E"/>
                </a:solidFill>
                <a:latin typeface="Arial"/>
              </a:rPr>
              <a:t>Switched at 50% and 19%, on the first request past each threshold. Predictions within 2% after three requests on the battery.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/tmp/discharge_final, 2026-09-05/06. On the battery the OEM caps prefill at 726 MHz within a minute, so the caps carry the saving.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4581A"/>
                </a:solidFill>
                <a:latin typeface="Arial"/>
              </a:rPr>
              <a:t>THE RL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Would a learned policy beat the rule? Three experiments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BEDE3"/>
          </a:solidFill>
          <a:ln w="15875">
            <a:solidFill>
              <a:srgbClr val="C45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C1116"/>
                </a:solidFill>
                <a:latin typeface="Arial"/>
              </a:rPr>
              <a:t>1  Simulator</a:t>
            </a:r>
          </a:p>
          <a:p>
            <a:pPr algn="ctr"/>
            <a:r>
              <a:rPr sz="1400">
                <a:solidFill>
                  <a:srgbClr val="38424E"/>
                </a:solidFill>
                <a:latin typeface="Arial"/>
              </a:rPr>
              <a:t>bandit and Q-learner on a phone model fitted from measurements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2606040"/>
            <a:ext cx="182880" cy="0"/>
          </a:xfrm>
          <a:prstGeom prst="line">
            <a:avLst/>
          </a:prstGeom>
          <a:ln w="19050">
            <a:solidFill>
              <a:srgbClr val="C458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97679" y="173736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BEDE3"/>
          </a:solidFill>
          <a:ln w="15875">
            <a:solidFill>
              <a:srgbClr val="C45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C1116"/>
                </a:solidFill>
                <a:latin typeface="Arial"/>
              </a:rPr>
              <a:t>2  Real cells, offline</a:t>
            </a:r>
          </a:p>
          <a:p>
            <a:pPr algn="ctr"/>
            <a:r>
              <a:rPr sz="1400">
                <a:solidFill>
                  <a:srgbClr val="38424E"/>
                </a:solidFill>
                <a:latin typeface="Arial"/>
              </a:rPr>
              <a:t>bandit fitted on logged requests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63840" y="2606040"/>
            <a:ext cx="182880" cy="0"/>
          </a:xfrm>
          <a:prstGeom prst="line">
            <a:avLst/>
          </a:prstGeom>
          <a:ln w="19050">
            <a:solidFill>
              <a:srgbClr val="C458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046719" y="173736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BEDE3"/>
          </a:solidFill>
          <a:ln w="15875">
            <a:solidFill>
              <a:srgbClr val="C45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C1116"/>
                </a:solidFill>
                <a:latin typeface="Arial"/>
              </a:rPr>
              <a:t>3  On the phone, online</a:t>
            </a:r>
          </a:p>
          <a:p>
            <a:pPr algn="ctr"/>
            <a:r>
              <a:rPr sz="1400">
                <a:solidFill>
                  <a:srgbClr val="38424E"/>
                </a:solidFill>
                <a:latin typeface="Arial"/>
              </a:rPr>
              <a:t>bandit trained by 24 real requests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1106424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0C1116"/>
                </a:solidFill>
                <a:latin typeface="Arial"/>
              </a:rPr>
              <a:t>Each step used less modeling and more measurement.</a:t>
            </a:r>
          </a:p>
          <a:p>
            <a:pPr algn="l">
              <a:lnSpc>
                <a:spcPct val="130000"/>
              </a:lnSpc>
            </a:pPr>
            <a:r>
              <a:rPr sz="2000" b="1">
                <a:solidFill>
                  <a:srgbClr val="0C1116"/>
                </a:solidFill>
                <a:latin typeface="Arial"/>
              </a:rPr>
              <a:t>The answer never changed: one fixed plan per battery tier, and it is the plan the rule already picks.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4581A"/>
                </a:solidFill>
                <a:latin typeface="Arial"/>
              </a:rPr>
              <a:t>EXPERIMENT 1  · 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Two agents, and how big each one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94960" cy="3108960"/>
          </a:xfrm>
          <a:prstGeom prst="roundRect">
            <a:avLst>
              <a:gd name="adj" fmla="val 6000"/>
            </a:avLst>
          </a:prstGeom>
          <a:solidFill>
            <a:srgbClr val="FBEDE3"/>
          </a:solidFill>
          <a:ln w="15875">
            <a:solidFill>
              <a:srgbClr val="C45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C1116"/>
                </a:solidFill>
                <a:latin typeface="Arial"/>
              </a:rPr>
              <a:t>Contextual bandit</a:t>
            </a:r>
          </a:p>
          <a:p>
            <a:pPr algn="ctr"/>
            <a:r>
              <a:rPr sz="1400">
                <a:solidFill>
                  <a:srgbClr val="38424E"/>
                </a:solidFill>
                <a:latin typeface="Arial"/>
              </a:rPr>
              <a:t>state: battery bucket (4) × charging (2) = 8 contexts
arms: 9 (cache 342 / 688 / 1379 cells × clock 883 / 1267 / 1632 MHz)
table: 72 values · ε = 0.15, sample-mean update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94960" cy="31089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C1116"/>
                </a:solidFill>
                <a:latin typeface="Arial"/>
              </a:rPr>
              <a:t>Tabular Q-learning</a:t>
            </a:r>
          </a:p>
          <a:p>
            <a:pPr algn="ctr"/>
            <a:r>
              <a:rPr sz="1400">
                <a:solidFill>
                  <a:srgbClr val="38424E"/>
                </a:solidFill>
                <a:latin typeface="Arial"/>
              </a:rPr>
              <a:t>state: battery (4) × charging (2) × DDR temperature (4) × throttled (2) = 64
arms: the same 9
table: 576 values · ε 0.15, α 0.15, γ 0.95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110642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8424E"/>
                </a:solidFill>
                <a:latin typeface="Arial"/>
              </a:rPr>
              <a:t>Reward: battery-weighted quality, throughput and energy, minus 0.25 when throttled. Training: 60 episodes × 6 seeds, each a discharge from 15%.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38424E"/>
                </a:solidFill>
                <a:latin typeface="Arial"/>
              </a:rPr>
              <a:t>Result: the bandit converged to the best fixed arm at every battery level. The Q-learner never beat it. The simulator's thermal cliff never binds, so this is the weakest of the three.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energy_rl/agents.py, sim.py. Simulator fitted from the GPU cache axis, the CPU clock axis and the CPU soak (τ 221 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4581A"/>
                </a:solidFill>
                <a:latin typeface="Arial"/>
              </a:rPr>
              <a:t>EXPERIMENT 2  ·  REAL CELLS, OFFLINE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Every logged request is one sample: tier, plan, metered reward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8424E"/>
                </a:solidFill>
                <a:latin typeface="Arial"/>
              </a:rPr>
              <a:t>reward = w_q · quality − w_t · time / T_ref − w_e · energy / E_ref, with the tier's weights: healthy (0.55, 0.40, 0.05), mid (0.35, 0.20, 0.45), low (0.20, 0.10, 0.70)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468880"/>
          <a:ext cx="6583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463040"/>
                <a:gridCol w="1463040"/>
                <a:gridCol w="146304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C1116"/>
                          </a:solidFill>
                          <a:latin typeface="Arial"/>
                        </a:rPr>
                        <a:t>GPU arm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C1116"/>
                          </a:solidFill>
                          <a:latin typeface="Arial"/>
                        </a:rPr>
                        <a:t>healthy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C1116"/>
                          </a:solidFill>
                          <a:latin typeface="Arial"/>
                        </a:rPr>
                        <a:t>mid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C1116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1200 MHz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best, P 1.00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902 MHz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best, P 1.00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P 0.05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726 MHz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best, P 0.95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the rule picks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1200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902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902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79" y="2468880"/>
            <a:ext cx="4297680" cy="3200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38424E"/>
                </a:solidFill>
                <a:latin typeface="Arial"/>
              </a:rPr>
              <a:t>•  Agrees with the rule at healthy and mid.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38424E"/>
                </a:solidFill>
                <a:latin typeface="Arial"/>
              </a:rPr>
              <a:t>•  At low it takes 726 MHz: 3% less energy for 21% more time. The rule's stopping rule refuses that step.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38424E"/>
                </a:solidFill>
                <a:latin typeface="Arial"/>
              </a:rPr>
              <a:t>•  That is the weights against the marginal criterion, a product choice, not data against the rule.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energy_rl/bandit_real.py; P(best) from 2000 bootstrap resamples of the real cells. CPU arms: K = 1024 best at every tier.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4581A"/>
                </a:solidFill>
                <a:latin typeface="Arial"/>
              </a:rPr>
              <a:t>EXPERIMENT 3  ·  ON THE PHONE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One real request per pull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6517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C4581A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26517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8424E"/>
                </a:solidFill>
                <a:latin typeface="Arial"/>
              </a:rPr>
              <a:t>arms: GPU 1200, 902, 726 MHz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737360"/>
            <a:ext cx="26517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C4581A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514600"/>
            <a:ext cx="26517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8424E"/>
                </a:solidFill>
                <a:latin typeface="Arial"/>
              </a:rPr>
              <a:t>contexts: battery tiers, cycled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26517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C4581A"/>
                </a:solidFill>
                <a:latin typeface="Arial"/>
              </a:rPr>
              <a:t>0.25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514600"/>
            <a:ext cx="26517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8424E"/>
                </a:solidFill>
                <a:latin typeface="Arial"/>
              </a:rPr>
              <a:t>ε, greedy otherwise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737360"/>
            <a:ext cx="26517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C4581A"/>
                </a:solidFill>
                <a:latin typeface="Arial"/>
              </a:rPr>
              <a:t>9 + 15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514600"/>
            <a:ext cx="26517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8424E"/>
                </a:solidFill>
                <a:latin typeface="Arial"/>
              </a:rPr>
              <a:t>warm-start pulls + free pulls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49039"/>
            <a:ext cx="110642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8424E"/>
                </a:solidFill>
                <a:latin typeface="Arial"/>
              </a:rPr>
              <a:t>Reward from the meter: w_q − w_t · T/T_ref − w_e · E/E_ref. Each pull: cool the phone, pin the CPU, run 9737 prompt + 1024 output tokens, meter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80560"/>
            <a:ext cx="26517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6B7785"/>
                </a:solidFill>
                <a:latin typeface="Arial"/>
              </a:rPr>
              <a:t>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57800"/>
            <a:ext cx="26517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8424E"/>
                </a:solidFill>
                <a:latin typeface="Arial"/>
              </a:rPr>
              <a:t>requests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480560"/>
            <a:ext cx="26517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6B7785"/>
                </a:solidFill>
                <a:latin typeface="Arial"/>
              </a:rPr>
              <a:t>15.7 kJ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5257800"/>
            <a:ext cx="26517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8424E"/>
                </a:solidFill>
                <a:latin typeface="Arial"/>
              </a:rPr>
              <a:t>spent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480560"/>
            <a:ext cx="26517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6B7785"/>
                </a:solidFill>
                <a:latin typeface="Arial"/>
              </a:rPr>
              <a:t>70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257800"/>
            <a:ext cx="26517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8424E"/>
                </a:solidFill>
                <a:latin typeface="Arial"/>
              </a:rPr>
              <a:t>of 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4480560"/>
            <a:ext cx="26517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6B7785"/>
                </a:solidFill>
                <a:latin typeface="Arial"/>
              </a:rPr>
              <a:t>149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5257800"/>
            <a:ext cx="26517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8424E"/>
                </a:solidFill>
                <a:latin typeface="Arial"/>
              </a:rPr>
              <a:t>of phone time with cooling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run_bandit_online.py, /tmp/bandit_online, 2026-09-03. The seed drew no exploration step after the warm start.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4581A"/>
                </a:solidFill>
                <a:latin typeface="Arial"/>
              </a:rPr>
              <a:t>EXPERIMENT 3  · 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What it learned: one value per battery tier and arm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9494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785"/>
                </a:solidFill>
                <a:latin typeface="Arial"/>
              </a:rPr>
              <a:t>mean reward per pull (higher is better); pulls in brackets; the greedy arm is shaded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11680"/>
          <a:ext cx="69494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188720"/>
                <a:gridCol w="1188720"/>
                <a:gridCol w="1188720"/>
                <a:gridCol w="1371600"/>
                <a:gridCol w="1005840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1200 MHz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902 MHz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726 MHz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greedy arm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the rule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healthy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7A58"/>
                          </a:solidFill>
                          <a:latin typeface="Arial"/>
                        </a:rPr>
                        <a:t>+0.108  (6)</a:t>
                      </a:r>
                    </a:p>
                  </a:txBody>
                  <a:tcPr marL="73152" marR="73152" marT="45720" marB="45720">
                    <a:solidFill>
                      <a:srgbClr val="E4F3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+0.004  (1)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−0.099  (1)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1200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1200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mid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−0.305  (1)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7A58"/>
                          </a:solidFill>
                          <a:latin typeface="Arial"/>
                        </a:rPr>
                        <a:t>−0.237  (6)</a:t>
                      </a:r>
                    </a:p>
                  </a:txBody>
                  <a:tcPr marL="73152" marR="73152" marT="45720" marB="45720">
                    <a:solidFill>
                      <a:srgbClr val="E4F3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−0.290  (1)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902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902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−0.605  (1)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7A58"/>
                          </a:solidFill>
                          <a:latin typeface="Arial"/>
                        </a:rPr>
                        <a:t>−0.456  (4)</a:t>
                      </a:r>
                    </a:p>
                  </a:txBody>
                  <a:tcPr marL="73152" marR="73152" marT="45720" marB="45720">
                    <a:solidFill>
                      <a:srgbClr val="E4F3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−0.458  (3)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902 (726 within 0.002)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902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572000"/>
            <a:ext cx="694944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8424E"/>
                </a:solidFill>
                <a:latin typeface="Arial"/>
              </a:rPr>
              <a:t>Read across a row: the tier's best arm. Every row ends where the rule already sits.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38424E"/>
                </a:solidFill>
                <a:latin typeface="Arial"/>
              </a:rPr>
              <a:t>The 726 arm at low is a tie with 902: 20 J less for 37 s more, which the rule's exchange rate refuses.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737360"/>
            <a:ext cx="19202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>
                <a:solidFill>
                  <a:srgbClr val="1A7A58"/>
                </a:solidFill>
                <a:latin typeface="Arial"/>
              </a:rPr>
              <a:t>13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514600"/>
            <a:ext cx="1920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8424E"/>
                </a:solidFill>
                <a:latin typeface="Arial"/>
              </a:rPr>
              <a:t>free pulls chose the rule's arm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1737360"/>
            <a:ext cx="19202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>
                <a:solidFill>
                  <a:srgbClr val="6B7785"/>
                </a:solidFill>
                <a:latin typeface="Arial"/>
              </a:rPr>
              <a:t>15.7 kJ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2514600"/>
            <a:ext cx="1920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8424E"/>
                </a:solidFill>
                <a:latin typeface="Arial"/>
              </a:rPr>
              <a:t>spent to learn it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863840" y="3657600"/>
          <a:ext cx="39319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280160"/>
                <a:gridCol w="1280160"/>
              </a:tblGrid>
              <a:tr h="3886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arm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J / request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s / request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8424E"/>
                          </a:solidFill>
                          <a:latin typeface="Arial"/>
                        </a:rPr>
                        <a:t>1200 MHz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8424E"/>
                          </a:solidFill>
                          <a:latin typeface="Arial"/>
                        </a:rPr>
                        <a:t>802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8424E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8424E"/>
                          </a:solidFill>
                          <a:latin typeface="Arial"/>
                        </a:rPr>
                        <a:t>902 MHz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8424E"/>
                          </a:solidFill>
                          <a:latin typeface="Arial"/>
                        </a:rPr>
                        <a:t>586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8424E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8424E"/>
                          </a:solidFill>
                          <a:latin typeface="Arial"/>
                        </a:rPr>
                        <a:t>726 MHz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8424E"/>
                          </a:solidFill>
                          <a:latin typeface="Arial"/>
                        </a:rPr>
                        <a:t>566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8424E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863840" y="5394960"/>
            <a:ext cx="39319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8424E"/>
                </a:solidFill>
                <a:latin typeface="Arial"/>
              </a:rPr>
              <a:t>Same plans as the rule, so the same energy per request.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/tmp/bandit_online/log.txt: values after pull 23; pooled cost per arm over the 24 pulls, 9737-token prompt, 1024 output tokens.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4581A"/>
                </a:solidFill>
                <a:latin typeface="Arial"/>
              </a:rPr>
              <a:t>RL VERSUS THE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Same plans. Different costs, different failure modes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480560"/>
                <a:gridCol w="4206240"/>
              </a:tblGrid>
              <a:tr h="6553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C1116"/>
                          </a:solidFill>
                          <a:latin typeface="Arial"/>
                        </a:rPr>
                        <a:t>rule: table + lever + loops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C1116"/>
                          </a:solidFill>
                          <a:latin typeface="Arial"/>
                        </a:rPr>
                        <a:t>learned bandit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reaching the plan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one measured campaign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24 pulls, 15.7 kJ, 149 min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a new prompt shape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predicted from per-token costs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new warm start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cable to battery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table re-learned in 3 requests (36% → 2%)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new pulls per context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a disturbance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loops correct the lever, then decay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absorbed as the arm's cost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temperature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watchdog ladders at 2 Hz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8424E"/>
                          </a:solidFill>
                          <a:latin typeface="Arial"/>
                        </a:rPr>
                        <a:t>not in the state; adding it did not help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The measurements removed the case for learning a policy. The case for learning the table stayed.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WHY THE SHIPPED CONTROLLER IS DECISION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Learn the costs, not the policy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1064240" cy="4114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>
                <a:solidFill>
                  <a:srgbClr val="38424E"/>
                </a:solidFill>
                <a:latin typeface="Arial"/>
              </a:rPr>
              <a:t>•  Energy and time per plan do not depend on the state of charge. Only the weighting does, and the weighting is a design choice.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>
                <a:solidFill>
                  <a:srgbClr val="38424E"/>
                </a:solidFill>
                <a:latin typeface="Arial"/>
              </a:rPr>
              <a:t>•  The whole landscape is three thresholds and one stopping rule. Every agent rediscovered it.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>
                <a:solidFill>
                  <a:srgbClr val="38424E"/>
                </a:solidFill>
                <a:latin typeface="Arial"/>
              </a:rPr>
              <a:t>•  What drifts is the table, so the table learns: clipped EMA from every request, no bad plans explored on the user's battery.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>
                <a:solidFill>
                  <a:srgbClr val="38424E"/>
                </a:solidFill>
                <a:latin typeface="Arial"/>
              </a:rPr>
              <a:t>•  Learning a policy would earn its place only for something the meter cannot see, such as a user's tolerance for waiting.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Energy-aware μKV in four 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1064240" cy="4114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>
                <a:solidFill>
                  <a:srgbClr val="38424E"/>
                </a:solidFill>
                <a:latin typeface="Arial"/>
              </a:rPr>
              <a:t>•  Two knobs carry the saving: the GPU clock and the answer length. Cache and CPU clock do not.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>
                <a:solidFill>
                  <a:srgbClr val="38424E"/>
                </a:solidFill>
                <a:latin typeface="Arial"/>
              </a:rPr>
              <a:t>•  One lever from the battery tier, two loops on model error, one learned cost table.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>
                <a:solidFill>
                  <a:srgbClr val="38424E"/>
                </a:solidFill>
                <a:latin typeface="Arial"/>
              </a:rPr>
              <a:t>•  On a real discharge the lower tiers cost 15% and 43% less per request, and the GPU is used whenever it exists.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800">
                <a:solidFill>
                  <a:srgbClr val="38424E"/>
                </a:solidFill>
                <a:latin typeface="Arial"/>
              </a:rPr>
              <a:t>•  Three RL experiments, from a simulator to 24 real requests on the phone, all converged to the rule's plans at a cost the rule does not pay.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