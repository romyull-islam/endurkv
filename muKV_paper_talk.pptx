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B3C8"/>
                </a:solidFill>
                <a:latin typeface="Arial"/>
              </a:rPr>
              <a:t>HOTMOBILE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0704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FFFFFF"/>
                </a:solidFill>
                <a:latin typeface="Arial"/>
              </a:rPr>
              <a:t>μKV: Energy- and Thermal-Aware</a:t>
            </a:r>
          </a:p>
          <a:p>
            <a:pPr algn="l">
              <a:lnSpc>
                <a:spcPct val="112000"/>
              </a:lnSpc>
            </a:pPr>
            <a:r>
              <a:rPr sz="3400" b="1">
                <a:solidFill>
                  <a:srgbClr val="FFFFFF"/>
                </a:solidFill>
                <a:latin typeface="Arial"/>
              </a:rPr>
              <a:t>KV-Cache Eviction for LLM Inference on a 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51560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D3DD"/>
                </a:solidFill>
                <a:latin typeface="Arial"/>
              </a:rPr>
              <a:t>The KV cache, not compute, is the wall. The policies that bound it were built for server GPUs,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D3DD"/>
                </a:solidFill>
                <a:latin typeface="Arial"/>
              </a:rPr>
              <a:t>and three properties of a real on-device engine break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77840"/>
            <a:ext cx="10058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FB3C8"/>
                </a:solidFill>
                <a:latin typeface="Arial"/>
              </a:rPr>
              <a:t>Md Romyull Islam  ·  Kennesaw State University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FB3C8"/>
                </a:solidFill>
                <a:latin typeface="Arial"/>
              </a:rPr>
              <a:t>OnePlus 15, Snapdragon 8 Elite Gen 5, Adreno 840  ·  every number measured on the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The phone is bound by the cache, not the matrix multiply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Cache size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Phi-3 at 2K holds 1.2 GiB of f16 KV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8328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DRAM traffic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every step reads the whole cache, about 750 MB per attention pass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1792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Heat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the vendor cuts the prime cores to 883 MHz when the battery reaches 50 °C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86968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5256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Energy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a 4096-token request costs 1.4 kJ on the GPU at full clock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1106424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The four are one chain. Cache size sets traffic, traffic sets power, power sets temperature, temperature sets the throttle, and the throttle sets throughput.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Across 372 on-device cells, live cache correlates with DDR temperature at r = 0.80 and with throughput at r = − 0.77.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94960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C1116"/>
                </a:solidFill>
                <a:latin typeface="Arial"/>
              </a:rPr>
              <a:t>So a mobile cache policy has to be judged on quality, throughput, heat and energy at once, on real hardware.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WHAT BREAKS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Nine policies, and three engine properties that break them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1  Budgets do not materialize</a:t>
            </a:r>
          </a:p>
          <a:p>
            <a:pPr algn="ctr"/>
            <a:r>
              <a:rPr sz="1400">
                <a:solidFill>
                  <a:srgbClr val="38424E"/>
                </a:solidFill>
                <a:latin typeface="Arial"/>
              </a:rPr>
              <a:t>one cell array serves every head and layer, so a cell is freed only when all of them drop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2  Scores cost the fast path</a:t>
            </a:r>
          </a:p>
          <a:p>
            <a:pPr algn="ctr"/>
            <a:r>
              <a:rPr sz="1400">
                <a:solidFill>
                  <a:srgbClr val="38424E"/>
                </a:solidFill>
                <a:latin typeface="Arial"/>
              </a:rPr>
              <a:t>reading post-softmax attention forces the FlashAttention-off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19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3  Compaction doubles memory</a:t>
            </a:r>
          </a:p>
          <a:p>
            <a:pPr algn="ctr"/>
            <a:r>
              <a:rPr sz="1400">
                <a:solidFill>
                  <a:srgbClr val="38424E"/>
                </a:solidFill>
                <a:latin typeface="Arial"/>
              </a:rPr>
              <a:t>the state API restores survivors into a second full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1106424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38424E"/>
                </a:solidFill>
                <a:latin typeface="Arial"/>
              </a:rPr>
              <a:t>None of the three is visible on a server with per-head paged storage.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38424E"/>
                </a:solidFill>
                <a:latin typeface="Arial"/>
              </a:rPr>
              <a:t>All three decide what a policy can actually do on a phone, and each is measured on the next three slides.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BREAK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A nominal budget is not a freed cell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69494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920240"/>
                <a:gridCol w="1920240"/>
              </a:tblGrid>
              <a:tr h="37882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at a matched budget of 1024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live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share of the prompt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vanilla, Llama-3.2-1B CPU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9737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721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7.4%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5929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6110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4091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788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3484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645920"/>
            <a:ext cx="4114800" cy="4206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 cell survives if any head or any layer keeps it, so the per-head unions cover most of the prompt.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At their own published budgets the gap widens: on 110 LongBench prompts SnapKV at 2048 per head keeps 94% of the cache and H2O at 20% of the prompt keeps 92%.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SnapKV reports an 8.2 times smaller cache, H2O 5 to 10 times. On Llama-3.2-1B they deliver 1.6 to 2.8, and on Bonsai-8B 1.0 to 1.6.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μKV picks one keep set for every head and layer, which is what lets the cache compact.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Live cells measured with the engine's own state size call, which serializes live cells only.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BREAK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Reading attention scores costs more than eviction saves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58521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463040"/>
                <a:gridCol w="1463040"/>
              </a:tblGrid>
              <a:tr h="37882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Llama-3.2-1B, Adreno 840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vs full cache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24.18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29.77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1.23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4.76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4.34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0.18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3.58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7882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2.86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1645920"/>
            <a:ext cx="5212080" cy="4206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FlashAttention never writes the attention tensor, so a policy that reads scores cannot use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On Llama-3.2-1B every score-reading evictor decodes slower than not evicting at all, 0.12 to 0.20 times the full cache.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Retention does not predict speed. StreamingLLM keeps 777 cells, fewer than μKV's 723, and still runs at 0.23 because it stays on the slow path in this engine.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μKV scores inside the FlashAttention graph, so it keeps the signal and the fast path.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12K-token prompt plus 4096 generated tokens, f16 KV for every policy, cold start.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BREAK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The state API needs a second full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383280" cy="173736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Phi-3-mini at 16K</a:t>
            </a:r>
          </a:p>
          <a:p>
            <a:pPr algn="ctr"/>
            <a:r>
              <a:rPr sz="1400">
                <a:solidFill>
                  <a:srgbClr val="38424E"/>
                </a:solidFill>
                <a:latin typeface="Arial"/>
              </a:rPr>
              <a:t>two 6.4 GB caches plus 2.4 GB of weights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23360" y="2606040"/>
            <a:ext cx="640080" cy="0"/>
          </a:xfrm>
          <a:prstGeom prst="line">
            <a:avLst/>
          </a:prstGeom>
          <a:ln w="19050">
            <a:solidFill>
              <a:srgbClr val="C458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754880" y="1737360"/>
            <a:ext cx="3383280" cy="173736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Android kills the process</a:t>
            </a:r>
          </a:p>
          <a:p>
            <a:pPr algn="ctr"/>
            <a:r>
              <a:rPr sz="1400">
                <a:solidFill>
                  <a:srgbClr val="38424E"/>
                </a:solidFill>
                <a:latin typeface="Arial"/>
              </a:rPr>
              <a:t>reproduced twice, with six co-resident apps killed alongside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0" y="2606040"/>
            <a:ext cx="640080" cy="0"/>
          </a:xfrm>
          <a:prstGeom prst="line">
            <a:avLst/>
          </a:prstGeom>
          <a:ln w="19050">
            <a:solidFill>
              <a:srgbClr val="6B778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961120" y="1737360"/>
            <a:ext cx="2743200" cy="17373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C1116"/>
                </a:solidFill>
                <a:latin typeface="Arial"/>
              </a:rPr>
              <a:t>and on a 24 GB desktop GPU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so it is the mechanism, not phone memory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11155680" cy="118872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 w="15875">
            <a:solidFill>
              <a:srgbClr val="1A7A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C1116"/>
                </a:solidFill>
                <a:latin typeface="Arial"/>
              </a:rPr>
              <a:t>μKV slides survivors into a dense prefix inside the tensors prefill already allocated</a:t>
            </a:r>
          </a:p>
          <a:p>
            <a:pPr algn="ctr"/>
            <a:r>
              <a:rPr sz="1400">
                <a:solidFill>
                  <a:srgbClr val="38424E"/>
                </a:solidFill>
                <a:latin typeface="Arial"/>
              </a:rPr>
              <a:t>peak memory does not rise, and the same configuration runs; the two modes produce identical keep sets, with perplexity agreeing to 0.15%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03520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Measured: in-place compaction runs Phi-3 at 16K and reaches 2.64 times the full cache. The round trip runs only at ctx 8192.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μKV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The pass on top, the control plane below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archw30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5505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8424E"/>
                </a:solidFill>
                <a:latin typeface="Arial"/>
              </a:rPr>
              <a:t>Steps 1 to 3 are the only changes to the inference pass. Steps 4 to 9 are the thermal, energy and learning columns.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Figure 1 of the paper.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One keep set for every head and layer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8</a:t>
            </a:r>
          </a:p>
        </p:txBody>
      </p:sp>
      <p:pic>
        <p:nvPicPr>
          <p:cNvPr id="6" name="Picture 5" descr="mech30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371600"/>
            <a:ext cx="3621605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554480"/>
            <a:ext cx="3108960" cy="45720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The side node computes the real softmax scores for the last 16 queries of the last prefill chunk.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One score per position: the mean over layers and heads, max-pooled over 7 positions.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The split α is the share of attention mass outside the recent window, floored at 0.70.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K = 1024 becomes 4 sinks, 721 anchors, 299 recent.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554480"/>
            <a:ext cx="3200400" cy="45720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Per-head keep sets are a union, so 13 of 16 position bins stay live and nothing compacts.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Heatmap and grids are measured, not drawn: Llama-3.2-1B, layer 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Figure 2 of the paper.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RESULT  ·  SUSTAINED DECODE ON THE CPU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9737-token prompt, 4096 generated, cold start, charging 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72237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"/>
                <a:gridCol w="1005840"/>
                <a:gridCol w="1188720"/>
                <a:gridCol w="822960"/>
                <a:gridCol w="731520"/>
              </a:tblGrid>
              <a:tr h="40005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Llama-3.2-1B, K = 1024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wall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live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DDR °C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9737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24.2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721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54.4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5929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56.3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3484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57.1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877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56.7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6110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54.8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1094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4091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54.4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1069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046720" y="1645920"/>
            <a:ext cx="36576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1A7A58"/>
                </a:solidFill>
                <a:latin typeface="Arial"/>
              </a:rPr>
              <a:t>4.8×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423160"/>
            <a:ext cx="3657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the full cache's throughput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788920"/>
            <a:ext cx="36576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1A7A58"/>
                </a:solidFill>
                <a:latin typeface="Arial"/>
              </a:rPr>
              <a:t>−62%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566160"/>
            <a:ext cx="3657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energy for the same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3931920"/>
            <a:ext cx="36576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1A7A58"/>
                </a:solidFill>
                <a:latin typeface="Arial"/>
              </a:rPr>
              <a:t>7.4%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4709159"/>
            <a:ext cx="3657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of the cells kept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5074920"/>
            <a:ext cx="36576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1A7A58"/>
                </a:solidFill>
                <a:latin typeface="Arial"/>
              </a:rPr>
              <a:t>−5 °C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5852159"/>
            <a:ext cx="3657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peak DDR, joint coolest with TOVA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72237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8424E"/>
                </a:solidFill>
                <a:latin typeface="Arial"/>
              </a:rPr>
              <a:t>Both policies run the same vendor-clamped 1.6 GHz, so the heat comes from memory traffic, not the clock.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8424E"/>
                </a:solidFill>
                <a:latin typeface="Arial"/>
              </a:rPr>
              <a:t>Only μKV both compacts and keeps decode on the fused kernel.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Table 1 of the paper. Three more models are in the paper: Bonsai-8B 4.5x, Phi-3-mini 4.5x, gemma-2-2b 2.4x, all against their own full cache.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Every policy builds the full prompt cache. Only μKV gives it 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10</a:t>
            </a:r>
          </a:p>
        </p:txBody>
      </p:sp>
      <p:pic>
        <p:nvPicPr>
          <p:cNvPr id="6" name="Picture 5" descr="fig_cache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6766560" cy="4026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737360"/>
            <a:ext cx="4023360" cy="40233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At the end of prefill μKV compacts to 721 cells and stays bounded near 2K through decode.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SnapKV can only drop to 5.9K, because a cell needs every head to release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Vanilla grows without bound.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This one picture is the paper's argument: the budget a policy asks for is not the cache it frees.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Figure 4 of the paper, Llama-3.2-1B on the phone CPU.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RESULT  ·  MOBILE 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The same workload on the Adreno 840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05840"/>
                <a:gridCol w="1005840"/>
                <a:gridCol w="100584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Llama-3.2-1B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dec ×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24.18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9741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29.77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1.23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μKV, no compaction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25.61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best baseline (StreamingLLM)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5.55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0.23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17920" y="16002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005840"/>
                <a:gridCol w="1005840"/>
                <a:gridCol w="100584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Phi-3-mini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dec ×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11157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μKV, in place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13.36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2.64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878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StreamingLLM, own budget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10.60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2.10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SnapKV, gate promoted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5.80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1.15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10862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06240"/>
            <a:ext cx="11155680" cy="1920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In-place compaction runs Phi-3 at 16K, where the state-API round trip is killed. That is the configuration the paper's third break describes.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Phi-3 needs a driver gate: the FlashAttention-off capture is numerically broken at head dimension 96, and uncorrected runs decode at full speed while emitting 18 to 44% corrupted tokens. The gate promotes SnapKV and Ada-KV to the in-graph side node and refuses H2O and TOVA.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RESULT  ·  QUALITY, BOTH ON THE 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Retrieval and long-context, at each policy's own budget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657600"/>
                <a:gridCol w="1737360"/>
                <a:gridCol w="1737360"/>
                <a:gridCol w="1645920"/>
              </a:tblGrid>
              <a:tr h="37719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needle hits, Phi-3 / Llama / Gemma / Bonsai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cells attended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LongBench F1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cache held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14 / 13 / 11 / 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4858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14 / 13 / 11 / 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37.0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14 / 12 / 11 / 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4237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38.0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14 / 12 / 11 / 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3361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14 / 12 / 11 / 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14 / 8 / 10 / 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4212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7719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 / 3 / 2 / 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35.0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846320"/>
            <a:ext cx="1115568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matches the full cache on both benchmarks while holding a seventh of the cache. The others buy about a point of F1 by holding 71 to 94% of it.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StreamingLLM fails retrieval everywhere: its window evicts exactly the middle of the context, which is where a buried fact lives.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392 needle cells and 103 LongBench prompts, all on the phone. A four-model desktop sweep gives the same ordering.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RESULT  ·  SUSTAINED HEAT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Two levers against the vendor's cliff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13</a:t>
            </a:r>
          </a:p>
        </p:txBody>
      </p:sp>
      <p:pic>
        <p:nvPicPr>
          <p:cNvPr id="6" name="Picture 5" descr="fig_bonsai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417320"/>
            <a:ext cx="3037438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0" y="1645920"/>
            <a:ext cx="7498079" cy="43891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38424E"/>
                </a:solidFill>
                <a:latin typeface="Arial"/>
              </a:rPr>
              <a:t>•  The full cache on Bonsai-8B runs 85.6 minutes and drives the battery to 50.2 °C. At 50 °C the vendor deep-throttles both clusters: 17 dips, 923 s at 883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38424E"/>
                </a:solidFill>
                <a:latin typeface="Arial"/>
              </a:rPr>
              <a:t>•  μKV finishes in 33.5 minutes at a 44.2 °C peak, before the trigger. That is the cache lever.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38424E"/>
                </a:solidFill>
                <a:latin typeface="Arial"/>
              </a:rPr>
              <a:t>•  Given the watchdog as an ablation, the full cache's battery rise flattens from 0.48 to 0.05 °C per minute and settles at 49.1 °C. The prime cores never reach 883 MHz. That is the clock lever.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38424E"/>
                </a:solidFill>
                <a:latin typeface="Arial"/>
              </a:rPr>
              <a:t>•  The watchdog belongs to μKV and is never given to a baseline.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38424E"/>
                </a:solidFill>
                <a:latin typeface="Arial"/>
              </a:rPr>
              <a:t>•  On the GPU the ladder gives 1289 against 1390 J and a DDR peak of 75 against 90 °C, for 1% more time.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38424E"/>
                </a:solidFill>
                <a:latin typeface="Arial"/>
              </a:rPr>
              <a:t>•  Negative result: a cache budget tied to temperature does not cap peak heat. Cache controls throughput and energy; the clock caps heat.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RESULT  ·  ENERGY-AWARE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One lever from the battery, two loops on model error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14</a:t>
            </a:r>
          </a:p>
        </p:txBody>
      </p:sp>
      <p:pic>
        <p:nvPicPr>
          <p:cNvPr id="6" name="Picture 5" descr="cp300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223760" cy="2427012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955279" y="1645920"/>
          <a:ext cx="3840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22960"/>
                <a:gridCol w="822960"/>
                <a:gridCol w="8229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J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vs healthy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healthy, cap 4096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mid, cap 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−15%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low, cap 512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8424E"/>
                          </a:solidFill>
                          <a:latin typeface="Arial"/>
                        </a:rPr>
                        <a:t>−43%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955279" y="3749039"/>
            <a:ext cx="3840480" cy="23774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38424E"/>
                </a:solidFill>
                <a:latin typeface="Arial"/>
              </a:rPr>
              <a:t>•  123 requests, 91% to 11%, charging off, nothing forced.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38424E"/>
                </a:solidFill>
                <a:latin typeface="Arial"/>
              </a:rPr>
              <a:t>•  It switched on the first request past each threshold, 50% and 19%.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>
                <a:solidFill>
                  <a:srgbClr val="38424E"/>
                </a:solidFill>
                <a:latin typeface="Arial"/>
              </a:rPr>
              <a:t>•  A table seeded on the cable over-predicted by 36%; the clipped learning fixed it in three requests.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Figure 3 and Table 6 of the paper. A decision costs 0.3 s on the phone.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RESULT  ·  THE REAL DISCHARGE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It switches on the real battery, and it saves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15</a:t>
            </a:r>
          </a:p>
        </p:txBody>
      </p:sp>
      <p:pic>
        <p:nvPicPr>
          <p:cNvPr id="6" name="Picture 5" descr="fig_discharg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32134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37360"/>
            <a:ext cx="3474720" cy="4206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On the battery the phone is a different machine. The same healthy request costs 885 J instead of 1274 on the cable.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The OEM caps prefill at 726 MHz within a minute of every request, so the answer cap and the prefill cap carry the saving.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Mean prediction error over the run: 8.9% on the battery, 3.7% on the cable.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THE RL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Would a learned policy beat the rule? Three experiments said no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173736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1  Simulator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bandit over 72 values and a Q-learner over 576, 60 episodes and 6 seeds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737360"/>
            <a:ext cx="3566160" cy="173736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2  Real cells, offline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a bandit fitted on logged requests, bootstrap for the best arm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19" y="1737360"/>
            <a:ext cx="3566160" cy="173736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3  On the phone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24 real requests, ε-greedy over three GPU clocks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40480"/>
            <a:ext cx="32004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A7A58"/>
                </a:solidFill>
                <a:latin typeface="Arial"/>
              </a:rPr>
              <a:t>13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3200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free pulls chose the rule's 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840480"/>
            <a:ext cx="32004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6B7785"/>
                </a:solidFill>
                <a:latin typeface="Arial"/>
              </a:rPr>
              <a:t>15.7 kJ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4617720"/>
            <a:ext cx="3200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spent to learn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3840480"/>
            <a:ext cx="32004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6B7785"/>
                </a:solidFill>
                <a:latin typeface="Arial"/>
              </a:rPr>
              <a:t>149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4617720"/>
            <a:ext cx="3200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of phone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86400"/>
            <a:ext cx="1115568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Energy and time per plan do not depend on the state of charge; only the weighting does, and that is a design choice. So the table learns and the rule decides.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REPORTED, NOT HIDDEN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The negative results are load-bearing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155680" cy="4206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Cache size is not a temperature actuator. Halving K under co-load left peak DDR unchanged, and on a cool phone a smaller cache runs hotter at peak.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per-head budget gate we built is idle. Its candidate pool holds 96.5 to 99.8% of the prompt, and bypassing it leaves the keep set identical, so it is removed.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A learned policy does not beat the rule, and we report what learning cost.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Eviction still costs verbatim recall of the spans it drops, even though prediction and retrieval are preserved.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1-bit kernels return non-finite logits on this GPU, so Bonsai's phone numbers are CPU numbers, and every backend now needs an output-validity check.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μKV in four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155680" cy="4206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Three engine properties break server eviction policies on a phone: shared cells, the fast path, and the second context.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μKV answers all three: scores from inside the FlashAttention graph, one keep set for every head and layer, compaction in place.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4.8 times the full cache's decode throughput on the CPU, at 7% of the cells and 62% less energy, and 1.23 times on the GPU, with full-cache retrieval and LongBench.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Around it, a clock watchdog holds the CPU below the vendor's throttle and a per-request scheduler spends the battery by its level: 15% and 43% less per request at the lower tiers.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