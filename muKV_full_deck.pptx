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B3C8"/>
                </a:solidFill>
                <a:latin typeface="Arial"/>
              </a:rPr>
              <a:t>HOTMOBILE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Evicting Makes It Slower:</a:t>
            </a:r>
          </a:p>
          <a:p>
            <a:pPr algn="l">
              <a:lnSpc>
                <a:spcPct val="112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Three Properties a KV Cache Policy Needs on a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0704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9D3DD"/>
                </a:solidFill>
                <a:latin typeface="Arial"/>
              </a:rPr>
              <a:t>Five published eviction policies, run in their own configurations on a OnePlus 15.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C9D3DD"/>
                </a:solidFill>
                <a:latin typeface="Arial"/>
              </a:rPr>
              <a:t>None behaves as published. Two engine properties explain it, and a third decides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FB3C8"/>
                </a:solidFill>
                <a:latin typeface="Arial"/>
              </a:rPr>
              <a:t>Md Romyull Islam  ·  Kennesaw State University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FB3C8"/>
                </a:solidFill>
                <a:latin typeface="Arial"/>
              </a:rPr>
              <a:t>OnePlus 15, Snapdragon 8 Elite Gen 5, Adreno 840  ·  every number measured on the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C1116"/>
                </a:solidFill>
                <a:latin typeface="Arial"/>
              </a:rPr>
              <a:t>The phone is bound by the cache, not the matrix multiply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Cache size</a:t>
            </a:r>
          </a:p>
          <a:p>
            <a:pPr algn="ctr"/>
            <a:r>
              <a:rPr sz="1250">
                <a:solidFill>
                  <a:srgbClr val="38424E"/>
                </a:solidFill>
                <a:latin typeface="Arial"/>
              </a:rPr>
              <a:t>Phi-3 at 2K holds 768 MiB of f16 KV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514600"/>
            <a:ext cx="182880" cy="0"/>
          </a:xfrm>
          <a:prstGeom prst="line">
            <a:avLst/>
          </a:prstGeom>
          <a:ln w="19050">
            <a:solidFill>
              <a:srgbClr val="2B6C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DRAM traffic</a:t>
            </a:r>
          </a:p>
          <a:p>
            <a:pPr algn="ctr"/>
            <a:r>
              <a:rPr sz="1250">
                <a:solidFill>
                  <a:srgbClr val="38424E"/>
                </a:solidFill>
                <a:latin typeface="Arial"/>
              </a:rPr>
              <a:t>every step reads the whole cache once per layer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514600"/>
            <a:ext cx="182880" cy="0"/>
          </a:xfrm>
          <a:prstGeom prst="line">
            <a:avLst/>
          </a:prstGeom>
          <a:ln w="19050">
            <a:solidFill>
              <a:srgbClr val="2B6C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Heat</a:t>
            </a:r>
          </a:p>
          <a:p>
            <a:pPr algn="ctr"/>
            <a:r>
              <a:rPr sz="1250">
                <a:solidFill>
                  <a:srgbClr val="38424E"/>
                </a:solidFill>
                <a:latin typeface="Arial"/>
              </a:rPr>
              <a:t>the vendor cuts the prime cores to 883 MHz at battery 50 °C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2514600"/>
            <a:ext cx="182880" cy="0"/>
          </a:xfrm>
          <a:prstGeom prst="line">
            <a:avLst/>
          </a:prstGeom>
          <a:ln w="19050">
            <a:solidFill>
              <a:srgbClr val="2B6C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Energy</a:t>
            </a:r>
          </a:p>
          <a:p>
            <a:pPr algn="ctr"/>
            <a:r>
              <a:rPr sz="1250">
                <a:solidFill>
                  <a:srgbClr val="38424E"/>
                </a:solidFill>
                <a:latin typeface="Arial"/>
              </a:rPr>
              <a:t>a 4096-token GPU request costs 1.4 kJ at full clock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0642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One chain. Cache size sets traffic, traffic sets power, power sets temperature, temperature sets the throttle, and the throttle sets throughput.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So a mobile cache policy has to be judged on quality, throughput, heat and energy at once, on real hardware.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C1116"/>
                </a:solidFill>
                <a:latin typeface="Arial"/>
              </a:rPr>
              <a:t>Every policy below was built for a server GPU and judged by perplexity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C1116"/>
                </a:solidFill>
                <a:latin typeface="Arial"/>
              </a:rPr>
              <a:t>Three properties decide the outcome. Every published policy lacks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651760"/>
                <a:gridCol w="246888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Policy class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Budget frees 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Keeps the fused kernel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Retrieval survives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SnapKV, Ada-KV, H2O, 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no,  36 to 68% held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no,  0.12 to 0.20x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yes,  20.6% held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yes,  1.19x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38424E"/>
                          </a:solidFill>
                          <a:latin typeface="Arial"/>
                        </a:rPr>
                        <a:t>no,  2 to 3 of 14 needles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yes,  7.4% held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yes,  1.19x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C1116"/>
                          </a:solidFill>
                          <a:latin typeface="Arial"/>
                        </a:rPr>
                        <a:t>yes,  ties the full cache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Sequence-level selection, or the shared cell array frees nothing.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No attention-score read at decode, or FlashAttention is lost and eviction makes the phone slower.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Content-aware selection, or the needles go with the middle of the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μKV is the existence proof that one policy can hold all three at once. It is not a new selection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C1116"/>
                </a:solidFill>
                <a:latin typeface="Arial"/>
              </a:rPr>
              <a:t>μKV on the phone: three changes to the pass, one controller beside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fig_architecture_tik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62" y="1600200"/>
            <a:ext cx="8966371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Scoring runs inside the FlashAttention prefill graph, so content awareness costs 1.9% of prefill and no decode bandwidth.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C1116"/>
                </a:solidFill>
                <a:latin typeface="Arial"/>
              </a:rPr>
              <a:t>Selection is sequence-level, from real attention captured in-graph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g_mechanism_tik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138" y="1600200"/>
            <a:ext cx="3620683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828800"/>
            <a:ext cx="5120640" cy="4114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Mean over layers and heads, then max-pool over 7 positions.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A per-prompt split αa sets anchors against the recent window, floored at 0.70.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On the 9737-token prompt: 4 sinks, 721 anchors, 299 recent = K of 1024.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One keep set for every head and layer, which is what lets the array compact.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Heat map is a real capture on Llama-3.2-1B, layer 8, 16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WHY BUDGETS DO NOT MATERIALIZE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C1116"/>
                </a:solidFill>
                <a:latin typeface="Arial"/>
              </a:rPr>
              <a:t>Every policy builds the full prompt cache. Only some give it 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fig_cache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5852160" cy="3486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2011680"/>
            <a:ext cx="493776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One cell array serves every head and every layer.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A cell is freed only when every head and every layer drops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SnapKV bottoms out at 5.9K live cells against a nominal 1024.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μKV compacts to 721 and its re-eviction holds near 2K.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1  ·  SUSTAINED DECODE ON THE PHONE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C1116"/>
                </a:solidFill>
                <a:latin typeface="Arial"/>
              </a:rPr>
              <a:t>9737-token prompt, 4096 generated, matched budget 1024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645920"/>
                <a:gridCol w="2103120"/>
                <a:gridCol w="1463040"/>
                <a:gridCol w="1280160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Wall (s)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Live 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DDR °C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mWh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vanilla (full cache)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1055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9737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59.8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1033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24.2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721 (1980)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54.4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5929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56.3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3484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57.1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56.7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1052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1006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6110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54.8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1094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4091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54.4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1069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B7785"/>
                </a:solidFill>
                <a:latin typeface="Arial"/>
              </a:rPr>
              <a:t>Llama-3.2-1B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μKV buys 4.8x the throughput at 7% of the cells and 62% less energy, with a DDR peak 5 °C below vanilla.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The four per-head evictors run at 5.8 to 6.8 tok/s and 818 to 1094 mWh against vanilla's 1033. That spread straddles the full cache rather than beating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Caveat: this campaign ran StreamingLLM without the fused-kernel flag, so its row understates it. See the GPU correction.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1 continued  ·  THREE MORE MODELS, EACH BASELINE AT ITS OWN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Bonsai-8B (1-bit weights), Phi-3-mini and gemma-2-2b. μKV at K = 1024 throughout.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521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371600"/>
                <a:gridCol w="1005840"/>
                <a:gridCol w="1554480"/>
                <a:gridCol w="1371600"/>
                <a:gridCol w="1280160"/>
                <a:gridCol w="146304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vanilla 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 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gain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vanilla mWh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 mWh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energy cut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 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Bonsai-8B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4.5x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5758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2312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789 (1993)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Phi-3-mini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5.5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4.5x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2046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926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gemma-2-2b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3.9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2.4x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804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8424E"/>
                </a:solidFill>
                <a:latin typeface="Arial"/>
              </a:rPr>
              <a:t>At their own published budgets the gap widens: SnapKV at 2048 per head keeps 94% of the cache, H2O at 20% of the prompt keeps 92%, TOVA and Ada-KV keep 77% and 71%. μKV keeps 14%.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38424E"/>
                </a:solidFill>
                <a:latin typeface="Arial"/>
              </a:rPr>
              <a:t>On Bonsai-8B the full cache reaches a 72.2 °C DDR peak. μKV reaches 62.5 °C, 9.7 °C cooler, with no change to the model's 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FINDING 1  ·  THE REALIZABILITY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What the papers claim, and what the phone gives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566160"/>
                <a:gridCol w="3108960"/>
                <a:gridCol w="2377440"/>
              </a:tblGrid>
              <a:tr h="3352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Its own paper claims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At its own budget on the phone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Cache actually kept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8.2x smaller cache at 16K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2048 per head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 to 10x at a 20% budget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20% of the prompt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per-layer budget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2048 per layer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adaptive per-head budget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2048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this work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1024, sequence-level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11064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The claim is not wrong on a server. It is a claim about how many scores were dropped, not about how much memory came back.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On a shared cell array those are different numbers, and only the second one changes the phone's DRAM traffic.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4581A"/>
                </a:solidFill>
                <a:latin typeface="Arial"/>
              </a:rPr>
              <a:t>Report realized cells, not selection ratios.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2  ·  MOBILE GPU, GROUPED BY HOW EACH POLICY SELECTS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Adreno 840, Llama-3.2-1B, ctx 16384, cooled per cell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31520"/>
                <a:gridCol w="1463040"/>
                <a:gridCol w="1371600"/>
                <a:gridCol w="1737360"/>
                <a:gridCol w="1828800"/>
              </a:tblGrid>
              <a:tr h="25321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dec x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% cache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vanilla (no eviction)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24.30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9741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SEQUENCE-LEVEL  ·  budget frees cells, kernel survives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μKV, K = 1024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29.02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StreamingLLM, own budget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29.03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1.19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2005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20.6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PER-HEAD  ·  budget frees nothing, kernel is lost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4.76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6592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67.7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3.58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6110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62.7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4.34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0.18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4125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42.4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2.86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0.12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3519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36.1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CONTROLS  ·  one property removed at a time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5321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μKV, compaction off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25.61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5322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StreamingLLM, forced off the kernel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5.81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0.24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On this phone, four of five published policies decode slower than not evicting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AN ERROR WE FOUND IN OUR OWN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StreamingLLM was run without the fused-kernel flag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554480"/>
                <a:gridCol w="1737360"/>
                <a:gridCol w="2011680"/>
                <a:gridCol w="17373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vs vanilla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Cache held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Needles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vanilla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24.30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304.4 MB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13 / 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μKV, K = 1024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29.02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1.19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22.6 MB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13 / 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StreamingLLM, own budget 2004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29.03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62.6 MB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3 / 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StreamingLLM, as we first ran it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5.81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24.3 MB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invalid output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StreamingLLM's reference implementation concatenates survivors, so compaction is intrinsic to it. Our harness removed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Corrected, it ties μKV on throughput. "μKV is the only policy faster than not evicting" was false and is gone.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This makes the result stronger. A policy we did not author confirms that the axis of selection, not our design, is what matters.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What separates μKV is budget and retrieval: 723 cells against 2005, and 13 needles against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3  · 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C1116"/>
                </a:solidFill>
                <a:latin typeface="Arial"/>
              </a:rPr>
              <a:t>A fact buried at one of seven depths in 4K or 8K of filler, 392 cells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645920"/>
                <a:gridCol w="1645920"/>
                <a:gridCol w="1737360"/>
                <a:gridCol w="1645920"/>
              </a:tblGrid>
              <a:tr h="2971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Phi-3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Llama-1B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Gemma-2B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Bonsai-8B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Cells attended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vanilla (full cache)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4858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4237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3361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3670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4212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89120"/>
            <a:ext cx="110642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μKV matches the full cache on every model while attending to 774 cells, against 3361 to 4237 for the score-reading evictors.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StreamingLLM fails everywhere: its window evicts exactly the middle of the context. Where every policy misses a depth, the full cache misses it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This workload generates 64 tokens, so it is prefill-dominated and says nothing about speed or energy.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4  ·  LONGBENCH, FIVE TASKS, 50 SAMPLES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Llama-3.2-1B and gemma-2-2b-it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80160"/>
                <a:gridCol w="1280160"/>
                <a:gridCol w="1554480"/>
                <a:gridCol w="1097280"/>
                <a:gridCol w="1188720"/>
                <a:gridCol w="1463040"/>
                <a:gridCol w="1463040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Llama-3.2-1B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HotpotQA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2WikiMQA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MultiFieldQA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Qasper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TriviaQA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Cells kept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vanilla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42.14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23.86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45.04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17.55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81.19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8687 (100%)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40.72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25.53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43.23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17.06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83.88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42.08 (+0.1)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826 (13.0%)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23.51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45.02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22.81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81.19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42.73 (+0.8)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6717 (82.4%)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41.84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22.17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46.16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22.10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81.19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42.70 (+0.7)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3327 (47.3%)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41.61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22.98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45.62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21.93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81.86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42.80 (+0.8)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3824 (53.5%)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42.68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24.04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41.87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19.35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81.20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41.83 (-0.1)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6699 (83.1%)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35.61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18.14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36.52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16.51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81.00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37.56 (-4.4)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1994 (23.0%)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3192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80160"/>
                <a:gridCol w="1280160"/>
                <a:gridCol w="1554480"/>
                <a:gridCol w="1097280"/>
                <a:gridCol w="1188720"/>
                <a:gridCol w="1463040"/>
                <a:gridCol w="1463040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gemma-2-2b-it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HotpotQA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2WikiMQA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MultiFieldQA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Qasper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TriviaQA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Cells kept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vanilla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46.51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34.51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45.19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36.42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87.67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50.06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6457 (100%)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40.32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37.20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39.63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31.71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87.67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47.31 (-2.8)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716 (13.0%)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40.51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36.81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45.40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38.38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87.44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49.71 (-0.4)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6031 (94.2%)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40.51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36.81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44.55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37.26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87.44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49.31 (-0.7)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4064 (66.3%)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41.52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37.31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44.37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87.44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49.62 (-0.4)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4087 (66.9%)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37.38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37.31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43.61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35.37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87.44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48.22 (-1.8)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5869 (92.1%)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32.67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38.72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28.59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87.67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45.83 (-4.2)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1995 (30.9%)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4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Phi-3-mini and Bonsai-8B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80160"/>
                <a:gridCol w="1280160"/>
                <a:gridCol w="1554480"/>
                <a:gridCol w="1097280"/>
                <a:gridCol w="1188720"/>
                <a:gridCol w="1463040"/>
                <a:gridCol w="1463040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Phi-3-mini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HotpotQA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2WikiMQA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MultiFieldQA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Qasper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TriviaQA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Cells kept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vanilla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46.86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43.51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57.05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36.92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87.87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54.44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9702 (100%)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45.97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43.18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55.85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40.80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86.37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54.43 (-0.0)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853 (12.2%)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46.85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40.01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55.62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38.35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53.61 (-0.8)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7629 (83.4%)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46.90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38.48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56.51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37.33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87.87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53.42 (-1.0)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4056 (50.6%)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54.81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38.67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55.33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50.60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87.87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57.45 (+3.0)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4550 (54.9%)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48.32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39.66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56.12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36.97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88.20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53.85 (-0.6)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8702 (91.2%)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40.71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41.88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40.05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30.68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87.87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48.24 (-6.2)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1999 (20.6%)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3192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80160"/>
                <a:gridCol w="1280160"/>
                <a:gridCol w="1554480"/>
                <a:gridCol w="1097280"/>
                <a:gridCol w="1188720"/>
                <a:gridCol w="1463040"/>
                <a:gridCol w="1463040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Bonsai-8B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HotpotQA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2WikiMQA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MultiFieldQA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Qasper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TriviaQA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Avg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Cells kept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vanilla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35.11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33.39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50.03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38.53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86.15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48.64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8928 (100%)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35.16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24.33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48.13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32.30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84.95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44.97 (-3.7)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1116"/>
                          </a:solidFill>
                          <a:latin typeface="Arial"/>
                        </a:rPr>
                        <a:t>797 (12.6%)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34.30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50.12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38.59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88.15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49.95 (+1.3)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8716 (96.1%)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34.46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34.48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50.75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37.56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87.48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48.95 (+0.3)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5293 (68.2%)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37.06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30.19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50.76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37.88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87.48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48.67 (+0.0)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5700 (72.5%)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36.66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28.54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49.03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34.97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88.15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47.47 (-1.2)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7798 (90.9%)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34.40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24.97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30.13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30.24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86.26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41.20 (-7.4)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8424E"/>
                          </a:solidFill>
                          <a:latin typeface="Arial"/>
                        </a:rPr>
                        <a:t>2246 (25.2%)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Desktop GPU, f16 KV, K = 1024; StreamingLLM at its own budget of 2004. The phone pass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5  ·  LONGBENCH ON THE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C1116"/>
                </a:solidFill>
                <a:latin typeface="Arial"/>
              </a:rPr>
              <a:t>103 prompts on the phone CPU, Llama-3.2-1B, each policy at its own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63040"/>
                <a:gridCol w="1188720"/>
                <a:gridCol w="1280160"/>
                <a:gridCol w="1188720"/>
                <a:gridCol w="1188720"/>
                <a:gridCol w="1188720"/>
                <a:gridCol w="109728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2Wiki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Hotpot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Qasper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Trivia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Cache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vanilla (full cache)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22.79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29.29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19.96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75.35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36.85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27.86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25.96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19.01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75.21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37.01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20.50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31.43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20.72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79.19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37.96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2048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20.75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31.43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19.66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79.19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37.76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18.75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31.37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20.33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79.19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37.41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20% of N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14.61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31.32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19.58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79.19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36.17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2004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22.59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22.63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18.59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76.14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34.99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μKV scores 37.0 against the full cache's 36.9 while holding 14% of the cache.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SnapKV, Ada-KV and TOVA gain 0.6 to 1.1 F1 while holding 71 to 94%. What separates the policies is the cache each one frees, not the budget it asks for.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IS THIS ONE ENGINE?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No. The coupling lives in the KV memory layout.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  <a:gridCol w="35661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Engine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How KV memory is laid out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Can a per-head budget free memory?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llama.cpp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one contiguous cell array per layer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only where every head agrees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vLLM PagedAttention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block = [blocks, kv heads, head size, block size]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only where every head agrees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MLC-LLM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paged, the same shape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only where every head agrees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ExecuTorch, vendor SDKs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static position-indexed tensors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only where every head agrees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KV-Compress reports the same limitation independently: per-head eviction "adds fragmentation and cannot realize the theoretical compression rates in physical memory."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It fixes this on the server by paging per head inside PagedAttention. That needs a per-head block table and a custom kernel.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A phone runtime has neither, and a mobile GPU driver makes both expensive. That is the point.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C1116"/>
                </a:solidFill>
                <a:latin typeface="Arial"/>
              </a:rPr>
              <a:t>One lever, two loops, and a cost table measured on the device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fig_control_plane_tik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8" y="1645920"/>
            <a:ext cx="10891879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There is no online policy learning on the user's phone. The decision is a deterministic table walk.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WATCHDOG IS A LADDER, NOT A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Three caps, five ladders, three sensors, reduce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fig_architecture_6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93" y="1600200"/>
            <a:ext cx="8970109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Each CPU cluster takes the lower of the battery and skin ladders. DDR above 71 °C floors both to 1267 MHz.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WORKLOAD THAT REACHES THE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Bonsai-8B, phone CPU, full cache against μKV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19</a:t>
            </a:r>
          </a:p>
        </p:txBody>
      </p:sp>
      <p:pic>
        <p:nvPicPr>
          <p:cNvPr id="6" name="Picture 5" descr="fig_bonsai_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095" y="1600200"/>
            <a:ext cx="3051008" cy="4571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920240"/>
            <a:ext cx="5303520" cy="4023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full cache runs 85.6 minutes and drives the battery to 50.2 °C.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At 50 °C the vendor deep-throttles both clusters to 883 MHz, in a sawtooth of 17 dips totalling 923 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μKV finishes in 33.2 minutes at a 44.2 °C peak, before the trigger ever fires.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Given the watchdog, the full cache's battery rise flattens from 0.48 to 0.05 °C per minute.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watchdog never fired in any Table 1 cell. That result is pure eviction.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A NEGATIVE RESULT WORTH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Cache size is not a temperature actuator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We tied the cache budget itself to DDR temperature, a four-tier ladder over K in {256 ... 1024}.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Halving K under co-load left peak DDR unchanged.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On a cool phone a smaller cache runs hotter at peak, because the saved bandwidth converts straight into speed and power.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On the GPU the clock ladder does work: 1289 against 1390 J and a DDR peak of 75 against 90 °C, for 1% more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C1116"/>
                </a:solidFill>
                <a:latin typeface="Arial"/>
              </a:rPr>
              <a:t>Cache size controls throughput, time and energy. The clock caps heat.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TABLE 6  ·  ENERGY-AWARE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C1116"/>
                </a:solidFill>
                <a:latin typeface="Arial"/>
              </a:rPr>
              <a:t>123 requests through a real discharge, 91% to 11%, charging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1645920"/>
                <a:gridCol w="1463040"/>
                <a:gridCol w="146304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Battery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GPU plan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Answer cap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Cable J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Battery J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Battery 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mains or above 50%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1200, decode 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4096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1336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21 to 50%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1200, decode 726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20% or below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GPU unavailable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CPU, K = 1024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by tier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two lower tiers cut energy per request by 15% and 43%, with time falling 25% and 37%.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On the battery the phone is a different machine. The same healthy request costs 885 J instead of 1336.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OEM caps prefill at 726 MHz within a minute of every request when unplugged, so the answer cap carries the saving.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Mean prediction error was 8.9% on battery against 3.7% on the cable. The clipped learning tracked the shift.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LOOPS, PROVOKED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Thirteen cooled requests carrying real disturbances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fig_loop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871" y="1645920"/>
            <a:ext cx="7530352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Four spinning cores pushed a mid-tier request 30% over budget. An external 726 MHz cap put three low-tier requests 10 to 12% over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REAL DISCHARGE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C1116"/>
                </a:solidFill>
                <a:latin typeface="Arial"/>
              </a:rPr>
              <a:t>A loop resident on the phone, 123 requests, no forced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fig_discharg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847" y="1645920"/>
            <a:ext cx="8534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The scheduler switched on the first request past each threshold: 4096 tokens down to 52%, the 1024 cap from 50%, the low plan from 19%.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DOES IT NEED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C1116"/>
                </a:solidFill>
                <a:latin typeface="Arial"/>
              </a:rPr>
              <a:t>A contextual bandit on the same objective, one pull = one real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6400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822960"/>
                <a:gridCol w="822960"/>
                <a:gridCol w="822960"/>
                <a:gridCol w="1005840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Battery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wq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wt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we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Time slack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mains or &gt;50%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0.55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0.40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21 to 50%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0.35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0.45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20% or below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8424E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828800"/>
            <a:ext cx="4389120" cy="3840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Arms: GPU clock 1200, 902, 726 MHz. Flat caps only.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Reward is the scheduler's own tier utility, so both optimize the same thing.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Epsilon-greedy 0.25, warm start of one pull per context and arm.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24 pulls, each behind a cooling gate, energy metered.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Llama-3.2-1B, 9737 prompt, 1024 output, K = 1024.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640080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8424E"/>
                </a:solidFill>
                <a:latin typeface="Arial"/>
              </a:rPr>
              <a:t>Reward  r = wq − wt · T/Tref − we · E/Eref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38424E"/>
                </a:solidFill>
                <a:latin typeface="Arial"/>
              </a:rPr>
              <a:t>with Eref = 782.0 J and Tref = 142.4 s, the cost table's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38424E"/>
                </a:solidFill>
                <a:latin typeface="Arial"/>
              </a:rPr>
              <a:t>prediction for this request at 1200 MHz.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TABLE 7  ·  EVERY CONTEXT AND ARM THE BANDIT PULLED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All 24 pulls, measured energy and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005840"/>
                <a:gridCol w="1554480"/>
                <a:gridCol w="1371600"/>
                <a:gridCol w="1645920"/>
                <a:gridCol w="265176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Arm (MHz)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pulls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Energy (J)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Time (s)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Mean reward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804.6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139.1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+0.1079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bandit's choice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599.4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180.6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+0.0043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559.0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218.4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-0.0991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799.5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139.1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-0.3054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579.6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180.5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-0.2370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bandit's choice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579.5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218.5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-0.2903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790.2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139.2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-0.6050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591.4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180.7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-0.4562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bandit's choice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563.4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218.4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-0.4577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within 0.0015 of 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The low tier's two best arms are effectively tied, which is why the scheduler's stopping rule refusing 726 costs nothing.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TABLE 8  ·  WHAT LEARNING BOUGHT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Rule and bandit scored on the same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108960"/>
                <a:gridCol w="1371600"/>
                <a:gridCol w="1188720"/>
                <a:gridCol w="1371600"/>
                <a:gridCol w="1280160"/>
                <a:gridCol w="1554480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Rule's plan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Utility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Bandit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Utility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Gain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healthy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prefill 1200, decode 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+0.0989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1200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+0.0999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+0.0010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tie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mid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prefill 1200, decode 726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-0.2845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-0.2440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+0.0405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bandit wins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-0.4551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-0.4551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identical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C1116"/>
                </a:solidFill>
                <a:latin typeface="Arial"/>
              </a:rPr>
              <a:t>The one disagreement, in physical units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06908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103120"/>
                <a:gridCol w="2011680"/>
                <a:gridCol w="1920240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Mid tier, 9737 prompt + 1024 output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Energy (J)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Time (s)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Utility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Rule: prefill 1200, decode 726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750.0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144.5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-0.2845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Bandit: flat 902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589.5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181.4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-0.2440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Difference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-160.5  (-21%)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+36.9  (+26%)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+0.0405  (+14%)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4581A"/>
                </a:solidFill>
                <a:latin typeface="Arial"/>
              </a:rPr>
              <a:t>The rule refuses that plan because 181.4 s misses the mid tier's 173.1 s time budget, not because it ranks it lower.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TABLE 9  ·  WHAT LEARNING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C1116"/>
                </a:solidFill>
                <a:latin typeface="Arial"/>
              </a:rPr>
              <a:t>Regret against an oracle playing the bandit's own best 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7315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097280"/>
                <a:gridCol w="1463040"/>
                <a:gridCol w="1188720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Pulls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Energy (kJ)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Regret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Warm start, one pull per context and arm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0.542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Free choices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9.8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0.043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15.7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0.585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828800"/>
            <a:ext cx="1645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A7A58"/>
                </a:solidFill>
                <a:latin typeface="Arial"/>
              </a:rPr>
              <a:t>15.7 kJ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06040"/>
            <a:ext cx="16459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energy to 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828800"/>
            <a:ext cx="16459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A7A58"/>
                </a:solidFill>
                <a:latin typeface="Arial"/>
              </a:rPr>
              <a:t>149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606040"/>
            <a:ext cx="16459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phone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93% of the regret falls in the mandatory warm start, which must play arms it already has reason to avoid.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rule pays none of this. Its table is measured once, offline, and then corrected by two loops at 0.3 s per request.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So learning is worth it only where the rule's time guard binds, and only if you are willing to trade 26% latency for 21% energy.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Nobody has measured KV eviction on a phone 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3566160"/>
                <a:gridCol w="640080"/>
                <a:gridCol w="1371600"/>
                <a:gridCol w="1371600"/>
              </a:tblGrid>
              <a:tr h="2682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Venue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Hardware evaluated on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Phone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Compute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KV mechanism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KV EVICTION, BUT NEVER ON A PHONE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SnapKV, Ada-KV, H2O, TOVA, PyramidKV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2023-24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A100-class servers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server GPU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eviction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KVSwap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MobiSys 2025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Jetson Orin AGX 64 GB + NVMe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board GPU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offload to disk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MobiLoRA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ACL 2025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NVIDIA AGX Orin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board GPU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cache reuse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KeyDiff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NeurIPS 2025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A100; unnamed Samsung phone (kernel only)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not stated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eviction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ON A REAL PHONE, BUT NEVER EVICTION, NEVER THE GPU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DynaKV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OnePlus Ace5 Pro, 12, Ace3, Ace2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CPU only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offload to UFS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ActiveFlow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OnePlus 12, Pixel 6, Infinix ZERO 30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CPU only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weights, not 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PowerInfer-2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MobiSys 2025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OnePlus 12, OnePlus Ace 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CPU and NPU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neurons, not 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PerCache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Pixel 7, Redmi K60 Pro, S22 Ultra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not stated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QKV reuse (RAG)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ON A PHONE GPU, BUT NO CACHE MANAGEMENT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LLMs in Your Pockets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7 devices: Adreno 750/730, Mali G720/G78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CPU, GPU, NPU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LLM Inference at the Edge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S24 Ultra (Adreno 750), iPhone 16 Pro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GPU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8424E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μKV (this work)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OnePlus 15, Adreno 840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CPU and GPU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C1116"/>
                          </a:solidFill>
                          <a:latin typeface="Arial"/>
                        </a:rPr>
                        <a:t>eviction + compaction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WHAT IS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Stated plainly, because a workshop paper should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3108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Eviction is destructive. μKV cannot recall a span it dropped.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natural next step is a third tier: park mid-scored cells in NAND using the scores μKV already computes. Reload is 23 MB for 721 cells, single-digit ms at UFS 4.0.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blocker is not reload cost. No mobile engine can shrink and regrow its KV pool, so parking frees nothing today.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Nobody has measured what parking costs in flash write energy and wear. That is the number that decides whether the tier is worth having.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ladders are calibrated to one SoC. What generalizes is the protocol of anchoring a ladder above a measured vendor trigger, not the thresholds.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Four of the per-head GPU cells are n = 1. The CPU StreamingLLM row still carries our fused-kernel omission.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Budgets are not compression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A per-head budget that looks good on a server is a full cache in disguise on the device. 36 to 68% stays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73736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The kernel path sets the speed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Reading attention scores costs FlashAttention. Four of five published policies decode slower than not evicting.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A7A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The axis of selection is the thing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Sequence-level compacts and keeps the kernel. A baseline we did not author confirms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106424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μKV is the existence proof that one policy can hold all three properties at once: in-graph scoring, one keep set, in-place compaction.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On the phone it decodes 4.8x the full cache on the CPU at 7% of the cells and 62% less energy, and 1.19x on the Adreno at the same cell 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0C1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C1116"/>
                </a:solidFill>
                <a:latin typeface="Arial"/>
              </a:rPr>
              <a:t>Report realized cells, not selection ratios. Say which kernel your policy leaves behind.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